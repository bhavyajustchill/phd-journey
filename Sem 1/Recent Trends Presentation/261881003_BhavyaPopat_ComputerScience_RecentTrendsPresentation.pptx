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54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69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I am Popat Bhavya Balkrishnabhai, enrollment </a:t>
            </a:r>
            <a:r>
              <a:rPr/>
              <a:t>number </a:t>
            </a:r>
            <a:r>
              <a:rPr lang="en-US" smtClean="0"/>
              <a:t>261881003</a:t>
            </a:r>
            <a:r>
              <a:rPr smtClean="0"/>
              <a:t>, </a:t>
            </a:r>
            <a:r>
              <a:t>PhD Semester 1. My recent-trends topic is AirLLM, an open-source library that runs very large language models on small GPUs by streaming them from disk one layer at a time. The progress bar under the title stands for the model's 80 decoder layers; watch it travel through the whole talk.</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35418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modules: the memory problem, the key insight, the architecture, the inference loop, how it scales to mixture-of-experts models, the latency trade-off, related work, and the takeaways.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81624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fp16 (floating point 16 - a 16-bit computer number format used to represent real numbers in binary form) every parameter takes 2 bytes, so a 70B model needs about 140 GB for its weights alone. Consumer GPUs have 4 to 24 GB. Loading the checkpoint the traditional way therefore fails with a CUDA out-of-memory error before the first token is generated. This is spatial memory: every layer must be resident at the same time.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24156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observation: a transformer's decoder layers run strictly in sequence. Layer N needs only its own weights and the hidden state coming out of layer N-1. So instead of holding every layer in space, AirLLM reuses the same small piece of VRAM over time. One 70B decoder layer has about 0.86 billion parameters, roughly 1.7 GB in fp16.</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35030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first use AirLLM splits the checkpoint into one shard per layer on disk. During inference, shards move through three tiers: disk, a pinned CPU-RAM buffer used for prefetching, and the GPU, which only ever holds the active layer. From the outside it looks like a normal Hugging Face model: AutoModel.from_pretrained, then generate.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30936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every generated token AirLLM walks all 80 layers: compute layer N on the GPU, evict its weights, and bring in layer N+1. Since version 2.5, prefetching overlaps the disk read of layer N+1 with the compute of layer N; the README reports about a 10% speed-up. The cost is that every token re-reads the whole model.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64477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idea scales to frontier models when fewer bytes move per token. The AirLLM README reports Kimi K3, a 2.8-trillion-parameter mixture-of-experts model with 16 of 896 experts active per token, running in about 3.72 GB, and DeepSeek-V3 (671B) in about 12 GB; these are the author's own measurements. For Kimi K3 only the routed experts are streamed; other MoE models still stream whole layers. The optional 4-bit or 8-bit block-wise compression quantizes only the weights. The README claims up to a 3x speed-up, but GitHub issue #330 reports slowdowns because compression disables prefetching.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57846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trade-off. At 16-bit, a 70B model takes on the order of two minutes per token; about 25 seconds with 4-bit shards and a warm OS page cache; a quantized llama.cpp build is around 3.4 seconds per token but needs about 44 GB of system RAM. These figures are indicative and depend heavily on disk bandwidth: every token streams all 80 layers again. AirLLM is for access, not speed.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94588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AirLLM belongs to a family of techniques for running big models on small hardware. FlexGen offloads weights and KV cache across GPU, CPU and disk and optimizes throughput for batch jobs. DeepSpeed ZeRO-Inference streams weights from CPU memory or NVMe. llama.cpp relies on quantization and memory-mapped GGUF files. PowerInfer keeps frequently activated 'hot' neurons on the GPU. Hugging Face Accelerate can offload layers that do not fit automatically.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32473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takeaways. First, AirLLM cuts the VRAM requirement to roughly one layer instead of the whole model. Second, disk bandwidth becomes the new bottleneck. Third, it trades latency for accessibility, which makes it a research and batch tool rather than a chat server. Thank you; I am happy to take questions.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7910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28-Oct-26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28-Oct-26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28-Oct-26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28-Oct-26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0620000" y="5436000"/>
            <a:ext cx="2520000" cy="252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4464000" y="-648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475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1134000"/>
            <a:ext cx="936000" cy="43200"/>
          </a:xfrm>
          <a:prstGeom prst="rect">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1-kicker"/>
          <p:cNvSpPr txBox="1"/>
          <p:nvPr/>
        </p:nvSpPr>
        <p:spPr>
          <a:xfrm>
            <a:off x="540000" y="792000"/>
            <a:ext cx="3851999" cy="288000"/>
          </a:xfrm>
          <a:prstGeom prst="rect">
            <a:avLst/>
          </a:prstGeom>
          <a:noFill/>
          <a:ln>
            <a:noFill/>
          </a:ln>
        </p:spPr>
        <p:txBody>
          <a:bodyPr wrap="square" lIns="18000" tIns="18000" rIns="18000" bIns="18000" anchor="ctr">
            <a:noAutofit/>
          </a:bodyPr>
          <a:lstStyle/>
          <a:p>
            <a:pPr algn="l"/>
            <a:r>
              <a:rPr sz="1600" b="1" spc="150">
                <a:solidFill>
                  <a:srgbClr val="AFC3E0"/>
                </a:solidFill>
                <a:latin typeface="Calibri"/>
              </a:rPr>
              <a:t>RECENT TRENDS PRESENTATION</a:t>
            </a:r>
          </a:p>
        </p:txBody>
      </p:sp>
      <p:sp>
        <p:nvSpPr>
          <p:cNvPr id="7" name="#s1-title"/>
          <p:cNvSpPr txBox="1"/>
          <p:nvPr/>
        </p:nvSpPr>
        <p:spPr>
          <a:xfrm>
            <a:off x="540000" y="1278000"/>
            <a:ext cx="4031999" cy="1007999"/>
          </a:xfrm>
          <a:prstGeom prst="rect">
            <a:avLst/>
          </a:prstGeom>
          <a:noFill/>
          <a:ln>
            <a:noFill/>
          </a:ln>
        </p:spPr>
        <p:txBody>
          <a:bodyPr wrap="square" lIns="0" tIns="18000" rIns="0" bIns="18000" anchor="ctr">
            <a:noAutofit/>
          </a:bodyPr>
          <a:lstStyle/>
          <a:p>
            <a:pPr algn="l"/>
            <a:r>
              <a:rPr sz="6600" b="1">
                <a:solidFill>
                  <a:srgbClr val="FFFFFF"/>
                </a:solidFill>
                <a:latin typeface="Calibri"/>
              </a:rPr>
              <a:t>AirLLM</a:t>
            </a:r>
          </a:p>
        </p:txBody>
      </p:sp>
      <p:sp>
        <p:nvSpPr>
          <p:cNvPr id="8" name="#s1-sub"/>
          <p:cNvSpPr txBox="1"/>
          <p:nvPr/>
        </p:nvSpPr>
        <p:spPr>
          <a:xfrm>
            <a:off x="540000" y="2340000"/>
            <a:ext cx="3851999" cy="1080000"/>
          </a:xfrm>
          <a:prstGeom prst="rect">
            <a:avLst/>
          </a:prstGeom>
          <a:noFill/>
          <a:ln>
            <a:noFill/>
          </a:ln>
        </p:spPr>
        <p:txBody>
          <a:bodyPr wrap="square" lIns="0" tIns="18000" rIns="0" bIns="18000" anchor="t">
            <a:noAutofit/>
          </a:bodyPr>
          <a:lstStyle/>
          <a:p>
            <a:pPr algn="l"/>
            <a:r>
              <a:rPr sz="2200" b="0">
                <a:solidFill>
                  <a:srgbClr val="DCE6F5"/>
                </a:solidFill>
                <a:latin typeface="Calibri"/>
              </a:rPr>
              <a:t>Running 70B-parameter LLMs on a 4 GB GPU, one layer at a time</a:t>
            </a:r>
          </a:p>
        </p:txBody>
      </p:sp>
      <p:sp>
        <p:nvSpPr>
          <p:cNvPr id="9" name="!!actor-layer_1"/>
          <p:cNvSpPr/>
          <p:nvPr/>
        </p:nvSpPr>
        <p:spPr>
          <a:xfrm>
            <a:off x="540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0" name="!!actor-layer_2"/>
          <p:cNvSpPr/>
          <p:nvPr/>
        </p:nvSpPr>
        <p:spPr>
          <a:xfrm>
            <a:off x="1026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1" name="!!actor-layer_3"/>
          <p:cNvSpPr/>
          <p:nvPr/>
        </p:nvSpPr>
        <p:spPr>
          <a:xfrm>
            <a:off x="1512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2" name="!!actor-layer_4"/>
          <p:cNvSpPr/>
          <p:nvPr/>
        </p:nvSpPr>
        <p:spPr>
          <a:xfrm>
            <a:off x="1998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3" name="!!actor-layer_5"/>
          <p:cNvSpPr/>
          <p:nvPr/>
        </p:nvSpPr>
        <p:spPr>
          <a:xfrm>
            <a:off x="2484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4" name="!!actor-layer_6"/>
          <p:cNvSpPr/>
          <p:nvPr/>
        </p:nvSpPr>
        <p:spPr>
          <a:xfrm>
            <a:off x="2970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5" name="!!actor-layer_7"/>
          <p:cNvSpPr/>
          <p:nvPr/>
        </p:nvSpPr>
        <p:spPr>
          <a:xfrm>
            <a:off x="3456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6" name="!!actor-layer_8"/>
          <p:cNvSpPr/>
          <p:nvPr/>
        </p:nvSpPr>
        <p:spPr>
          <a:xfrm>
            <a:off x="3942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7" name="#s1-loading"/>
          <p:cNvSpPr txBox="1"/>
          <p:nvPr/>
        </p:nvSpPr>
        <p:spPr>
          <a:xfrm>
            <a:off x="540000" y="4086000"/>
            <a:ext cx="3851999" cy="251999"/>
          </a:xfrm>
          <a:prstGeom prst="rect">
            <a:avLst/>
          </a:prstGeom>
          <a:noFill/>
          <a:ln>
            <a:noFill/>
          </a:ln>
        </p:spPr>
        <p:txBody>
          <a:bodyPr wrap="square" lIns="0" tIns="18000" rIns="0" bIns="18000" anchor="ctr">
            <a:noAutofit/>
          </a:bodyPr>
          <a:lstStyle/>
          <a:p>
            <a:pPr algn="l"/>
            <a:r>
              <a:rPr sz="1600" b="0">
                <a:solidFill>
                  <a:srgbClr val="AFC3E0"/>
                </a:solidFill>
                <a:latin typeface="Calibri"/>
              </a:rPr>
              <a:t>Loading 80 decoder layers · 62%</a:t>
            </a:r>
          </a:p>
        </p:txBody>
      </p:sp>
      <p:pic>
        <p:nvPicPr>
          <p:cNvPr id="18" name="!!logo" descr="atmiya_logo_updated with bg.png"/>
          <p:cNvPicPr>
            <a:picLocks noChangeAspect="1"/>
          </p:cNvPicPr>
          <p:nvPr/>
        </p:nvPicPr>
        <p:blipFill>
          <a:blip r:embed="rId3"/>
          <a:stretch>
            <a:fillRect/>
          </a:stretch>
        </p:blipFill>
        <p:spPr>
          <a:xfrm>
            <a:off x="5682000" y="468000"/>
            <a:ext cx="5580000" cy="1407478"/>
          </a:xfrm>
          <a:prstGeom prst="roundRect">
            <a:avLst>
              <a:gd name="adj" fmla="val 18000"/>
            </a:avLst>
          </a:prstGeom>
          <a:ln w="12700">
            <a:solidFill>
              <a:srgbClr val="C9D4E3"/>
            </a:solidFill>
          </a:ln>
        </p:spPr>
      </p:pic>
      <p:sp>
        <p:nvSpPr>
          <p:cNvPr id="19" name="!!actor-card"/>
          <p:cNvSpPr/>
          <p:nvPr/>
        </p:nvSpPr>
        <p:spPr>
          <a:xfrm>
            <a:off x="5400000" y="2268000"/>
            <a:ext cx="6192000" cy="2376000"/>
          </a:xfrm>
          <a:prstGeom prst="roundRect">
            <a:avLst>
              <a:gd name="adj" fmla="val 3787"/>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98000" bIns="162000" rtlCol="0" anchor="ctr">
            <a:noAutofit/>
          </a:bodyPr>
          <a:lstStyle/>
          <a:p>
            <a:pPr algn="l">
              <a:spcAft>
                <a:spcPts val="600"/>
              </a:spcAft>
            </a:pPr>
            <a:r>
              <a:rPr sz="1400" b="1" spc="150" dirty="0">
                <a:solidFill>
                  <a:srgbClr val="1F63C6"/>
                </a:solidFill>
                <a:latin typeface="Calibri"/>
              </a:rPr>
              <a:t>PRESENTED BY</a:t>
            </a:r>
          </a:p>
          <a:p>
            <a:pPr algn="l">
              <a:spcAft>
                <a:spcPts val="800"/>
              </a:spcAft>
            </a:pPr>
            <a:r>
              <a:rPr sz="2800" b="1" dirty="0" err="1">
                <a:solidFill>
                  <a:srgbClr val="0B2545"/>
                </a:solidFill>
                <a:latin typeface="Calibri"/>
              </a:rPr>
              <a:t>Popat</a:t>
            </a:r>
            <a:r>
              <a:rPr sz="2800" b="1" dirty="0">
                <a:solidFill>
                  <a:srgbClr val="0B2545"/>
                </a:solidFill>
                <a:latin typeface="Calibri"/>
              </a:rPr>
              <a:t> </a:t>
            </a:r>
            <a:r>
              <a:rPr sz="2800" b="1" dirty="0" err="1">
                <a:solidFill>
                  <a:srgbClr val="0B2545"/>
                </a:solidFill>
                <a:latin typeface="Calibri"/>
              </a:rPr>
              <a:t>Bhavya</a:t>
            </a:r>
            <a:r>
              <a:rPr sz="2800" b="1" dirty="0">
                <a:solidFill>
                  <a:srgbClr val="0B2545"/>
                </a:solidFill>
                <a:latin typeface="Calibri"/>
              </a:rPr>
              <a:t> </a:t>
            </a:r>
            <a:r>
              <a:rPr sz="2800" b="1" dirty="0" err="1">
                <a:solidFill>
                  <a:srgbClr val="0B2545"/>
                </a:solidFill>
                <a:latin typeface="Calibri"/>
              </a:rPr>
              <a:t>Balkrishnabhai</a:t>
            </a:r>
            <a:endParaRPr sz="2800" b="1" dirty="0">
              <a:solidFill>
                <a:srgbClr val="0B2545"/>
              </a:solidFill>
              <a:latin typeface="Calibri"/>
            </a:endParaRPr>
          </a:p>
          <a:p>
            <a:pPr algn="l">
              <a:spcAft>
                <a:spcPts val="200"/>
              </a:spcAft>
            </a:pPr>
            <a:r>
              <a:rPr sz="2000" b="0" dirty="0">
                <a:solidFill>
                  <a:srgbClr val="1E2B3A"/>
                </a:solidFill>
                <a:latin typeface="Calibri"/>
              </a:rPr>
              <a:t>Enrollment No. </a:t>
            </a:r>
            <a:r>
              <a:rPr lang="en-US" sz="2000" b="0" dirty="0" smtClean="0">
                <a:solidFill>
                  <a:srgbClr val="1E2B3A"/>
                </a:solidFill>
                <a:latin typeface="Calibri"/>
              </a:rPr>
              <a:t>261881003</a:t>
            </a:r>
            <a:endParaRPr sz="2000" b="0" dirty="0">
              <a:solidFill>
                <a:srgbClr val="1E2B3A"/>
              </a:solidFill>
              <a:latin typeface="Calibri"/>
            </a:endParaRPr>
          </a:p>
          <a:p>
            <a:pPr algn="l">
              <a:spcAft>
                <a:spcPts val="200"/>
              </a:spcAft>
            </a:pPr>
            <a:r>
              <a:rPr sz="2000" b="0" dirty="0">
                <a:solidFill>
                  <a:srgbClr val="1E2B3A"/>
                </a:solidFill>
                <a:latin typeface="Calibri"/>
              </a:rPr>
              <a:t>PhD (Computer Science) · Semester 1</a:t>
            </a:r>
          </a:p>
          <a:p>
            <a:pPr algn="l"/>
            <a:r>
              <a:rPr sz="2000" b="0" dirty="0">
                <a:solidFill>
                  <a:srgbClr val="5A6B80"/>
                </a:solidFill>
                <a:latin typeface="Calibri"/>
              </a:rPr>
              <a:t>Recent Trends Presentation</a:t>
            </a:r>
          </a:p>
        </p:txBody>
      </p:sp>
      <p:sp>
        <p:nvSpPr>
          <p:cNvPr id="20" name="#s1-card_bar"/>
          <p:cNvSpPr/>
          <p:nvPr/>
        </p:nvSpPr>
        <p:spPr>
          <a:xfrm>
            <a:off x="5526000" y="2430000"/>
            <a:ext cx="50400" cy="20520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21" name="#s1-kpi_1"/>
          <p:cNvSpPr/>
          <p:nvPr/>
        </p:nvSpPr>
        <p:spPr>
          <a:xfrm>
            <a:off x="5400000"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72000" tIns="162000" rIns="72000" bIns="162000" rtlCol="0" anchor="ctr">
            <a:noAutofit/>
          </a:bodyPr>
          <a:lstStyle/>
          <a:p>
            <a:pPr algn="ctr"/>
            <a:r>
              <a:rPr sz="3000" b="1">
                <a:solidFill>
                  <a:srgbClr val="1F63C6"/>
                </a:solidFill>
                <a:latin typeface="Calibri"/>
              </a:rPr>
              <a:t>70B</a:t>
            </a:r>
          </a:p>
          <a:p>
            <a:pPr algn="ctr"/>
            <a:r>
              <a:rPr sz="1600" b="0">
                <a:solidFill>
                  <a:srgbClr val="5A6B80"/>
                </a:solidFill>
                <a:latin typeface="Calibri"/>
              </a:rPr>
              <a:t>parameters</a:t>
            </a:r>
          </a:p>
        </p:txBody>
      </p:sp>
      <p:sp>
        <p:nvSpPr>
          <p:cNvPr id="22" name="#s1-kpi_2"/>
          <p:cNvSpPr/>
          <p:nvPr/>
        </p:nvSpPr>
        <p:spPr>
          <a:xfrm>
            <a:off x="7523999"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72000" tIns="162000" rIns="72000" bIns="162000" rtlCol="0" anchor="ctr">
            <a:noAutofit/>
          </a:bodyPr>
          <a:lstStyle/>
          <a:p>
            <a:pPr algn="ctr"/>
            <a:r>
              <a:rPr sz="3000" b="1">
                <a:solidFill>
                  <a:srgbClr val="1F63C6"/>
                </a:solidFill>
                <a:latin typeface="Calibri"/>
              </a:rPr>
              <a:t>4 GB</a:t>
            </a:r>
          </a:p>
          <a:p>
            <a:pPr algn="ctr"/>
            <a:r>
              <a:rPr sz="1600" b="0">
                <a:solidFill>
                  <a:srgbClr val="5A6B80"/>
                </a:solidFill>
                <a:latin typeface="Calibri"/>
              </a:rPr>
              <a:t>GPU memory</a:t>
            </a:r>
          </a:p>
        </p:txBody>
      </p:sp>
      <p:sp>
        <p:nvSpPr>
          <p:cNvPr id="23" name="#s1-kpi_3"/>
          <p:cNvSpPr/>
          <p:nvPr/>
        </p:nvSpPr>
        <p:spPr>
          <a:xfrm>
            <a:off x="9647999"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72000" tIns="162000" rIns="72000" bIns="162000" rtlCol="0" anchor="ctr">
            <a:noAutofit/>
          </a:bodyPr>
          <a:lstStyle/>
          <a:p>
            <a:pPr algn="ctr"/>
            <a:r>
              <a:rPr sz="3000" b="1">
                <a:solidFill>
                  <a:srgbClr val="1F63C6"/>
                </a:solidFill>
                <a:latin typeface="Calibri"/>
              </a:rPr>
              <a:t>80</a:t>
            </a:r>
          </a:p>
          <a:p>
            <a:pPr algn="ctr"/>
            <a:r>
              <a:rPr sz="1600" b="0">
                <a:solidFill>
                  <a:srgbClr val="5A6B80"/>
                </a:solidFill>
                <a:latin typeface="Calibri"/>
              </a:rPr>
              <a:t>decoder layers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0944000" y="5363999"/>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7163999" y="-36000"/>
            <a:ext cx="936000" cy="93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2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2-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Agenda</a:t>
            </a:r>
          </a:p>
        </p:txBody>
      </p:sp>
      <p:sp>
        <p:nvSpPr>
          <p:cNvPr id="11" name="#s2-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Eight modules in this talk</a:t>
            </a:r>
          </a:p>
        </p:txBody>
      </p:sp>
      <p:sp>
        <p:nvSpPr>
          <p:cNvPr id="12" name="!!actor-card"/>
          <p:cNvSpPr/>
          <p:nvPr/>
        </p:nvSpPr>
        <p:spPr>
          <a:xfrm>
            <a:off x="540000" y="1404000"/>
            <a:ext cx="6983999" cy="4680000"/>
          </a:xfrm>
          <a:prstGeom prst="roundRect">
            <a:avLst>
              <a:gd name="adj" fmla="val 1923"/>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ctr"/>
            <a:endParaRPr/>
          </a:p>
        </p:txBody>
      </p:sp>
      <p:sp>
        <p:nvSpPr>
          <p:cNvPr id="13" name="!!actor-layer_1"/>
          <p:cNvSpPr/>
          <p:nvPr/>
        </p:nvSpPr>
        <p:spPr>
          <a:xfrm>
            <a:off x="792000" y="163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03</a:t>
            </a:r>
          </a:p>
        </p:txBody>
      </p:sp>
      <p:sp>
        <p:nvSpPr>
          <p:cNvPr id="14" name="#s2-item_1"/>
          <p:cNvSpPr txBox="1"/>
          <p:nvPr/>
        </p:nvSpPr>
        <p:spPr>
          <a:xfrm>
            <a:off x="1512000" y="163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The Memory Wall</a:t>
            </a:r>
          </a:p>
        </p:txBody>
      </p:sp>
      <p:sp>
        <p:nvSpPr>
          <p:cNvPr id="15" name="!!actor-layer_2"/>
          <p:cNvSpPr/>
          <p:nvPr/>
        </p:nvSpPr>
        <p:spPr>
          <a:xfrm>
            <a:off x="792000" y="217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04</a:t>
            </a:r>
          </a:p>
        </p:txBody>
      </p:sp>
      <p:sp>
        <p:nvSpPr>
          <p:cNvPr id="16" name="#s2-item_2"/>
          <p:cNvSpPr txBox="1"/>
          <p:nvPr/>
        </p:nvSpPr>
        <p:spPr>
          <a:xfrm>
            <a:off x="1512000" y="217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Key Insight: Spatial → Temporal</a:t>
            </a:r>
          </a:p>
        </p:txBody>
      </p:sp>
      <p:sp>
        <p:nvSpPr>
          <p:cNvPr id="17" name="!!actor-layer_3"/>
          <p:cNvSpPr/>
          <p:nvPr/>
        </p:nvSpPr>
        <p:spPr>
          <a:xfrm>
            <a:off x="792000" y="271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05</a:t>
            </a:r>
          </a:p>
        </p:txBody>
      </p:sp>
      <p:sp>
        <p:nvSpPr>
          <p:cNvPr id="18" name="#s2-item_3"/>
          <p:cNvSpPr txBox="1"/>
          <p:nvPr/>
        </p:nvSpPr>
        <p:spPr>
          <a:xfrm>
            <a:off x="1512000" y="271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Architecture: Split · Store · Stream</a:t>
            </a:r>
          </a:p>
        </p:txBody>
      </p:sp>
      <p:sp>
        <p:nvSpPr>
          <p:cNvPr id="19" name="!!actor-layer_4"/>
          <p:cNvSpPr/>
          <p:nvPr/>
        </p:nvSpPr>
        <p:spPr>
          <a:xfrm>
            <a:off x="792000" y="325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06</a:t>
            </a:r>
          </a:p>
        </p:txBody>
      </p:sp>
      <p:sp>
        <p:nvSpPr>
          <p:cNvPr id="20" name="#s2-item_4"/>
          <p:cNvSpPr txBox="1"/>
          <p:nvPr/>
        </p:nvSpPr>
        <p:spPr>
          <a:xfrm>
            <a:off x="1512000" y="325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The Inference Loop</a:t>
            </a:r>
          </a:p>
        </p:txBody>
      </p:sp>
      <p:sp>
        <p:nvSpPr>
          <p:cNvPr id="21" name="!!actor-layer_5"/>
          <p:cNvSpPr/>
          <p:nvPr/>
        </p:nvSpPr>
        <p:spPr>
          <a:xfrm>
            <a:off x="792000" y="379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07</a:t>
            </a:r>
          </a:p>
        </p:txBody>
      </p:sp>
      <p:sp>
        <p:nvSpPr>
          <p:cNvPr id="22" name="#s2-item_5"/>
          <p:cNvSpPr txBox="1"/>
          <p:nvPr/>
        </p:nvSpPr>
        <p:spPr>
          <a:xfrm>
            <a:off x="1512000" y="379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Scaling Up: MoE &amp; Compression</a:t>
            </a:r>
          </a:p>
        </p:txBody>
      </p:sp>
      <p:sp>
        <p:nvSpPr>
          <p:cNvPr id="23" name="!!actor-layer_6"/>
          <p:cNvSpPr/>
          <p:nvPr/>
        </p:nvSpPr>
        <p:spPr>
          <a:xfrm>
            <a:off x="792000" y="433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08</a:t>
            </a:r>
          </a:p>
        </p:txBody>
      </p:sp>
      <p:sp>
        <p:nvSpPr>
          <p:cNvPr id="24" name="#s2-item_6"/>
          <p:cNvSpPr txBox="1"/>
          <p:nvPr/>
        </p:nvSpPr>
        <p:spPr>
          <a:xfrm>
            <a:off x="1512000" y="433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Accessibility vs. Latency</a:t>
            </a:r>
          </a:p>
        </p:txBody>
      </p:sp>
      <p:sp>
        <p:nvSpPr>
          <p:cNvPr id="25" name="!!actor-layer_7"/>
          <p:cNvSpPr/>
          <p:nvPr/>
        </p:nvSpPr>
        <p:spPr>
          <a:xfrm>
            <a:off x="792000" y="487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09</a:t>
            </a:r>
          </a:p>
        </p:txBody>
      </p:sp>
      <p:sp>
        <p:nvSpPr>
          <p:cNvPr id="26" name="#s2-item_7"/>
          <p:cNvSpPr txBox="1"/>
          <p:nvPr/>
        </p:nvSpPr>
        <p:spPr>
          <a:xfrm>
            <a:off x="1512000" y="487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Related Trends</a:t>
            </a:r>
          </a:p>
        </p:txBody>
      </p:sp>
      <p:sp>
        <p:nvSpPr>
          <p:cNvPr id="27" name="!!actor-layer_8"/>
          <p:cNvSpPr/>
          <p:nvPr/>
        </p:nvSpPr>
        <p:spPr>
          <a:xfrm>
            <a:off x="792000" y="541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800" b="1">
                <a:solidFill>
                  <a:srgbClr val="FFFFFF"/>
                </a:solidFill>
                <a:latin typeface="Calibri"/>
              </a:rPr>
              <a:t>10</a:t>
            </a:r>
          </a:p>
        </p:txBody>
      </p:sp>
      <p:sp>
        <p:nvSpPr>
          <p:cNvPr id="28" name="#s2-item_8"/>
          <p:cNvSpPr txBox="1"/>
          <p:nvPr/>
        </p:nvSpPr>
        <p:spPr>
          <a:xfrm>
            <a:off x="1512000" y="5418000"/>
            <a:ext cx="5868000" cy="360000"/>
          </a:xfrm>
          <a:prstGeom prst="rect">
            <a:avLst/>
          </a:prstGeom>
          <a:noFill/>
          <a:ln>
            <a:noFill/>
          </a:ln>
        </p:spPr>
        <p:txBody>
          <a:bodyPr wrap="square" lIns="18000" tIns="18000" rIns="18000" bIns="18000" anchor="ctr">
            <a:noAutofit/>
          </a:bodyPr>
          <a:lstStyle/>
          <a:p>
            <a:pPr algn="l"/>
            <a:r>
              <a:rPr sz="2000" b="0">
                <a:solidFill>
                  <a:srgbClr val="1E2B3A"/>
                </a:solidFill>
                <a:latin typeface="Calibri"/>
              </a:rPr>
              <a:t>Takeaways &amp; Q&amp;A</a:t>
            </a:r>
          </a:p>
        </p:txBody>
      </p:sp>
      <p:sp>
        <p:nvSpPr>
          <p:cNvPr id="29" name="#s2-question"/>
          <p:cNvSpPr/>
          <p:nvPr/>
        </p:nvSpPr>
        <p:spPr>
          <a:xfrm>
            <a:off x="7883999" y="1404000"/>
            <a:ext cx="3768000" cy="4680000"/>
          </a:xfrm>
          <a:prstGeom prst="roundRect">
            <a:avLst>
              <a:gd name="adj" fmla="val 2388"/>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288000" tIns="162000" rIns="288000" bIns="162000" rtlCol="0" anchor="ctr">
            <a:noAutofit/>
          </a:bodyPr>
          <a:lstStyle/>
          <a:p>
            <a:pPr algn="l">
              <a:spcAft>
                <a:spcPts val="1000"/>
              </a:spcAft>
            </a:pPr>
            <a:r>
              <a:rPr sz="1400" b="1" spc="150">
                <a:solidFill>
                  <a:srgbClr val="1F63C6"/>
                </a:solidFill>
                <a:latin typeface="Calibri"/>
              </a:rPr>
              <a:t>KEY QUESTION</a:t>
            </a:r>
          </a:p>
          <a:p>
            <a:pPr algn="l">
              <a:spcAft>
                <a:spcPts val="1600"/>
              </a:spcAft>
            </a:pPr>
            <a:r>
              <a:rPr sz="2600" b="1">
                <a:solidFill>
                  <a:srgbClr val="0B2545"/>
                </a:solidFill>
                <a:latin typeface="Calibri"/>
              </a:rPr>
              <a:t>How can a 70-billion-parameter model run on a GPU with only 4 GB of memory?</a:t>
            </a:r>
          </a:p>
          <a:p>
            <a:pPr algn="l"/>
            <a:r>
              <a:rPr sz="2000" b="0">
                <a:solidFill>
                  <a:srgbClr val="5A6B80"/>
                </a:solidFill>
                <a:latin typeface="Calibri"/>
              </a:rPr>
              <a:t>Short answer: stream the model layer by layer instead of loading it all at once.</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600">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666000" y="5633999"/>
            <a:ext cx="1980000" cy="19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11376000" y="1044000"/>
            <a:ext cx="1152000" cy="1152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3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3-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The Memory Wall</a:t>
            </a:r>
          </a:p>
        </p:txBody>
      </p:sp>
      <p:sp>
        <p:nvSpPr>
          <p:cNvPr id="11" name="#s3-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Model weights have outgrown consumer GPUs</a:t>
            </a:r>
          </a:p>
        </p:txBody>
      </p:sp>
      <p:sp>
        <p:nvSpPr>
          <p:cNvPr id="12" name="!!actor-layer_1"/>
          <p:cNvSpPr/>
          <p:nvPr/>
        </p:nvSpPr>
        <p:spPr>
          <a:xfrm>
            <a:off x="540000" y="14400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L1</a:t>
            </a:r>
          </a:p>
        </p:txBody>
      </p:sp>
      <p:sp>
        <p:nvSpPr>
          <p:cNvPr id="13" name="!!actor-layer_2"/>
          <p:cNvSpPr/>
          <p:nvPr/>
        </p:nvSpPr>
        <p:spPr>
          <a:xfrm>
            <a:off x="540000" y="18792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L2</a:t>
            </a:r>
          </a:p>
        </p:txBody>
      </p:sp>
      <p:sp>
        <p:nvSpPr>
          <p:cNvPr id="14" name="!!actor-layer_3"/>
          <p:cNvSpPr/>
          <p:nvPr/>
        </p:nvSpPr>
        <p:spPr>
          <a:xfrm>
            <a:off x="540000" y="23184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L3</a:t>
            </a:r>
          </a:p>
        </p:txBody>
      </p:sp>
      <p:sp>
        <p:nvSpPr>
          <p:cNvPr id="15" name="!!actor-layer_4"/>
          <p:cNvSpPr/>
          <p:nvPr/>
        </p:nvSpPr>
        <p:spPr>
          <a:xfrm>
            <a:off x="540000" y="27576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L4</a:t>
            </a:r>
          </a:p>
        </p:txBody>
      </p:sp>
      <p:sp>
        <p:nvSpPr>
          <p:cNvPr id="16" name="!!actor-layer_5"/>
          <p:cNvSpPr/>
          <p:nvPr/>
        </p:nvSpPr>
        <p:spPr>
          <a:xfrm>
            <a:off x="540000" y="3196799"/>
            <a:ext cx="2520000" cy="342000"/>
          </a:xfrm>
          <a:prstGeom prst="roundRect">
            <a:avLst>
              <a:gd name="adj" fmla="val 12631"/>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a:t>
            </a:r>
          </a:p>
        </p:txBody>
      </p:sp>
      <p:sp>
        <p:nvSpPr>
          <p:cNvPr id="17" name="!!actor-layer_6"/>
          <p:cNvSpPr/>
          <p:nvPr/>
        </p:nvSpPr>
        <p:spPr>
          <a:xfrm>
            <a:off x="540000" y="36360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L78</a:t>
            </a:r>
          </a:p>
        </p:txBody>
      </p:sp>
      <p:sp>
        <p:nvSpPr>
          <p:cNvPr id="18" name="!!actor-layer_7"/>
          <p:cNvSpPr/>
          <p:nvPr/>
        </p:nvSpPr>
        <p:spPr>
          <a:xfrm>
            <a:off x="540000" y="40752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L79</a:t>
            </a:r>
          </a:p>
        </p:txBody>
      </p:sp>
      <p:sp>
        <p:nvSpPr>
          <p:cNvPr id="19" name="!!actor-layer_8"/>
          <p:cNvSpPr/>
          <p:nvPr/>
        </p:nvSpPr>
        <p:spPr>
          <a:xfrm>
            <a:off x="540000" y="45144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L80</a:t>
            </a:r>
          </a:p>
        </p:txBody>
      </p:sp>
      <p:sp>
        <p:nvSpPr>
          <p:cNvPr id="20" name="#s3-tower_label"/>
          <p:cNvSpPr txBox="1"/>
          <p:nvPr/>
        </p:nvSpPr>
        <p:spPr>
          <a:xfrm>
            <a:off x="540000" y="4968000"/>
            <a:ext cx="2520000" cy="540000"/>
          </a:xfrm>
          <a:prstGeom prst="rect">
            <a:avLst/>
          </a:prstGeom>
          <a:noFill/>
          <a:ln>
            <a:noFill/>
          </a:ln>
        </p:spPr>
        <p:txBody>
          <a:bodyPr wrap="square" lIns="18000" tIns="18000" rIns="18000" bIns="18000" anchor="ctr">
            <a:noAutofit/>
          </a:bodyPr>
          <a:lstStyle/>
          <a:p>
            <a:pPr algn="ctr"/>
            <a:r>
              <a:rPr sz="1800" b="1">
                <a:solidFill>
                  <a:srgbClr val="0B2545"/>
                </a:solidFill>
                <a:latin typeface="Calibri"/>
              </a:rPr>
              <a:t>70B model</a:t>
            </a:r>
          </a:p>
          <a:p>
            <a:pPr algn="ctr"/>
            <a:r>
              <a:rPr sz="1800" b="0">
                <a:solidFill>
                  <a:srgbClr val="5A6B80"/>
                </a:solidFill>
                <a:latin typeface="Calibri"/>
              </a:rPr>
              <a:t>≈ 140 GB in fp16</a:t>
            </a:r>
          </a:p>
        </p:txBody>
      </p:sp>
      <p:sp>
        <p:nvSpPr>
          <p:cNvPr id="21" name="#s3-arrow"/>
          <p:cNvSpPr/>
          <p:nvPr/>
        </p:nvSpPr>
        <p:spPr>
          <a:xfrm>
            <a:off x="3204000" y="2736000"/>
            <a:ext cx="792000" cy="432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22" name="#s3-oom"/>
          <p:cNvSpPr/>
          <p:nvPr/>
        </p:nvSpPr>
        <p:spPr>
          <a:xfrm>
            <a:off x="4140000" y="1440000"/>
            <a:ext cx="3528000" cy="2304000"/>
          </a:xfrm>
          <a:prstGeom prst="roundRect">
            <a:avLst>
              <a:gd name="adj" fmla="val 3906"/>
            </a:avLst>
          </a:prstGeom>
          <a:solidFill>
            <a:srgbClr val="FFFFFF"/>
          </a:solidFill>
          <a:ln w="22225">
            <a:solidFill>
              <a:srgbClr val="C62828"/>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l">
              <a:spcAft>
                <a:spcPts val="200"/>
              </a:spcAft>
            </a:pPr>
            <a:r>
              <a:rPr sz="1400" b="1" spc="150">
                <a:solidFill>
                  <a:srgbClr val="C62828"/>
                </a:solidFill>
                <a:latin typeface="Calibri"/>
              </a:rPr>
              <a:t>ERROR</a:t>
            </a:r>
          </a:p>
          <a:p>
            <a:pPr algn="l">
              <a:spcAft>
                <a:spcPts val="1000"/>
              </a:spcAft>
            </a:pPr>
            <a:r>
              <a:rPr sz="2600" b="1">
                <a:solidFill>
                  <a:srgbClr val="C62828"/>
                </a:solidFill>
                <a:latin typeface="Calibri"/>
              </a:rPr>
              <a:t>CUDA out of memory</a:t>
            </a:r>
          </a:p>
          <a:p>
            <a:pPr algn="l">
              <a:spcAft>
                <a:spcPts val="200"/>
              </a:spcAft>
            </a:pPr>
            <a:r>
              <a:rPr sz="2000" b="0">
                <a:solidFill>
                  <a:srgbClr val="1E2B3A"/>
                </a:solidFill>
                <a:latin typeface="Calibri"/>
              </a:rPr>
              <a:t>Needed:   140 GB</a:t>
            </a:r>
          </a:p>
          <a:p>
            <a:pPr algn="l">
              <a:spcAft>
                <a:spcPts val="800"/>
              </a:spcAft>
            </a:pPr>
            <a:r>
              <a:rPr sz="2000" b="0">
                <a:solidFill>
                  <a:srgbClr val="1E2B3A"/>
                </a:solidFill>
                <a:latin typeface="Calibri"/>
              </a:rPr>
              <a:t>Available:   4 GB</a:t>
            </a:r>
          </a:p>
          <a:p>
            <a:pPr algn="l"/>
            <a:r>
              <a:rPr sz="1800" b="0">
                <a:solidFill>
                  <a:srgbClr val="5A6B80"/>
                </a:solidFill>
                <a:latin typeface="Calibri"/>
              </a:rPr>
              <a:t>The model never finishes loading.</a:t>
            </a:r>
          </a:p>
        </p:txBody>
      </p:sp>
      <p:sp>
        <p:nvSpPr>
          <p:cNvPr id="23" name="#s3-callout"/>
          <p:cNvSpPr txBox="1"/>
          <p:nvPr/>
        </p:nvSpPr>
        <p:spPr>
          <a:xfrm>
            <a:off x="4140000" y="3924000"/>
            <a:ext cx="3528000" cy="1655999"/>
          </a:xfrm>
          <a:prstGeom prst="rect">
            <a:avLst/>
          </a:prstGeom>
          <a:noFill/>
          <a:ln>
            <a:noFill/>
          </a:ln>
        </p:spPr>
        <p:txBody>
          <a:bodyPr wrap="square" lIns="18000" tIns="18000" rIns="18000" bIns="18000" anchor="t">
            <a:noAutofit/>
          </a:bodyPr>
          <a:lstStyle/>
          <a:p>
            <a:pPr algn="l">
              <a:spcAft>
                <a:spcPts val="400"/>
              </a:spcAft>
            </a:pPr>
            <a:r>
              <a:rPr sz="2000" b="1">
                <a:solidFill>
                  <a:srgbClr val="1F63C6"/>
                </a:solidFill>
                <a:latin typeface="Calibri"/>
              </a:rPr>
              <a:t>Spatial memory</a:t>
            </a:r>
          </a:p>
          <a:p>
            <a:pPr algn="l"/>
            <a:r>
              <a:rPr sz="2000" b="0">
                <a:solidFill>
                  <a:srgbClr val="1E2B3A"/>
                </a:solidFill>
                <a:latin typeface="Calibri"/>
              </a:rPr>
              <a:t>Traditional loading keeps every layer resident at the same time, so GPU memory must hold the entire model.</a:t>
            </a:r>
          </a:p>
        </p:txBody>
      </p:sp>
      <p:sp>
        <p:nvSpPr>
          <p:cNvPr id="24" name="#s3-math"/>
          <p:cNvSpPr/>
          <p:nvPr/>
        </p:nvSpPr>
        <p:spPr>
          <a:xfrm>
            <a:off x="7920000" y="1440000"/>
            <a:ext cx="3732000" cy="4140000"/>
          </a:xfrm>
          <a:prstGeom prst="roundRect">
            <a:avLst>
              <a:gd name="adj" fmla="val 2411"/>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l"/>
            <a:r>
              <a:rPr sz="2000" b="1">
                <a:solidFill>
                  <a:srgbClr val="0B2545"/>
                </a:solidFill>
                <a:latin typeface="Calibri"/>
              </a:rPr>
              <a:t>Weight size in fp16</a:t>
            </a:r>
          </a:p>
          <a:p>
            <a:pPr algn="l"/>
            <a:r>
              <a:rPr sz="1600" b="0">
                <a:solidFill>
                  <a:srgbClr val="5A6B80"/>
                </a:solidFill>
                <a:latin typeface="Calibri"/>
              </a:rPr>
              <a:t>parameters × 2 bytes</a:t>
            </a:r>
          </a:p>
        </p:txBody>
      </p:sp>
      <p:graphicFrame>
        <p:nvGraphicFramePr>
          <p:cNvPr id="25" name="#s3-table"/>
          <p:cNvGraphicFramePr>
            <a:graphicFrameLocks noGrp="1"/>
          </p:cNvGraphicFramePr>
          <p:nvPr/>
        </p:nvGraphicFramePr>
        <p:xfrm>
          <a:off x="8136000" y="2214000"/>
          <a:ext cx="3300000" cy="1710000"/>
        </p:xfrm>
        <a:graphic>
          <a:graphicData uri="http://schemas.openxmlformats.org/drawingml/2006/table">
            <a:tbl>
              <a:tblPr firstRow="1">
                <a:tableStyleId>{5C22544A-7EE6-4342-B048-85BDC9FD1C3A}</a:tableStyleId>
              </a:tblPr>
              <a:tblGrid>
                <a:gridCol w="1485000"/>
                <a:gridCol w="1815000"/>
              </a:tblGrid>
              <a:tr h="342000">
                <a:tc>
                  <a:txBody>
                    <a:bodyPr/>
                    <a:lstStyle/>
                    <a:p>
                      <a:pPr algn="ctr"/>
                      <a:r>
                        <a:rPr sz="1600" b="1">
                          <a:solidFill>
                            <a:srgbClr val="FFFFFF"/>
                          </a:solidFill>
                          <a:latin typeface="Calibri"/>
                        </a:rPr>
                        <a:t>Model</a:t>
                      </a:r>
                    </a:p>
                  </a:txBody>
                  <a:tcPr marT="18000" marB="18000" anchor="ctr">
                    <a:solidFill>
                      <a:srgbClr val="1F63C6"/>
                    </a:solidFill>
                  </a:tcPr>
                </a:tc>
                <a:tc>
                  <a:txBody>
                    <a:bodyPr/>
                    <a:lstStyle/>
                    <a:p>
                      <a:pPr algn="ctr"/>
                      <a:r>
                        <a:rPr sz="1600" b="1">
                          <a:solidFill>
                            <a:srgbClr val="FFFFFF"/>
                          </a:solidFill>
                          <a:latin typeface="Calibri"/>
                        </a:rPr>
                        <a:t>fp16 weights</a:t>
                      </a:r>
                    </a:p>
                  </a:txBody>
                  <a:tcPr marT="18000" marB="18000" anchor="ctr">
                    <a:solidFill>
                      <a:srgbClr val="1F63C6"/>
                    </a:solidFill>
                  </a:tcPr>
                </a:tc>
              </a:tr>
              <a:tr h="342000">
                <a:tc>
                  <a:txBody>
                    <a:bodyPr/>
                    <a:lstStyle/>
                    <a:p>
                      <a:pPr algn="ctr"/>
                      <a:r>
                        <a:rPr sz="2000" b="0">
                          <a:solidFill>
                            <a:srgbClr val="1E2B3A"/>
                          </a:solidFill>
                          <a:latin typeface="Calibri"/>
                        </a:rPr>
                        <a:t>7B</a:t>
                      </a:r>
                    </a:p>
                  </a:txBody>
                  <a:tcPr marT="18000" marB="18000" anchor="ctr">
                    <a:solidFill>
                      <a:srgbClr val="FFFFFF"/>
                    </a:solidFill>
                  </a:tcPr>
                </a:tc>
                <a:tc>
                  <a:txBody>
                    <a:bodyPr/>
                    <a:lstStyle/>
                    <a:p>
                      <a:pPr algn="ctr"/>
                      <a:r>
                        <a:rPr sz="2000" b="0">
                          <a:solidFill>
                            <a:srgbClr val="1E2B3A"/>
                          </a:solidFill>
                          <a:latin typeface="Calibri"/>
                        </a:rPr>
                        <a:t>14 GB</a:t>
                      </a:r>
                    </a:p>
                  </a:txBody>
                  <a:tcPr marT="18000" marB="18000" anchor="ctr">
                    <a:solidFill>
                      <a:srgbClr val="FFFFFF"/>
                    </a:solidFill>
                  </a:tcPr>
                </a:tc>
              </a:tr>
              <a:tr h="342000">
                <a:tc>
                  <a:txBody>
                    <a:bodyPr/>
                    <a:lstStyle/>
                    <a:p>
                      <a:pPr algn="ctr"/>
                      <a:r>
                        <a:rPr sz="2000" b="0">
                          <a:solidFill>
                            <a:srgbClr val="1E2B3A"/>
                          </a:solidFill>
                          <a:latin typeface="Calibri"/>
                        </a:rPr>
                        <a:t>13B</a:t>
                      </a:r>
                    </a:p>
                  </a:txBody>
                  <a:tcPr marT="18000" marB="18000" anchor="ctr">
                    <a:solidFill>
                      <a:srgbClr val="FFFFFF"/>
                    </a:solidFill>
                  </a:tcPr>
                </a:tc>
                <a:tc>
                  <a:txBody>
                    <a:bodyPr/>
                    <a:lstStyle/>
                    <a:p>
                      <a:pPr algn="ctr"/>
                      <a:r>
                        <a:rPr sz="2000" b="0">
                          <a:solidFill>
                            <a:srgbClr val="1E2B3A"/>
                          </a:solidFill>
                          <a:latin typeface="Calibri"/>
                        </a:rPr>
                        <a:t>26 GB</a:t>
                      </a:r>
                    </a:p>
                  </a:txBody>
                  <a:tcPr marT="18000" marB="18000" anchor="ctr">
                    <a:solidFill>
                      <a:srgbClr val="FFFFFF"/>
                    </a:solidFill>
                  </a:tcPr>
                </a:tc>
              </a:tr>
              <a:tr h="342000">
                <a:tc>
                  <a:txBody>
                    <a:bodyPr/>
                    <a:lstStyle/>
                    <a:p>
                      <a:pPr algn="ctr"/>
                      <a:r>
                        <a:rPr sz="2000" b="1">
                          <a:solidFill>
                            <a:srgbClr val="0B2545"/>
                          </a:solidFill>
                          <a:latin typeface="Calibri"/>
                        </a:rPr>
                        <a:t>70B</a:t>
                      </a:r>
                    </a:p>
                  </a:txBody>
                  <a:tcPr marT="18000" marB="18000" anchor="ctr">
                    <a:solidFill>
                      <a:srgbClr val="D3E2F6"/>
                    </a:solidFill>
                  </a:tcPr>
                </a:tc>
                <a:tc>
                  <a:txBody>
                    <a:bodyPr/>
                    <a:lstStyle/>
                    <a:p>
                      <a:pPr algn="ctr"/>
                      <a:r>
                        <a:rPr sz="2000" b="1">
                          <a:solidFill>
                            <a:srgbClr val="0B2545"/>
                          </a:solidFill>
                          <a:latin typeface="Calibri"/>
                        </a:rPr>
                        <a:t>140 GB</a:t>
                      </a:r>
                    </a:p>
                  </a:txBody>
                  <a:tcPr marT="18000" marB="18000" anchor="ctr">
                    <a:solidFill>
                      <a:srgbClr val="D3E2F6"/>
                    </a:solidFill>
                  </a:tcPr>
                </a:tc>
              </a:tr>
              <a:tr h="342000">
                <a:tc>
                  <a:txBody>
                    <a:bodyPr/>
                    <a:lstStyle/>
                    <a:p>
                      <a:pPr algn="ctr"/>
                      <a:r>
                        <a:rPr sz="2000" b="0">
                          <a:solidFill>
                            <a:srgbClr val="1E2B3A"/>
                          </a:solidFill>
                          <a:latin typeface="Calibri"/>
                        </a:rPr>
                        <a:t>405B</a:t>
                      </a:r>
                    </a:p>
                  </a:txBody>
                  <a:tcPr marT="18000" marB="18000" anchor="ctr">
                    <a:solidFill>
                      <a:srgbClr val="FFFFFF"/>
                    </a:solidFill>
                  </a:tcPr>
                </a:tc>
                <a:tc>
                  <a:txBody>
                    <a:bodyPr/>
                    <a:lstStyle/>
                    <a:p>
                      <a:pPr algn="ctr"/>
                      <a:r>
                        <a:rPr sz="2000" b="0">
                          <a:solidFill>
                            <a:srgbClr val="1E2B3A"/>
                          </a:solidFill>
                          <a:latin typeface="Calibri"/>
                        </a:rPr>
                        <a:t>810 GB</a:t>
                      </a:r>
                    </a:p>
                  </a:txBody>
                  <a:tcPr marT="18000" marB="18000" anchor="ctr">
                    <a:solidFill>
                      <a:srgbClr val="FFFFFF"/>
                    </a:solidFill>
                  </a:tcPr>
                </a:tc>
              </a:tr>
            </a:tbl>
          </a:graphicData>
        </a:graphic>
      </p:graphicFrame>
      <p:sp>
        <p:nvSpPr>
          <p:cNvPr id="26" name="#s3-gpu_note"/>
          <p:cNvSpPr txBox="1"/>
          <p:nvPr/>
        </p:nvSpPr>
        <p:spPr>
          <a:xfrm>
            <a:off x="8136000" y="4068000"/>
            <a:ext cx="3300000" cy="1296000"/>
          </a:xfrm>
          <a:prstGeom prst="rect">
            <a:avLst/>
          </a:prstGeom>
          <a:noFill/>
          <a:ln>
            <a:noFill/>
          </a:ln>
        </p:spPr>
        <p:txBody>
          <a:bodyPr wrap="square" lIns="18000" tIns="18000" rIns="18000" bIns="18000" anchor="t">
            <a:noAutofit/>
          </a:bodyPr>
          <a:lstStyle/>
          <a:p>
            <a:pPr algn="l"/>
            <a:r>
              <a:rPr sz="1600" b="1">
                <a:solidFill>
                  <a:srgbClr val="1F63C6"/>
                </a:solidFill>
                <a:latin typeface="Calibri"/>
              </a:rPr>
              <a:t>Consumer GPUs</a:t>
            </a:r>
          </a:p>
          <a:p>
            <a:pPr algn="l">
              <a:spcAft>
                <a:spcPts val="400"/>
              </a:spcAft>
            </a:pPr>
            <a:r>
              <a:rPr sz="2600" b="1">
                <a:solidFill>
                  <a:srgbClr val="0B2545"/>
                </a:solidFill>
                <a:latin typeface="Calibri"/>
              </a:rPr>
              <a:t>4–24 GB VRAM</a:t>
            </a:r>
          </a:p>
          <a:p>
            <a:pPr algn="l"/>
            <a:r>
              <a:rPr sz="1600" b="0">
                <a:solidFill>
                  <a:srgbClr val="5A6B80"/>
                </a:solidFill>
                <a:latin typeface="Calibri"/>
              </a:rPr>
              <a:t>A 70B model needs 35× a 4 GB card</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500">
        <p159:morph option="byObjec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1016000" y="3240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5363999" y="6228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4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4-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Key Insight: Spatial → Temporal</a:t>
            </a:r>
          </a:p>
        </p:txBody>
      </p:sp>
      <p:sp>
        <p:nvSpPr>
          <p:cNvPr id="11" name="#s4-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Decoder layers run one after another, so memory can be reused over time</a:t>
            </a:r>
          </a:p>
        </p:txBody>
      </p:sp>
      <p:sp>
        <p:nvSpPr>
          <p:cNvPr id="12" name="#s4-spatial"/>
          <p:cNvSpPr/>
          <p:nvPr/>
        </p:nvSpPr>
        <p:spPr>
          <a:xfrm>
            <a:off x="540000" y="1404000"/>
            <a:ext cx="11112000" cy="1080000"/>
          </a:xfrm>
          <a:prstGeom prst="roundRect">
            <a:avLst>
              <a:gd name="adj" fmla="val 8333"/>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200"/>
              </a:spcAft>
            </a:pPr>
            <a:r>
              <a:rPr sz="1400" b="1" spc="100">
                <a:solidFill>
                  <a:srgbClr val="5A6B80"/>
                </a:solidFill>
                <a:latin typeface="Calibri"/>
              </a:rPr>
              <a:t>SPATIAL · TRADITIONAL</a:t>
            </a:r>
          </a:p>
          <a:p>
            <a:pPr algn="l"/>
            <a:r>
              <a:rPr sz="2200" b="0">
                <a:solidFill>
                  <a:srgbClr val="1E2B3A"/>
                </a:solidFill>
                <a:latin typeface="Calibri"/>
              </a:rPr>
              <a:t>Load all 80 layers, then compute.</a:t>
            </a:r>
          </a:p>
        </p:txBody>
      </p:sp>
      <p:sp>
        <p:nvSpPr>
          <p:cNvPr id="13" name="#s4-spatial_need"/>
          <p:cNvSpPr txBox="1"/>
          <p:nvPr/>
        </p:nvSpPr>
        <p:spPr>
          <a:xfrm>
            <a:off x="7020000" y="1404000"/>
            <a:ext cx="4428000" cy="1080000"/>
          </a:xfrm>
          <a:prstGeom prst="rect">
            <a:avLst/>
          </a:prstGeom>
          <a:noFill/>
          <a:ln>
            <a:noFill/>
          </a:ln>
        </p:spPr>
        <p:txBody>
          <a:bodyPr wrap="square" lIns="18000" tIns="18000" rIns="18000" bIns="18000" anchor="ctr">
            <a:noAutofit/>
          </a:bodyPr>
          <a:lstStyle/>
          <a:p>
            <a:pPr algn="r"/>
            <a:r>
              <a:rPr sz="2200" b="1">
                <a:solidFill>
                  <a:srgbClr val="C62828"/>
                </a:solidFill>
                <a:latin typeface="Calibri"/>
              </a:rPr>
              <a:t>GPU memory ≈ all layers ≈ 140 GB</a:t>
            </a:r>
          </a:p>
        </p:txBody>
      </p:sp>
      <p:sp>
        <p:nvSpPr>
          <p:cNvPr id="14" name="#s4-temporal"/>
          <p:cNvSpPr/>
          <p:nvPr/>
        </p:nvSpPr>
        <p:spPr>
          <a:xfrm>
            <a:off x="540000" y="2592000"/>
            <a:ext cx="11112000" cy="1080000"/>
          </a:xfrm>
          <a:prstGeom prst="roundRect">
            <a:avLst>
              <a:gd name="adj" fmla="val 8333"/>
            </a:avLst>
          </a:prstGeom>
          <a:solidFill>
            <a:srgbClr val="EAF1FB"/>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200"/>
              </a:spcAft>
            </a:pPr>
            <a:r>
              <a:rPr sz="1400" b="1" spc="100">
                <a:solidFill>
                  <a:srgbClr val="1F63C6"/>
                </a:solidFill>
                <a:latin typeface="Calibri"/>
              </a:rPr>
              <a:t>TEMPORAL · AIRLLM</a:t>
            </a:r>
          </a:p>
          <a:p>
            <a:pPr algn="l"/>
            <a:r>
              <a:rPr sz="2200" b="0">
                <a:solidFill>
                  <a:srgbClr val="1E2B3A"/>
                </a:solidFill>
                <a:latin typeface="Calibri"/>
              </a:rPr>
              <a:t>Stream one layer in, compute, evict, repeat.</a:t>
            </a:r>
          </a:p>
        </p:txBody>
      </p:sp>
      <p:sp>
        <p:nvSpPr>
          <p:cNvPr id="15" name="#s4-temporal_need"/>
          <p:cNvSpPr txBox="1"/>
          <p:nvPr/>
        </p:nvSpPr>
        <p:spPr>
          <a:xfrm>
            <a:off x="7020000" y="2592000"/>
            <a:ext cx="4428000" cy="1080000"/>
          </a:xfrm>
          <a:prstGeom prst="rect">
            <a:avLst/>
          </a:prstGeom>
          <a:noFill/>
          <a:ln>
            <a:noFill/>
          </a:ln>
        </p:spPr>
        <p:txBody>
          <a:bodyPr wrap="square" lIns="18000" tIns="18000" rIns="18000" bIns="18000" anchor="ctr">
            <a:noAutofit/>
          </a:bodyPr>
          <a:lstStyle/>
          <a:p>
            <a:pPr algn="r"/>
            <a:r>
              <a:rPr sz="2200" b="1">
                <a:solidFill>
                  <a:srgbClr val="1F63C6"/>
                </a:solidFill>
                <a:latin typeface="Calibri"/>
              </a:rPr>
              <a:t>GPU memory ≈ one layer ≈ 1.7 GB*</a:t>
            </a:r>
          </a:p>
        </p:txBody>
      </p:sp>
      <p:sp>
        <p:nvSpPr>
          <p:cNvPr id="16" name="#s4-window_label"/>
          <p:cNvSpPr txBox="1"/>
          <p:nvPr/>
        </p:nvSpPr>
        <p:spPr>
          <a:xfrm>
            <a:off x="300000" y="3761999"/>
            <a:ext cx="1764000" cy="234000"/>
          </a:xfrm>
          <a:prstGeom prst="rect">
            <a:avLst/>
          </a:prstGeom>
          <a:noFill/>
          <a:ln>
            <a:noFill/>
          </a:ln>
        </p:spPr>
        <p:txBody>
          <a:bodyPr wrap="square" lIns="18000" tIns="18000" rIns="18000" bIns="18000" anchor="ctr">
            <a:noAutofit/>
          </a:bodyPr>
          <a:lstStyle/>
          <a:p>
            <a:pPr algn="ctr"/>
            <a:r>
              <a:rPr sz="1400" b="1">
                <a:solidFill>
                  <a:srgbClr val="1F63C6"/>
                </a:solidFill>
                <a:latin typeface="Calibri"/>
              </a:rPr>
              <a:t>In GPU memory now</a:t>
            </a:r>
          </a:p>
        </p:txBody>
      </p:sp>
      <p:sp>
        <p:nvSpPr>
          <p:cNvPr id="17" name="#s4-window"/>
          <p:cNvSpPr/>
          <p:nvPr/>
        </p:nvSpPr>
        <p:spPr>
          <a:xfrm>
            <a:off x="498000" y="4031999"/>
            <a:ext cx="1368000" cy="576000"/>
          </a:xfrm>
          <a:prstGeom prst="roundRect">
            <a:avLst>
              <a:gd name="adj" fmla="val 15625"/>
            </a:avLst>
          </a:prstGeom>
          <a:noFill/>
          <a:ln w="19050">
            <a:solidFill>
              <a:srgbClr val="1F63C6"/>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8" name="!!actor-layer_1"/>
          <p:cNvSpPr/>
          <p:nvPr/>
        </p:nvSpPr>
        <p:spPr>
          <a:xfrm>
            <a:off x="588000" y="4121999"/>
            <a:ext cx="1188000" cy="396000"/>
          </a:xfrm>
          <a:prstGeom prst="roundRect">
            <a:avLst>
              <a:gd name="adj" fmla="val 10909"/>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L1</a:t>
            </a:r>
          </a:p>
        </p:txBody>
      </p:sp>
      <p:sp>
        <p:nvSpPr>
          <p:cNvPr id="19" name="!!actor-layer_2"/>
          <p:cNvSpPr/>
          <p:nvPr/>
        </p:nvSpPr>
        <p:spPr>
          <a:xfrm>
            <a:off x="1992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L2</a:t>
            </a:r>
          </a:p>
        </p:txBody>
      </p:sp>
      <p:sp>
        <p:nvSpPr>
          <p:cNvPr id="20" name="!!actor-layer_3"/>
          <p:cNvSpPr/>
          <p:nvPr/>
        </p:nvSpPr>
        <p:spPr>
          <a:xfrm>
            <a:off x="3396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L3</a:t>
            </a:r>
          </a:p>
        </p:txBody>
      </p:sp>
      <p:sp>
        <p:nvSpPr>
          <p:cNvPr id="21" name="!!actor-layer_4"/>
          <p:cNvSpPr/>
          <p:nvPr/>
        </p:nvSpPr>
        <p:spPr>
          <a:xfrm>
            <a:off x="4800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L4</a:t>
            </a:r>
          </a:p>
        </p:txBody>
      </p:sp>
      <p:sp>
        <p:nvSpPr>
          <p:cNvPr id="22" name="!!actor-layer_5"/>
          <p:cNvSpPr/>
          <p:nvPr/>
        </p:nvSpPr>
        <p:spPr>
          <a:xfrm>
            <a:off x="6204000" y="4121999"/>
            <a:ext cx="1188000" cy="396000"/>
          </a:xfrm>
          <a:prstGeom prst="roundRect">
            <a:avLst>
              <a:gd name="adj" fmla="val 10909"/>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a:t>
            </a:r>
          </a:p>
        </p:txBody>
      </p:sp>
      <p:sp>
        <p:nvSpPr>
          <p:cNvPr id="23" name="!!actor-layer_6"/>
          <p:cNvSpPr/>
          <p:nvPr/>
        </p:nvSpPr>
        <p:spPr>
          <a:xfrm>
            <a:off x="7608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L78</a:t>
            </a:r>
          </a:p>
        </p:txBody>
      </p:sp>
      <p:sp>
        <p:nvSpPr>
          <p:cNvPr id="24" name="!!actor-layer_7"/>
          <p:cNvSpPr/>
          <p:nvPr/>
        </p:nvSpPr>
        <p:spPr>
          <a:xfrm>
            <a:off x="9012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L79</a:t>
            </a:r>
          </a:p>
        </p:txBody>
      </p:sp>
      <p:sp>
        <p:nvSpPr>
          <p:cNvPr id="25" name="!!actor-layer_8"/>
          <p:cNvSpPr/>
          <p:nvPr/>
        </p:nvSpPr>
        <p:spPr>
          <a:xfrm>
            <a:off x="10416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L80</a:t>
            </a:r>
          </a:p>
        </p:txBody>
      </p:sp>
      <p:sp>
        <p:nvSpPr>
          <p:cNvPr id="26" name="#s4-time"/>
          <p:cNvSpPr/>
          <p:nvPr/>
        </p:nvSpPr>
        <p:spPr>
          <a:xfrm>
            <a:off x="540000" y="4788000"/>
            <a:ext cx="11112000" cy="162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27" name="#s4-time_label"/>
          <p:cNvSpPr txBox="1"/>
          <p:nvPr/>
        </p:nvSpPr>
        <p:spPr>
          <a:xfrm>
            <a:off x="540000" y="5004000"/>
            <a:ext cx="11112000" cy="251999"/>
          </a:xfrm>
          <a:prstGeom prst="rect">
            <a:avLst/>
          </a:prstGeom>
          <a:noFill/>
          <a:ln>
            <a:noFill/>
          </a:ln>
        </p:spPr>
        <p:txBody>
          <a:bodyPr wrap="square" lIns="18000" tIns="18000" rIns="18000" bIns="18000" anchor="ctr">
            <a:noAutofit/>
          </a:bodyPr>
          <a:lstStyle/>
          <a:p>
            <a:pPr algn="ctr"/>
            <a:r>
              <a:rPr sz="1600" b="0">
                <a:solidFill>
                  <a:srgbClr val="5A6B80"/>
                </a:solidFill>
                <a:latin typeface="Calibri"/>
              </a:rPr>
              <a:t>Time → one layer per step · 80 steps per generated token</a:t>
            </a:r>
          </a:p>
        </p:txBody>
      </p:sp>
      <p:sp>
        <p:nvSpPr>
          <p:cNvPr id="28" name="#s4-foot"/>
          <p:cNvSpPr txBox="1"/>
          <p:nvPr/>
        </p:nvSpPr>
        <p:spPr>
          <a:xfrm>
            <a:off x="540000" y="5616000"/>
            <a:ext cx="11112000" cy="396000"/>
          </a:xfrm>
          <a:prstGeom prst="rect">
            <a:avLst/>
          </a:prstGeom>
          <a:noFill/>
          <a:ln>
            <a:noFill/>
          </a:ln>
        </p:spPr>
        <p:txBody>
          <a:bodyPr wrap="square" lIns="18000" tIns="18000" rIns="18000" bIns="18000" anchor="ctr">
            <a:noAutofit/>
          </a:bodyPr>
          <a:lstStyle/>
          <a:p>
            <a:pPr algn="l"/>
            <a:r>
              <a:rPr sz="1400" b="0">
                <a:solidFill>
                  <a:srgbClr val="5A6B80"/>
                </a:solidFill>
                <a:latin typeface="Calibri"/>
              </a:rPr>
              <a:t>* fp16 weights of one 70B decoder layer (≈0.86B parameters × 2 bytes); activations, KV cache and CUDA context add overhead.</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500">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0836000" y="5508000"/>
            <a:ext cx="2520000" cy="252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7740000" y="-180000"/>
            <a:ext cx="1080000" cy="10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5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5-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Architecture: Split · Store · Stream</a:t>
            </a:r>
          </a:p>
        </p:txBody>
      </p:sp>
      <p:sp>
        <p:nvSpPr>
          <p:cNvPr id="11" name="#s5-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Split once, then stream layer shards through three memory tiers</a:t>
            </a:r>
          </a:p>
        </p:txBody>
      </p:sp>
      <p:sp>
        <p:nvSpPr>
          <p:cNvPr id="12" name="#s5-tier_disk"/>
          <p:cNvSpPr/>
          <p:nvPr/>
        </p:nvSpPr>
        <p:spPr>
          <a:xfrm>
            <a:off x="540000" y="1404000"/>
            <a:ext cx="3204000" cy="3204000"/>
          </a:xfrm>
          <a:prstGeom prst="roundRect">
            <a:avLst>
              <a:gd name="adj" fmla="val 2808"/>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25999" rIns="198000" bIns="125999" rtlCol="0" anchor="t">
            <a:noAutofit/>
          </a:bodyPr>
          <a:lstStyle/>
          <a:p>
            <a:pPr algn="ctr"/>
            <a:r>
              <a:rPr sz="2000" b="1">
                <a:solidFill>
                  <a:srgbClr val="0B2545"/>
                </a:solidFill>
                <a:latin typeface="Calibri"/>
              </a:rPr>
              <a:t>Disk (NVMe / SSD)</a:t>
            </a:r>
          </a:p>
          <a:p>
            <a:pPr algn="ctr"/>
            <a:r>
              <a:rPr sz="1600" b="0">
                <a:solidFill>
                  <a:srgbClr val="5A6B80"/>
                </a:solidFill>
                <a:latin typeface="Calibri"/>
              </a:rPr>
              <a:t>80 per-layer shards</a:t>
            </a:r>
          </a:p>
        </p:txBody>
      </p:sp>
      <p:sp>
        <p:nvSpPr>
          <p:cNvPr id="13" name="#s5-tier_ram"/>
          <p:cNvSpPr/>
          <p:nvPr/>
        </p:nvSpPr>
        <p:spPr>
          <a:xfrm>
            <a:off x="4494000" y="1404000"/>
            <a:ext cx="3204000" cy="3204000"/>
          </a:xfrm>
          <a:prstGeom prst="roundRect">
            <a:avLst>
              <a:gd name="adj" fmla="val 2808"/>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25999" rIns="198000" bIns="125999" rtlCol="0" anchor="t">
            <a:noAutofit/>
          </a:bodyPr>
          <a:lstStyle/>
          <a:p>
            <a:pPr algn="ctr"/>
            <a:r>
              <a:rPr sz="2000" b="1">
                <a:solidFill>
                  <a:srgbClr val="0B2545"/>
                </a:solidFill>
                <a:latin typeface="Calibri"/>
              </a:rPr>
              <a:t>CPU RAM (pinned)</a:t>
            </a:r>
          </a:p>
          <a:p>
            <a:pPr algn="ctr"/>
            <a:r>
              <a:rPr sz="1600" b="0">
                <a:solidFill>
                  <a:srgbClr val="5A6B80"/>
                </a:solidFill>
                <a:latin typeface="Calibri"/>
              </a:rPr>
              <a:t>Prefetch buffer</a:t>
            </a:r>
          </a:p>
        </p:txBody>
      </p:sp>
      <p:sp>
        <p:nvSpPr>
          <p:cNvPr id="14" name="#s5-tier_vram"/>
          <p:cNvSpPr/>
          <p:nvPr/>
        </p:nvSpPr>
        <p:spPr>
          <a:xfrm>
            <a:off x="8448000" y="1404000"/>
            <a:ext cx="3204000" cy="3204000"/>
          </a:xfrm>
          <a:prstGeom prst="roundRect">
            <a:avLst>
              <a:gd name="adj" fmla="val 2808"/>
            </a:avLst>
          </a:prstGeom>
          <a:solidFill>
            <a:srgbClr val="FFFFFF"/>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98000" tIns="125999" rIns="198000" bIns="125999" rtlCol="0" anchor="t">
            <a:noAutofit/>
          </a:bodyPr>
          <a:lstStyle/>
          <a:p>
            <a:pPr algn="ctr"/>
            <a:r>
              <a:rPr sz="2000" b="1">
                <a:solidFill>
                  <a:srgbClr val="0B2545"/>
                </a:solidFill>
                <a:latin typeface="Calibri"/>
              </a:rPr>
              <a:t>GPU VRAM (4 GB)</a:t>
            </a:r>
          </a:p>
          <a:p>
            <a:pPr algn="ctr"/>
            <a:r>
              <a:rPr sz="1600" b="0">
                <a:solidFill>
                  <a:srgbClr val="5A6B80"/>
                </a:solidFill>
                <a:latin typeface="Calibri"/>
              </a:rPr>
              <a:t>One active layer</a:t>
            </a:r>
          </a:p>
        </p:txBody>
      </p:sp>
      <p:sp>
        <p:nvSpPr>
          <p:cNvPr id="15" name="!!actor-layer_3"/>
          <p:cNvSpPr/>
          <p:nvPr/>
        </p:nvSpPr>
        <p:spPr>
          <a:xfrm>
            <a:off x="827999" y="2196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L3</a:t>
            </a:r>
          </a:p>
        </p:txBody>
      </p:sp>
      <p:sp>
        <p:nvSpPr>
          <p:cNvPr id="16" name="!!actor-layer_4"/>
          <p:cNvSpPr/>
          <p:nvPr/>
        </p:nvSpPr>
        <p:spPr>
          <a:xfrm>
            <a:off x="827999" y="2574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L4</a:t>
            </a:r>
          </a:p>
        </p:txBody>
      </p:sp>
      <p:sp>
        <p:nvSpPr>
          <p:cNvPr id="17" name="!!actor-layer_5"/>
          <p:cNvSpPr/>
          <p:nvPr/>
        </p:nvSpPr>
        <p:spPr>
          <a:xfrm>
            <a:off x="827999" y="2951999"/>
            <a:ext cx="2628000" cy="295200"/>
          </a:xfrm>
          <a:prstGeom prst="roundRect">
            <a:avLst>
              <a:gd name="adj" fmla="val 14634"/>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a:t>
            </a:r>
          </a:p>
        </p:txBody>
      </p:sp>
      <p:sp>
        <p:nvSpPr>
          <p:cNvPr id="18" name="!!actor-layer_6"/>
          <p:cNvSpPr/>
          <p:nvPr/>
        </p:nvSpPr>
        <p:spPr>
          <a:xfrm>
            <a:off x="827999" y="3330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L78</a:t>
            </a:r>
          </a:p>
        </p:txBody>
      </p:sp>
      <p:sp>
        <p:nvSpPr>
          <p:cNvPr id="19" name="!!actor-layer_7"/>
          <p:cNvSpPr/>
          <p:nvPr/>
        </p:nvSpPr>
        <p:spPr>
          <a:xfrm>
            <a:off x="827999" y="3708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L79</a:t>
            </a:r>
          </a:p>
        </p:txBody>
      </p:sp>
      <p:sp>
        <p:nvSpPr>
          <p:cNvPr id="20" name="!!actor-layer_8"/>
          <p:cNvSpPr/>
          <p:nvPr/>
        </p:nvSpPr>
        <p:spPr>
          <a:xfrm>
            <a:off x="827999" y="4086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L80</a:t>
            </a:r>
          </a:p>
        </p:txBody>
      </p:sp>
      <p:sp>
        <p:nvSpPr>
          <p:cNvPr id="21" name="!!actor-layer_2"/>
          <p:cNvSpPr/>
          <p:nvPr/>
        </p:nvSpPr>
        <p:spPr>
          <a:xfrm>
            <a:off x="4782000" y="2736000"/>
            <a:ext cx="2628000" cy="396000"/>
          </a:xfrm>
          <a:prstGeom prst="roundRect">
            <a:avLst>
              <a:gd name="adj" fmla="val 10909"/>
            </a:avLst>
          </a:prstGeom>
          <a:solidFill>
            <a:srgbClr val="FFF6E5"/>
          </a:solidFill>
          <a:ln w="1587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A86400"/>
                </a:solidFill>
                <a:latin typeface="Calibri"/>
              </a:rPr>
              <a:t>L2 · prefetching</a:t>
            </a:r>
          </a:p>
        </p:txBody>
      </p:sp>
      <p:sp>
        <p:nvSpPr>
          <p:cNvPr id="22" name="!!actor-layer_1"/>
          <p:cNvSpPr/>
          <p:nvPr/>
        </p:nvSpPr>
        <p:spPr>
          <a:xfrm>
            <a:off x="8736000" y="2736000"/>
            <a:ext cx="2628000" cy="396000"/>
          </a:xfrm>
          <a:prstGeom prst="roundRect">
            <a:avLst>
              <a:gd name="adj" fmla="val 10909"/>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L1 · computing</a:t>
            </a:r>
          </a:p>
        </p:txBody>
      </p:sp>
      <p:sp>
        <p:nvSpPr>
          <p:cNvPr id="23" name="#s5-ram_note"/>
          <p:cNvSpPr txBox="1"/>
          <p:nvPr/>
        </p:nvSpPr>
        <p:spPr>
          <a:xfrm>
            <a:off x="4638000" y="3311999"/>
            <a:ext cx="2916000" cy="720000"/>
          </a:xfrm>
          <a:prstGeom prst="rect">
            <a:avLst/>
          </a:prstGeom>
          <a:noFill/>
          <a:ln>
            <a:noFill/>
          </a:ln>
        </p:spPr>
        <p:txBody>
          <a:bodyPr wrap="square" lIns="18000" tIns="18000" rIns="18000" bIns="18000" anchor="t">
            <a:noAutofit/>
          </a:bodyPr>
          <a:lstStyle/>
          <a:p>
            <a:pPr algn="ctr"/>
            <a:r>
              <a:rPr sz="1800" b="0">
                <a:solidFill>
                  <a:srgbClr val="5A6B80"/>
                </a:solidFill>
                <a:latin typeface="Calibri"/>
              </a:rPr>
              <a:t>Async read overlaps compute</a:t>
            </a:r>
          </a:p>
        </p:txBody>
      </p:sp>
      <p:sp>
        <p:nvSpPr>
          <p:cNvPr id="24" name="#s5-vram_note"/>
          <p:cNvSpPr txBox="1"/>
          <p:nvPr/>
        </p:nvSpPr>
        <p:spPr>
          <a:xfrm>
            <a:off x="8592000" y="3311999"/>
            <a:ext cx="2916000" cy="720000"/>
          </a:xfrm>
          <a:prstGeom prst="rect">
            <a:avLst/>
          </a:prstGeom>
          <a:noFill/>
          <a:ln>
            <a:noFill/>
          </a:ln>
        </p:spPr>
        <p:txBody>
          <a:bodyPr wrap="square" lIns="18000" tIns="18000" rIns="18000" bIns="18000" anchor="t">
            <a:noAutofit/>
          </a:bodyPr>
          <a:lstStyle/>
          <a:p>
            <a:pPr algn="ctr"/>
            <a:r>
              <a:rPr sz="1800" b="0">
                <a:solidFill>
                  <a:srgbClr val="5A6B80"/>
                </a:solidFill>
                <a:latin typeface="Calibri"/>
              </a:rPr>
              <a:t>Weights evicted right after use</a:t>
            </a:r>
          </a:p>
        </p:txBody>
      </p:sp>
      <p:sp>
        <p:nvSpPr>
          <p:cNvPr id="25" name="#s5-arrow_1"/>
          <p:cNvSpPr/>
          <p:nvPr/>
        </p:nvSpPr>
        <p:spPr>
          <a:xfrm>
            <a:off x="3849000" y="2736000"/>
            <a:ext cx="540000" cy="396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26" name="#s5-arrow_2"/>
          <p:cNvSpPr/>
          <p:nvPr/>
        </p:nvSpPr>
        <p:spPr>
          <a:xfrm>
            <a:off x="7802999" y="2736000"/>
            <a:ext cx="540000" cy="396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27" name="!!actor-card"/>
          <p:cNvSpPr/>
          <p:nvPr/>
        </p:nvSpPr>
        <p:spPr>
          <a:xfrm>
            <a:off x="540000" y="4788000"/>
            <a:ext cx="11112000" cy="1296000"/>
          </a:xfrm>
          <a:prstGeom prst="roundRect">
            <a:avLst>
              <a:gd name="adj" fmla="val 6944"/>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251999" tIns="108000" rIns="251999" bIns="108000" rtlCol="0" anchor="t">
            <a:noAutofit/>
          </a:bodyPr>
          <a:lstStyle/>
          <a:p>
            <a:pPr algn="l">
              <a:spcAft>
                <a:spcPts val="400"/>
              </a:spcAft>
            </a:pPr>
            <a:r>
              <a:rPr sz="1400" b="1" spc="100">
                <a:solidFill>
                  <a:srgbClr val="1F63C6"/>
                </a:solidFill>
                <a:latin typeface="Calibri"/>
              </a:rPr>
              <a:t>USAGE (PYTHON)</a:t>
            </a:r>
          </a:p>
          <a:p>
            <a:pPr algn="l"/>
            <a:r>
              <a:rPr sz="1800" b="1">
                <a:solidFill>
                  <a:srgbClr val="1F63C6"/>
                </a:solidFill>
                <a:latin typeface="Consolas"/>
              </a:rPr>
              <a:t>&gt;&gt;&gt; </a:t>
            </a:r>
            <a:r>
              <a:rPr sz="1800" b="0">
                <a:solidFill>
                  <a:srgbClr val="0B2545"/>
                </a:solidFill>
                <a:latin typeface="Consolas"/>
              </a:rPr>
              <a:t>from airllm import AutoModel</a:t>
            </a:r>
          </a:p>
          <a:p>
            <a:pPr algn="l"/>
            <a:r>
              <a:rPr sz="1800" b="1">
                <a:solidFill>
                  <a:srgbClr val="1F63C6"/>
                </a:solidFill>
                <a:latin typeface="Consolas"/>
              </a:rPr>
              <a:t>&gt;&gt;&gt; </a:t>
            </a:r>
            <a:r>
              <a:rPr sz="1800" b="0">
                <a:solidFill>
                  <a:srgbClr val="0B2545"/>
                </a:solidFill>
                <a:latin typeface="Consolas"/>
              </a:rPr>
              <a:t>model = AutoModel.from_pretrained("meta-llama/Llama-2-70b-hf")</a:t>
            </a:r>
          </a:p>
          <a:p>
            <a:pPr algn="l"/>
            <a:r>
              <a:rPr sz="1800" b="1">
                <a:solidFill>
                  <a:srgbClr val="1F63C6"/>
                </a:solidFill>
                <a:latin typeface="Consolas"/>
              </a:rPr>
              <a:t>&gt;&gt;&gt; </a:t>
            </a:r>
            <a:r>
              <a:rPr sz="1800" b="0">
                <a:solidFill>
                  <a:srgbClr val="0B2545"/>
                </a:solidFill>
                <a:latin typeface="Consolas"/>
              </a:rPr>
              <a:t>out = model.generate(ids.cuda(), max_new_tokens=20)</a:t>
            </a:r>
            <a:r>
              <a:rPr sz="1800" b="0">
                <a:solidFill>
                  <a:srgbClr val="5A6B80"/>
                </a:solidFill>
                <a:latin typeface="Consolas"/>
              </a:rPr>
              <a:t>  # streams per layer</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600">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512000" y="1872000"/>
            <a:ext cx="3744000" cy="3744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11124000" y="5796000"/>
            <a:ext cx="1800000" cy="180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6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6-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The Inference Loop</a:t>
            </a:r>
          </a:p>
        </p:txBody>
      </p:sp>
      <p:sp>
        <p:nvSpPr>
          <p:cNvPr id="11" name="#s6-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Per generated token, repeated across all 80 layers</a:t>
            </a:r>
          </a:p>
        </p:txBody>
      </p:sp>
      <p:sp>
        <p:nvSpPr>
          <p:cNvPr id="12" name="#s6-ring"/>
          <p:cNvSpPr/>
          <p:nvPr/>
        </p:nvSpPr>
        <p:spPr>
          <a:xfrm>
            <a:off x="1512000" y="1872000"/>
            <a:ext cx="3744000" cy="3744000"/>
          </a:xfrm>
          <a:prstGeom prst="ellipse">
            <a:avLst/>
          </a:prstGeom>
          <a:noFill/>
          <a:ln w="3175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3" name="!!actor-layer_1"/>
          <p:cNvSpPr/>
          <p:nvPr/>
        </p:nvSpPr>
        <p:spPr>
          <a:xfrm>
            <a:off x="2916000" y="1710000"/>
            <a:ext cx="936000"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L1</a:t>
            </a:r>
          </a:p>
        </p:txBody>
      </p:sp>
      <p:sp>
        <p:nvSpPr>
          <p:cNvPr id="14" name="!!actor-layer_2"/>
          <p:cNvSpPr/>
          <p:nvPr/>
        </p:nvSpPr>
        <p:spPr>
          <a:xfrm>
            <a:off x="4239703" y="2258296"/>
            <a:ext cx="936000" cy="324000"/>
          </a:xfrm>
          <a:prstGeom prst="roundRect">
            <a:avLst>
              <a:gd name="adj" fmla="val 13333"/>
            </a:avLst>
          </a:prstGeom>
          <a:solidFill>
            <a:srgbClr val="FFF6E5"/>
          </a:solidFill>
          <a:ln w="1587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A86400"/>
                </a:solidFill>
                <a:latin typeface="Calibri"/>
              </a:rPr>
              <a:t>L2</a:t>
            </a:r>
          </a:p>
        </p:txBody>
      </p:sp>
      <p:sp>
        <p:nvSpPr>
          <p:cNvPr id="15" name="!!actor-layer_3"/>
          <p:cNvSpPr/>
          <p:nvPr/>
        </p:nvSpPr>
        <p:spPr>
          <a:xfrm>
            <a:off x="4788000" y="3582000"/>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L3</a:t>
            </a:r>
          </a:p>
        </p:txBody>
      </p:sp>
      <p:sp>
        <p:nvSpPr>
          <p:cNvPr id="16" name="!!actor-layer_4"/>
          <p:cNvSpPr/>
          <p:nvPr/>
        </p:nvSpPr>
        <p:spPr>
          <a:xfrm>
            <a:off x="4239703" y="4905703"/>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L4</a:t>
            </a:r>
          </a:p>
        </p:txBody>
      </p:sp>
      <p:sp>
        <p:nvSpPr>
          <p:cNvPr id="17" name="!!actor-layer_5"/>
          <p:cNvSpPr/>
          <p:nvPr/>
        </p:nvSpPr>
        <p:spPr>
          <a:xfrm>
            <a:off x="2916000" y="5454000"/>
            <a:ext cx="936000" cy="324000"/>
          </a:xfrm>
          <a:prstGeom prst="roundRect">
            <a:avLst>
              <a:gd name="adj" fmla="val 13333"/>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a:t>
            </a:r>
          </a:p>
        </p:txBody>
      </p:sp>
      <p:sp>
        <p:nvSpPr>
          <p:cNvPr id="18" name="!!actor-layer_6"/>
          <p:cNvSpPr/>
          <p:nvPr/>
        </p:nvSpPr>
        <p:spPr>
          <a:xfrm>
            <a:off x="1592296" y="4905703"/>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L78</a:t>
            </a:r>
          </a:p>
        </p:txBody>
      </p:sp>
      <p:sp>
        <p:nvSpPr>
          <p:cNvPr id="19" name="!!actor-layer_7"/>
          <p:cNvSpPr/>
          <p:nvPr/>
        </p:nvSpPr>
        <p:spPr>
          <a:xfrm>
            <a:off x="1044000" y="3582000"/>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L79</a:t>
            </a:r>
          </a:p>
        </p:txBody>
      </p:sp>
      <p:sp>
        <p:nvSpPr>
          <p:cNvPr id="20" name="!!actor-layer_8"/>
          <p:cNvSpPr/>
          <p:nvPr/>
        </p:nvSpPr>
        <p:spPr>
          <a:xfrm>
            <a:off x="1592296" y="2258296"/>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1F63C6"/>
                </a:solidFill>
                <a:latin typeface="Calibri"/>
              </a:rPr>
              <a:t>L80</a:t>
            </a:r>
          </a:p>
        </p:txBody>
      </p:sp>
      <p:sp>
        <p:nvSpPr>
          <p:cNvPr id="21" name="#s6-center"/>
          <p:cNvSpPr txBox="1"/>
          <p:nvPr/>
        </p:nvSpPr>
        <p:spPr>
          <a:xfrm>
            <a:off x="2304000" y="3204000"/>
            <a:ext cx="2160000" cy="1080000"/>
          </a:xfrm>
          <a:prstGeom prst="rect">
            <a:avLst/>
          </a:prstGeom>
          <a:noFill/>
          <a:ln>
            <a:noFill/>
          </a:ln>
        </p:spPr>
        <p:txBody>
          <a:bodyPr wrap="square" lIns="18000" tIns="18000" rIns="18000" bIns="18000" anchor="ctr">
            <a:noAutofit/>
          </a:bodyPr>
          <a:lstStyle/>
          <a:p>
            <a:pPr algn="ctr"/>
            <a:r>
              <a:rPr sz="4000" b="1">
                <a:solidFill>
                  <a:srgbClr val="1F63C6"/>
                </a:solidFill>
                <a:latin typeface="Calibri"/>
              </a:rPr>
              <a:t>×80</a:t>
            </a:r>
          </a:p>
          <a:p>
            <a:pPr algn="ctr"/>
            <a:r>
              <a:rPr sz="1600" b="0">
                <a:solidFill>
                  <a:srgbClr val="5A6B80"/>
                </a:solidFill>
                <a:latin typeface="Calibri"/>
              </a:rPr>
              <a:t>layers per token</a:t>
            </a:r>
          </a:p>
        </p:txBody>
      </p:sp>
      <p:sp>
        <p:nvSpPr>
          <p:cNvPr id="22" name="#s6-step_1"/>
          <p:cNvSpPr/>
          <p:nvPr/>
        </p:nvSpPr>
        <p:spPr>
          <a:xfrm>
            <a:off x="6480000" y="1404000"/>
            <a:ext cx="5172000" cy="1404000"/>
          </a:xfrm>
          <a:prstGeom prst="roundRect">
            <a:avLst>
              <a:gd name="adj" fmla="val 6410"/>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400"/>
              </a:spcAft>
            </a:pPr>
            <a:r>
              <a:rPr sz="2200" b="1">
                <a:solidFill>
                  <a:srgbClr val="1F63C6"/>
                </a:solidFill>
                <a:latin typeface="Calibri"/>
              </a:rPr>
              <a:t>01  Compute</a:t>
            </a:r>
          </a:p>
          <a:p>
            <a:pPr algn="l"/>
            <a:r>
              <a:rPr sz="1800" b="0">
                <a:solidFill>
                  <a:srgbClr val="1E2B3A"/>
                </a:solidFill>
                <a:latin typeface="Calibri"/>
              </a:rPr>
              <a:t>Run layer N's attention and MLP on the GPU.</a:t>
            </a:r>
          </a:p>
        </p:txBody>
      </p:sp>
      <p:sp>
        <p:nvSpPr>
          <p:cNvPr id="23" name="#s6-step_2"/>
          <p:cNvSpPr/>
          <p:nvPr/>
        </p:nvSpPr>
        <p:spPr>
          <a:xfrm>
            <a:off x="6480000" y="2898000"/>
            <a:ext cx="5172000" cy="1404000"/>
          </a:xfrm>
          <a:prstGeom prst="roundRect">
            <a:avLst>
              <a:gd name="adj" fmla="val 6410"/>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400"/>
              </a:spcAft>
            </a:pPr>
            <a:r>
              <a:rPr sz="2200" b="1">
                <a:solidFill>
                  <a:srgbClr val="1F63C6"/>
                </a:solidFill>
                <a:latin typeface="Calibri"/>
              </a:rPr>
              <a:t>02  Evict</a:t>
            </a:r>
          </a:p>
          <a:p>
            <a:pPr algn="l"/>
            <a:r>
              <a:rPr sz="1800" b="0">
                <a:solidFill>
                  <a:srgbClr val="1E2B3A"/>
                </a:solidFill>
                <a:latin typeface="Calibri"/>
              </a:rPr>
              <a:t>Free layer N's weights so GPU memory stays flat.</a:t>
            </a:r>
          </a:p>
        </p:txBody>
      </p:sp>
      <p:sp>
        <p:nvSpPr>
          <p:cNvPr id="24" name="#s6-step_3"/>
          <p:cNvSpPr/>
          <p:nvPr/>
        </p:nvSpPr>
        <p:spPr>
          <a:xfrm>
            <a:off x="6480000" y="4392000"/>
            <a:ext cx="5172000" cy="1404000"/>
          </a:xfrm>
          <a:prstGeom prst="roundRect">
            <a:avLst>
              <a:gd name="adj" fmla="val 6410"/>
            </a:avLst>
          </a:prstGeom>
          <a:solidFill>
            <a:srgbClr val="FFFFFF"/>
          </a:solidFill>
          <a:ln w="12700">
            <a:solidFill>
              <a:srgbClr val="A86400"/>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400"/>
              </a:spcAft>
            </a:pPr>
            <a:r>
              <a:rPr sz="2200" b="1">
                <a:solidFill>
                  <a:srgbClr val="A86400"/>
                </a:solidFill>
                <a:latin typeface="Calibri"/>
              </a:rPr>
              <a:t>03  Prefetch</a:t>
            </a:r>
          </a:p>
          <a:p>
            <a:pPr algn="l"/>
            <a:r>
              <a:rPr sz="1800" b="0">
                <a:solidFill>
                  <a:srgbClr val="1E2B3A"/>
                </a:solidFill>
                <a:latin typeface="Calibri"/>
              </a:rPr>
              <a:t>Read layer N+1 from disk while N computes (≈10% faster, v2.5).</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600">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864000" y="5688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11556000" y="827999"/>
            <a:ext cx="1080000" cy="10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7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7-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Scaling Up: MoE &amp; Compression</a:t>
            </a:r>
          </a:p>
        </p:txBody>
      </p:sp>
      <p:sp>
        <p:nvSpPr>
          <p:cNvPr id="11" name="#s7-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Fewer bytes per token → bigger models (figures: AirLLM README)</a:t>
            </a:r>
          </a:p>
        </p:txBody>
      </p:sp>
      <p:sp>
        <p:nvSpPr>
          <p:cNvPr id="12" name="#s7-metric_1"/>
          <p:cNvSpPr/>
          <p:nvPr/>
        </p:nvSpPr>
        <p:spPr>
          <a:xfrm>
            <a:off x="540000" y="1404000"/>
            <a:ext cx="3560000" cy="1188000"/>
          </a:xfrm>
          <a:prstGeom prst="roundRect">
            <a:avLst>
              <a:gd name="adj" fmla="val 7575"/>
            </a:avLst>
          </a:prstGeom>
          <a:solidFill>
            <a:srgbClr val="EAF1FB"/>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ctr">
            <a:noAutofit/>
          </a:bodyPr>
          <a:lstStyle/>
          <a:p>
            <a:pPr algn="ctr"/>
            <a:r>
              <a:rPr sz="3600" b="1">
                <a:solidFill>
                  <a:srgbClr val="1F63C6"/>
                </a:solidFill>
                <a:latin typeface="Calibri"/>
              </a:rPr>
              <a:t>2.8T</a:t>
            </a:r>
          </a:p>
          <a:p>
            <a:pPr algn="ctr"/>
            <a:r>
              <a:rPr sz="1800" b="0">
                <a:solidFill>
                  <a:srgbClr val="1E2B3A"/>
                </a:solidFill>
                <a:latin typeface="Calibri"/>
              </a:rPr>
              <a:t>Kimi K3 · ≈3.72 GB</a:t>
            </a:r>
          </a:p>
        </p:txBody>
      </p:sp>
      <p:sp>
        <p:nvSpPr>
          <p:cNvPr id="13" name="#s7-metric_2"/>
          <p:cNvSpPr/>
          <p:nvPr/>
        </p:nvSpPr>
        <p:spPr>
          <a:xfrm>
            <a:off x="4316000" y="1404000"/>
            <a:ext cx="3560000" cy="1188000"/>
          </a:xfrm>
          <a:prstGeom prst="roundRect">
            <a:avLst>
              <a:gd name="adj" fmla="val 7575"/>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ctr">
            <a:noAutofit/>
          </a:bodyPr>
          <a:lstStyle/>
          <a:p>
            <a:pPr algn="ctr"/>
            <a:r>
              <a:rPr sz="3600" b="1">
                <a:solidFill>
                  <a:srgbClr val="1F63C6"/>
                </a:solidFill>
                <a:latin typeface="Calibri"/>
              </a:rPr>
              <a:t>671B</a:t>
            </a:r>
          </a:p>
          <a:p>
            <a:pPr algn="ctr"/>
            <a:r>
              <a:rPr sz="1800" b="0">
                <a:solidFill>
                  <a:srgbClr val="1E2B3A"/>
                </a:solidFill>
                <a:latin typeface="Calibri"/>
              </a:rPr>
              <a:t>DeepSeek-V3 · ≈12 GB</a:t>
            </a:r>
          </a:p>
        </p:txBody>
      </p:sp>
      <p:sp>
        <p:nvSpPr>
          <p:cNvPr id="14" name="#s7-metric_3"/>
          <p:cNvSpPr/>
          <p:nvPr/>
        </p:nvSpPr>
        <p:spPr>
          <a:xfrm>
            <a:off x="8092000" y="1404000"/>
            <a:ext cx="3560000" cy="1188000"/>
          </a:xfrm>
          <a:prstGeom prst="roundRect">
            <a:avLst>
              <a:gd name="adj" fmla="val 7575"/>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ctr">
            <a:noAutofit/>
          </a:bodyPr>
          <a:lstStyle/>
          <a:p>
            <a:pPr algn="ctr"/>
            <a:r>
              <a:rPr sz="3600" b="1">
                <a:solidFill>
                  <a:srgbClr val="1F63C6"/>
                </a:solidFill>
                <a:latin typeface="Calibri"/>
              </a:rPr>
              <a:t>70B</a:t>
            </a:r>
          </a:p>
          <a:p>
            <a:pPr algn="ctr"/>
            <a:r>
              <a:rPr sz="1800" b="0">
                <a:solidFill>
                  <a:srgbClr val="1E2B3A"/>
                </a:solidFill>
                <a:latin typeface="Calibri"/>
              </a:rPr>
              <a:t>Llama-class · ≈4 GB</a:t>
            </a:r>
          </a:p>
        </p:txBody>
      </p:sp>
      <p:sp>
        <p:nvSpPr>
          <p:cNvPr id="15" name="#s7-moe"/>
          <p:cNvSpPr/>
          <p:nvPr/>
        </p:nvSpPr>
        <p:spPr>
          <a:xfrm>
            <a:off x="540000" y="2790000"/>
            <a:ext cx="5448000" cy="3294000"/>
          </a:xfrm>
          <a:prstGeom prst="roundRect">
            <a:avLst>
              <a:gd name="adj" fmla="val 27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l">
              <a:spcAft>
                <a:spcPts val="400"/>
              </a:spcAft>
            </a:pPr>
            <a:r>
              <a:rPr sz="2000" b="1">
                <a:solidFill>
                  <a:srgbClr val="0B2545"/>
                </a:solidFill>
                <a:latin typeface="Calibri"/>
              </a:rPr>
              <a:t>MoE expert streaming</a:t>
            </a:r>
          </a:p>
          <a:p>
            <a:pPr algn="l"/>
            <a:r>
              <a:rPr sz="1800" b="0">
                <a:solidFill>
                  <a:srgbClr val="1E2B3A"/>
                </a:solidFill>
                <a:latin typeface="Calibri"/>
              </a:rPr>
              <a:t>Kimi K3 routes each token to 16 of its 896 experts; AirLLM streams only those.</a:t>
            </a:r>
          </a:p>
        </p:txBody>
      </p:sp>
      <p:sp>
        <p:nvSpPr>
          <p:cNvPr id="16" name="!!actor-layer_1"/>
          <p:cNvSpPr/>
          <p:nvPr/>
        </p:nvSpPr>
        <p:spPr>
          <a:xfrm>
            <a:off x="737999"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E1</a:t>
            </a:r>
          </a:p>
        </p:txBody>
      </p:sp>
      <p:sp>
        <p:nvSpPr>
          <p:cNvPr id="17" name="!!actor-layer_2"/>
          <p:cNvSpPr/>
          <p:nvPr/>
        </p:nvSpPr>
        <p:spPr>
          <a:xfrm>
            <a:off x="2032500" y="4284000"/>
            <a:ext cx="1168500" cy="432000"/>
          </a:xfrm>
          <a:prstGeom prst="roundRect">
            <a:avLst>
              <a:gd name="adj" fmla="val 1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E2</a:t>
            </a:r>
          </a:p>
        </p:txBody>
      </p:sp>
      <p:sp>
        <p:nvSpPr>
          <p:cNvPr id="18" name="!!actor-layer_3"/>
          <p:cNvSpPr/>
          <p:nvPr/>
        </p:nvSpPr>
        <p:spPr>
          <a:xfrm>
            <a:off x="3327000"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E3</a:t>
            </a:r>
          </a:p>
        </p:txBody>
      </p:sp>
      <p:sp>
        <p:nvSpPr>
          <p:cNvPr id="19" name="!!actor-layer_4"/>
          <p:cNvSpPr/>
          <p:nvPr/>
        </p:nvSpPr>
        <p:spPr>
          <a:xfrm>
            <a:off x="4621500"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E4</a:t>
            </a:r>
          </a:p>
        </p:txBody>
      </p:sp>
      <p:sp>
        <p:nvSpPr>
          <p:cNvPr id="20" name="!!actor-layer_5"/>
          <p:cNvSpPr/>
          <p:nvPr/>
        </p:nvSpPr>
        <p:spPr>
          <a:xfrm>
            <a:off x="737999"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E5</a:t>
            </a:r>
          </a:p>
        </p:txBody>
      </p:sp>
      <p:sp>
        <p:nvSpPr>
          <p:cNvPr id="21" name="!!actor-layer_6"/>
          <p:cNvSpPr/>
          <p:nvPr/>
        </p:nvSpPr>
        <p:spPr>
          <a:xfrm>
            <a:off x="2032500"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E6</a:t>
            </a:r>
          </a:p>
        </p:txBody>
      </p:sp>
      <p:sp>
        <p:nvSpPr>
          <p:cNvPr id="22" name="!!actor-layer_7"/>
          <p:cNvSpPr/>
          <p:nvPr/>
        </p:nvSpPr>
        <p:spPr>
          <a:xfrm>
            <a:off x="3327000" y="4842000"/>
            <a:ext cx="1168500" cy="432000"/>
          </a:xfrm>
          <a:prstGeom prst="roundRect">
            <a:avLst>
              <a:gd name="adj" fmla="val 1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FFFFFF"/>
                </a:solidFill>
                <a:latin typeface="Calibri"/>
              </a:rPr>
              <a:t>E7</a:t>
            </a:r>
          </a:p>
        </p:txBody>
      </p:sp>
      <p:sp>
        <p:nvSpPr>
          <p:cNvPr id="23" name="!!actor-layer_8"/>
          <p:cNvSpPr/>
          <p:nvPr/>
        </p:nvSpPr>
        <p:spPr>
          <a:xfrm>
            <a:off x="4621500"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r>
              <a:rPr sz="1600" b="1">
                <a:solidFill>
                  <a:srgbClr val="5A6B80"/>
                </a:solidFill>
                <a:latin typeface="Calibri"/>
              </a:rPr>
              <a:t>E8</a:t>
            </a:r>
          </a:p>
        </p:txBody>
      </p:sp>
      <p:sp>
        <p:nvSpPr>
          <p:cNvPr id="24" name="#s7-legend"/>
          <p:cNvSpPr txBox="1"/>
          <p:nvPr/>
        </p:nvSpPr>
        <p:spPr>
          <a:xfrm>
            <a:off x="737999" y="5472000"/>
            <a:ext cx="5052000" cy="288000"/>
          </a:xfrm>
          <a:prstGeom prst="rect">
            <a:avLst/>
          </a:prstGeom>
          <a:noFill/>
          <a:ln>
            <a:noFill/>
          </a:ln>
        </p:spPr>
        <p:txBody>
          <a:bodyPr wrap="square" lIns="18000" tIns="18000" rIns="18000" bIns="18000" anchor="ctr">
            <a:noAutofit/>
          </a:bodyPr>
          <a:lstStyle/>
          <a:p>
            <a:pPr algn="l"/>
            <a:r>
              <a:rPr sz="1600" b="0">
                <a:solidFill>
                  <a:srgbClr val="1F63C6"/>
                </a:solidFill>
                <a:latin typeface="Calibri"/>
              </a:rPr>
              <a:t>■ </a:t>
            </a:r>
            <a:r>
              <a:rPr sz="1600" b="0">
                <a:solidFill>
                  <a:srgbClr val="5A6B80"/>
                </a:solidFill>
                <a:latin typeface="Calibri"/>
              </a:rPr>
              <a:t>Routed: streamed from disk      </a:t>
            </a:r>
            <a:r>
              <a:rPr sz="1600" b="0">
                <a:solidFill>
                  <a:srgbClr val="C9D3E0"/>
                </a:solidFill>
                <a:latin typeface="Calibri"/>
              </a:rPr>
              <a:t>■ </a:t>
            </a:r>
            <a:r>
              <a:rPr sz="1600" b="0">
                <a:solidFill>
                  <a:srgbClr val="5A6B80"/>
                </a:solidFill>
                <a:latin typeface="Calibri"/>
              </a:rPr>
              <a:t>Idle: stays on disk</a:t>
            </a:r>
          </a:p>
        </p:txBody>
      </p:sp>
      <p:sp>
        <p:nvSpPr>
          <p:cNvPr id="25" name="#s7-comp"/>
          <p:cNvSpPr/>
          <p:nvPr/>
        </p:nvSpPr>
        <p:spPr>
          <a:xfrm>
            <a:off x="6204000" y="2790000"/>
            <a:ext cx="5448000" cy="3294000"/>
          </a:xfrm>
          <a:prstGeom prst="roundRect">
            <a:avLst>
              <a:gd name="adj" fmla="val 27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l">
              <a:spcAft>
                <a:spcPts val="400"/>
              </a:spcAft>
            </a:pPr>
            <a:r>
              <a:rPr sz="2000" b="1">
                <a:solidFill>
                  <a:srgbClr val="0B2545"/>
                </a:solidFill>
                <a:latin typeface="Calibri"/>
              </a:rPr>
              <a:t>Block-wise compression (optional)</a:t>
            </a:r>
          </a:p>
          <a:p>
            <a:pPr algn="l">
              <a:spcAft>
                <a:spcPts val="400"/>
              </a:spcAft>
            </a:pPr>
            <a:r>
              <a:rPr sz="1800" b="0">
                <a:solidFill>
                  <a:srgbClr val="1F63C6"/>
                </a:solidFill>
                <a:latin typeface="Consolas"/>
              </a:rPr>
              <a:t>compression='4bit' | '8bit'</a:t>
            </a:r>
          </a:p>
          <a:p>
            <a:pPr algn="l">
              <a:spcAft>
                <a:spcPts val="400"/>
              </a:spcAft>
            </a:pPr>
            <a:r>
              <a:rPr sz="1800" b="0">
                <a:solidFill>
                  <a:srgbClr val="1E2B3A"/>
                </a:solidFill>
                <a:latin typeface="Calibri"/>
              </a:rPr>
              <a:t>Quantizes the weights only; activations stay 16-bit.</a:t>
            </a:r>
          </a:p>
          <a:p>
            <a:pPr algn="l"/>
            <a:r>
              <a:rPr sz="1800" b="0">
                <a:solidFill>
                  <a:srgbClr val="5A6B80"/>
                </a:solidFill>
                <a:latin typeface="Calibri"/>
              </a:rPr>
              <a:t>README claims up to 3× faster; issue #330 reports slowdowns.</a:t>
            </a:r>
          </a:p>
        </p:txBody>
      </p:sp>
      <p:sp>
        <p:nvSpPr>
          <p:cNvPr id="26" name="#s7-shard16"/>
          <p:cNvSpPr/>
          <p:nvPr/>
        </p:nvSpPr>
        <p:spPr>
          <a:xfrm>
            <a:off x="6420000" y="4878000"/>
            <a:ext cx="5016000" cy="360000"/>
          </a:xfrm>
          <a:prstGeom prst="roundRect">
            <a:avLst>
              <a:gd name="adj" fmla="val 12000"/>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wrap="square" lIns="144000" tIns="54000" rIns="144000" bIns="54000" rtlCol="0" anchor="ctr">
            <a:noAutofit/>
          </a:bodyPr>
          <a:lstStyle/>
          <a:p>
            <a:pPr algn="l"/>
            <a:r>
              <a:rPr sz="1600" b="1">
                <a:solidFill>
                  <a:srgbClr val="1F63C6"/>
                </a:solidFill>
                <a:latin typeface="Calibri"/>
              </a:rPr>
              <a:t>16-bit layer shard</a:t>
            </a:r>
          </a:p>
        </p:txBody>
      </p:sp>
      <p:sp>
        <p:nvSpPr>
          <p:cNvPr id="27" name="#s7-shard4"/>
          <p:cNvSpPr/>
          <p:nvPr/>
        </p:nvSpPr>
        <p:spPr>
          <a:xfrm>
            <a:off x="6420000" y="5328000"/>
            <a:ext cx="1254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1600" b="1">
                <a:solidFill>
                  <a:srgbClr val="FFFFFF"/>
                </a:solidFill>
                <a:latin typeface="Calibri"/>
              </a:rPr>
              <a:t>4-bit</a:t>
            </a:r>
          </a:p>
        </p:txBody>
      </p:sp>
      <p:sp>
        <p:nvSpPr>
          <p:cNvPr id="28" name="#s7-shard4_label"/>
          <p:cNvSpPr txBox="1"/>
          <p:nvPr/>
        </p:nvSpPr>
        <p:spPr>
          <a:xfrm>
            <a:off x="7800000" y="5328000"/>
            <a:ext cx="3636000" cy="360000"/>
          </a:xfrm>
          <a:prstGeom prst="rect">
            <a:avLst/>
          </a:prstGeom>
          <a:noFill/>
          <a:ln>
            <a:noFill/>
          </a:ln>
        </p:spPr>
        <p:txBody>
          <a:bodyPr wrap="square" lIns="18000" tIns="18000" rIns="18000" bIns="18000" anchor="ctr">
            <a:noAutofit/>
          </a:bodyPr>
          <a:lstStyle/>
          <a:p>
            <a:pPr algn="l"/>
            <a:r>
              <a:rPr sz="1800" b="0">
                <a:solidFill>
                  <a:srgbClr val="1E2B3A"/>
                </a:solidFill>
                <a:latin typeface="Calibri"/>
              </a:rPr>
              <a:t>≈ ¼ of the bytes per layer</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500">
        <p159:morph option="byObjec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0926000" y="4950000"/>
            <a:ext cx="2340000" cy="23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7092000" y="-144000"/>
            <a:ext cx="936000" cy="93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8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8-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Accessibility vs. Latency</a:t>
            </a:r>
          </a:p>
        </p:txBody>
      </p:sp>
      <p:sp>
        <p:nvSpPr>
          <p:cNvPr id="11" name="#s8-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Seconds per generated token for a 70B model (indicative)</a:t>
            </a:r>
          </a:p>
        </p:txBody>
      </p:sp>
      <p:sp>
        <p:nvSpPr>
          <p:cNvPr id="12" name="#s8-row_1"/>
          <p:cNvSpPr/>
          <p:nvPr/>
        </p:nvSpPr>
        <p:spPr>
          <a:xfrm>
            <a:off x="540000" y="1404000"/>
            <a:ext cx="11112000" cy="882000"/>
          </a:xfrm>
          <a:prstGeom prst="roundRect">
            <a:avLst>
              <a:gd name="adj" fmla="val 10204"/>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ctr"/>
            <a:endParaRPr/>
          </a:p>
        </p:txBody>
      </p:sp>
      <p:sp>
        <p:nvSpPr>
          <p:cNvPr id="13" name="#s8-method_1"/>
          <p:cNvSpPr txBox="1"/>
          <p:nvPr/>
        </p:nvSpPr>
        <p:spPr>
          <a:xfrm>
            <a:off x="756000" y="1404000"/>
            <a:ext cx="3600000" cy="882000"/>
          </a:xfrm>
          <a:prstGeom prst="rect">
            <a:avLst/>
          </a:prstGeom>
          <a:noFill/>
          <a:ln>
            <a:noFill/>
          </a:ln>
        </p:spPr>
        <p:txBody>
          <a:bodyPr wrap="square" lIns="18000" tIns="18000" rIns="18000" bIns="18000" anchor="ctr">
            <a:noAutofit/>
          </a:bodyPr>
          <a:lstStyle/>
          <a:p>
            <a:pPr algn="l">
              <a:spcAft>
                <a:spcPts val="200"/>
              </a:spcAft>
            </a:pPr>
            <a:r>
              <a:rPr sz="2200" b="1">
                <a:solidFill>
                  <a:srgbClr val="0B2545"/>
                </a:solidFill>
                <a:latin typeface="Calibri"/>
              </a:rPr>
              <a:t>AirLLM · 16-bit</a:t>
            </a:r>
          </a:p>
          <a:p>
            <a:pPr algn="l"/>
            <a:r>
              <a:rPr sz="1600" b="1">
                <a:solidFill>
                  <a:srgbClr val="0F7B6C"/>
                </a:solidFill>
                <a:latin typeface="Calibri"/>
              </a:rPr>
              <a:t>No VRAM/RAM barrier</a:t>
            </a:r>
          </a:p>
        </p:txBody>
      </p:sp>
      <p:sp>
        <p:nvSpPr>
          <p:cNvPr id="14" name="!!actor-layer_1"/>
          <p:cNvSpPr/>
          <p:nvPr/>
        </p:nvSpPr>
        <p:spPr>
          <a:xfrm>
            <a:off x="4500000" y="1683000"/>
            <a:ext cx="4031999"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5" name="#s8-value_1"/>
          <p:cNvSpPr txBox="1"/>
          <p:nvPr/>
        </p:nvSpPr>
        <p:spPr>
          <a:xfrm>
            <a:off x="8658000" y="1404000"/>
            <a:ext cx="2520000" cy="882000"/>
          </a:xfrm>
          <a:prstGeom prst="rect">
            <a:avLst/>
          </a:prstGeom>
          <a:noFill/>
          <a:ln>
            <a:noFill/>
          </a:ln>
        </p:spPr>
        <p:txBody>
          <a:bodyPr wrap="square" lIns="18000" tIns="18000" rIns="18000" bIns="18000" anchor="ctr">
            <a:noAutofit/>
          </a:bodyPr>
          <a:lstStyle/>
          <a:p>
            <a:pPr algn="l"/>
            <a:r>
              <a:rPr sz="2400" b="1">
                <a:solidFill>
                  <a:srgbClr val="0B2545"/>
                </a:solidFill>
                <a:latin typeface="Calibri"/>
              </a:rPr>
              <a:t>~121 s/token</a:t>
            </a:r>
          </a:p>
        </p:txBody>
      </p:sp>
      <p:sp>
        <p:nvSpPr>
          <p:cNvPr id="16" name="#s8-row_2"/>
          <p:cNvSpPr/>
          <p:nvPr/>
        </p:nvSpPr>
        <p:spPr>
          <a:xfrm>
            <a:off x="540000" y="2394000"/>
            <a:ext cx="11112000" cy="882000"/>
          </a:xfrm>
          <a:prstGeom prst="roundRect">
            <a:avLst>
              <a:gd name="adj" fmla="val 10204"/>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ctr"/>
            <a:endParaRPr/>
          </a:p>
        </p:txBody>
      </p:sp>
      <p:sp>
        <p:nvSpPr>
          <p:cNvPr id="17" name="#s8-method_2"/>
          <p:cNvSpPr txBox="1"/>
          <p:nvPr/>
        </p:nvSpPr>
        <p:spPr>
          <a:xfrm>
            <a:off x="756000" y="2394000"/>
            <a:ext cx="3600000" cy="882000"/>
          </a:xfrm>
          <a:prstGeom prst="rect">
            <a:avLst/>
          </a:prstGeom>
          <a:noFill/>
          <a:ln>
            <a:noFill/>
          </a:ln>
        </p:spPr>
        <p:txBody>
          <a:bodyPr wrap="square" lIns="18000" tIns="18000" rIns="18000" bIns="18000" anchor="ctr">
            <a:noAutofit/>
          </a:bodyPr>
          <a:lstStyle/>
          <a:p>
            <a:pPr algn="l">
              <a:spcAft>
                <a:spcPts val="200"/>
              </a:spcAft>
            </a:pPr>
            <a:r>
              <a:rPr sz="2200" b="1">
                <a:solidFill>
                  <a:srgbClr val="0B2545"/>
                </a:solidFill>
                <a:latin typeface="Calibri"/>
              </a:rPr>
              <a:t>AirLLM · 4-bit</a:t>
            </a:r>
          </a:p>
          <a:p>
            <a:pPr algn="l"/>
            <a:r>
              <a:rPr sz="1600" b="1">
                <a:solidFill>
                  <a:srgbClr val="5A6B80"/>
                </a:solidFill>
                <a:latin typeface="Calibri"/>
              </a:rPr>
              <a:t>Warm cache · same 4 GB GPU</a:t>
            </a:r>
          </a:p>
        </p:txBody>
      </p:sp>
      <p:sp>
        <p:nvSpPr>
          <p:cNvPr id="18" name="!!actor-layer_2"/>
          <p:cNvSpPr/>
          <p:nvPr/>
        </p:nvSpPr>
        <p:spPr>
          <a:xfrm>
            <a:off x="4500000" y="2673000"/>
            <a:ext cx="833057"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9" name="#s8-value_2"/>
          <p:cNvSpPr txBox="1"/>
          <p:nvPr/>
        </p:nvSpPr>
        <p:spPr>
          <a:xfrm>
            <a:off x="5459057" y="2394000"/>
            <a:ext cx="2520000" cy="882000"/>
          </a:xfrm>
          <a:prstGeom prst="rect">
            <a:avLst/>
          </a:prstGeom>
          <a:noFill/>
          <a:ln>
            <a:noFill/>
          </a:ln>
        </p:spPr>
        <p:txBody>
          <a:bodyPr wrap="square" lIns="18000" tIns="18000" rIns="18000" bIns="18000" anchor="ctr">
            <a:noAutofit/>
          </a:bodyPr>
          <a:lstStyle/>
          <a:p>
            <a:pPr algn="l"/>
            <a:r>
              <a:rPr sz="2400" b="1">
                <a:solidFill>
                  <a:srgbClr val="0B2545"/>
                </a:solidFill>
                <a:latin typeface="Calibri"/>
              </a:rPr>
              <a:t>~25 s/token</a:t>
            </a:r>
          </a:p>
        </p:txBody>
      </p:sp>
      <p:sp>
        <p:nvSpPr>
          <p:cNvPr id="20" name="#s8-row_3"/>
          <p:cNvSpPr/>
          <p:nvPr/>
        </p:nvSpPr>
        <p:spPr>
          <a:xfrm>
            <a:off x="540000" y="3384000"/>
            <a:ext cx="11112000" cy="882000"/>
          </a:xfrm>
          <a:prstGeom prst="roundRect">
            <a:avLst>
              <a:gd name="adj" fmla="val 10204"/>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198000" tIns="162000" rIns="198000" bIns="162000" rtlCol="0" anchor="t">
            <a:noAutofit/>
          </a:bodyPr>
          <a:lstStyle/>
          <a:p>
            <a:pPr algn="ctr"/>
            <a:endParaRPr/>
          </a:p>
        </p:txBody>
      </p:sp>
      <p:sp>
        <p:nvSpPr>
          <p:cNvPr id="21" name="#s8-method_3"/>
          <p:cNvSpPr txBox="1"/>
          <p:nvPr/>
        </p:nvSpPr>
        <p:spPr>
          <a:xfrm>
            <a:off x="756000" y="3384000"/>
            <a:ext cx="3600000" cy="882000"/>
          </a:xfrm>
          <a:prstGeom prst="rect">
            <a:avLst/>
          </a:prstGeom>
          <a:noFill/>
          <a:ln>
            <a:noFill/>
          </a:ln>
        </p:spPr>
        <p:txBody>
          <a:bodyPr wrap="square" lIns="18000" tIns="18000" rIns="18000" bIns="18000" anchor="ctr">
            <a:noAutofit/>
          </a:bodyPr>
          <a:lstStyle/>
          <a:p>
            <a:pPr algn="l">
              <a:spcAft>
                <a:spcPts val="200"/>
              </a:spcAft>
            </a:pPr>
            <a:r>
              <a:rPr sz="2200" b="1">
                <a:solidFill>
                  <a:srgbClr val="0B2545"/>
                </a:solidFill>
                <a:latin typeface="Calibri"/>
              </a:rPr>
              <a:t>llama.cpp · quantized</a:t>
            </a:r>
          </a:p>
          <a:p>
            <a:pPr algn="l"/>
            <a:r>
              <a:rPr sz="1600" b="1">
                <a:solidFill>
                  <a:srgbClr val="C62828"/>
                </a:solidFill>
                <a:latin typeface="Calibri"/>
              </a:rPr>
              <a:t>Requires 44 GB RAM</a:t>
            </a:r>
          </a:p>
        </p:txBody>
      </p:sp>
      <p:sp>
        <p:nvSpPr>
          <p:cNvPr id="22" name="!!actor-layer_3"/>
          <p:cNvSpPr/>
          <p:nvPr/>
        </p:nvSpPr>
        <p:spPr>
          <a:xfrm>
            <a:off x="4500000" y="3663000"/>
            <a:ext cx="113295" cy="324000"/>
          </a:xfrm>
          <a:prstGeom prst="roundRect">
            <a:avLst>
              <a:gd name="adj" fmla="val 3813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23" name="#s8-value_3"/>
          <p:cNvSpPr txBox="1"/>
          <p:nvPr/>
        </p:nvSpPr>
        <p:spPr>
          <a:xfrm>
            <a:off x="4739295" y="3384000"/>
            <a:ext cx="2520000" cy="882000"/>
          </a:xfrm>
          <a:prstGeom prst="rect">
            <a:avLst/>
          </a:prstGeom>
          <a:noFill/>
          <a:ln>
            <a:noFill/>
          </a:ln>
        </p:spPr>
        <p:txBody>
          <a:bodyPr wrap="square" lIns="18000" tIns="18000" rIns="18000" bIns="18000" anchor="ctr">
            <a:noAutofit/>
          </a:bodyPr>
          <a:lstStyle/>
          <a:p>
            <a:pPr algn="l"/>
            <a:r>
              <a:rPr sz="2400" b="1">
                <a:solidFill>
                  <a:srgbClr val="0B2545"/>
                </a:solidFill>
                <a:latin typeface="Calibri"/>
              </a:rPr>
              <a:t>~3.4 s/token</a:t>
            </a:r>
          </a:p>
        </p:txBody>
      </p:sp>
      <p:sp>
        <p:nvSpPr>
          <p:cNvPr id="24" name="#s8-use"/>
          <p:cNvSpPr/>
          <p:nvPr/>
        </p:nvSpPr>
        <p:spPr>
          <a:xfrm>
            <a:off x="540000" y="4482000"/>
            <a:ext cx="5448000" cy="1602000"/>
          </a:xfrm>
          <a:prstGeom prst="roundRect">
            <a:avLst>
              <a:gd name="adj" fmla="val 5617"/>
            </a:avLst>
          </a:prstGeom>
          <a:solidFill>
            <a:srgbClr val="FFFFFF"/>
          </a:solidFill>
          <a:ln w="19050">
            <a:solidFill>
              <a:srgbClr val="0F7B6C"/>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400"/>
              </a:spcAft>
            </a:pPr>
            <a:r>
              <a:rPr sz="2000" b="1">
                <a:solidFill>
                  <a:srgbClr val="0F7B6C"/>
                </a:solidFill>
                <a:latin typeface="Calibri"/>
              </a:rPr>
              <a:t>Use it for</a:t>
            </a:r>
          </a:p>
          <a:p>
            <a:pPr algn="l"/>
            <a:r>
              <a:rPr sz="1800" b="0">
                <a:solidFill>
                  <a:srgbClr val="1E2B3A"/>
                </a:solidFill>
                <a:latin typeface="Calibri"/>
              </a:rPr>
              <a:t>Offline or batch generation, research on very large models, prototyping on laptops.</a:t>
            </a:r>
          </a:p>
        </p:txBody>
      </p:sp>
      <p:sp>
        <p:nvSpPr>
          <p:cNvPr id="25" name="#s8-avoid"/>
          <p:cNvSpPr/>
          <p:nvPr/>
        </p:nvSpPr>
        <p:spPr>
          <a:xfrm>
            <a:off x="6204000" y="4482000"/>
            <a:ext cx="5448000" cy="1602000"/>
          </a:xfrm>
          <a:prstGeom prst="roundRect">
            <a:avLst>
              <a:gd name="adj" fmla="val 5617"/>
            </a:avLst>
          </a:prstGeom>
          <a:solidFill>
            <a:srgbClr val="FFFFFF"/>
          </a:solid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wrap="square" lIns="251999" tIns="162000" rIns="251999" bIns="162000" rtlCol="0" anchor="ctr">
            <a:noAutofit/>
          </a:bodyPr>
          <a:lstStyle/>
          <a:p>
            <a:pPr algn="l">
              <a:spcAft>
                <a:spcPts val="400"/>
              </a:spcAft>
            </a:pPr>
            <a:r>
              <a:rPr sz="2000" b="1">
                <a:solidFill>
                  <a:srgbClr val="C62828"/>
                </a:solidFill>
                <a:latin typeface="Calibri"/>
              </a:rPr>
              <a:t>Avoid for</a:t>
            </a:r>
          </a:p>
          <a:p>
            <a:pPr algn="l"/>
            <a:r>
              <a:rPr sz="1800" b="0">
                <a:solidFill>
                  <a:srgbClr val="1E2B3A"/>
                </a:solidFill>
                <a:latin typeface="Calibri"/>
              </a:rPr>
              <a:t>Interactive chat and latency-critical serving: every token streams all 80 layers again.</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500">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4643999" y="5616000"/>
            <a:ext cx="2880000" cy="28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11448000" y="2808000"/>
            <a:ext cx="1296000" cy="129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9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9-title"/>
          <p:cNvSpPr txBox="1"/>
          <p:nvPr/>
        </p:nvSpPr>
        <p:spPr>
          <a:xfrm>
            <a:off x="540000" y="288000"/>
            <a:ext cx="8640000" cy="558000"/>
          </a:xfrm>
          <a:prstGeom prst="rect">
            <a:avLst/>
          </a:prstGeom>
          <a:noFill/>
          <a:ln>
            <a:noFill/>
          </a:ln>
        </p:spPr>
        <p:txBody>
          <a:bodyPr wrap="square" lIns="0" tIns="18000" rIns="0" bIns="18000" anchor="ctr">
            <a:noAutofit/>
          </a:bodyPr>
          <a:lstStyle/>
          <a:p>
            <a:pPr algn="l"/>
            <a:r>
              <a:rPr sz="3600" b="1">
                <a:solidFill>
                  <a:srgbClr val="0B2545"/>
                </a:solidFill>
                <a:latin typeface="Calibri"/>
              </a:rPr>
              <a:t>Related Trends</a:t>
            </a:r>
          </a:p>
        </p:txBody>
      </p:sp>
      <p:sp>
        <p:nvSpPr>
          <p:cNvPr id="11" name="#s9-sub"/>
          <p:cNvSpPr txBox="1"/>
          <p:nvPr/>
        </p:nvSpPr>
        <p:spPr>
          <a:xfrm>
            <a:off x="540000" y="964800"/>
            <a:ext cx="8640000" cy="288000"/>
          </a:xfrm>
          <a:prstGeom prst="rect">
            <a:avLst/>
          </a:prstGeom>
          <a:noFill/>
          <a:ln>
            <a:noFill/>
          </a:ln>
        </p:spPr>
        <p:txBody>
          <a:bodyPr wrap="square" lIns="0" tIns="18000" rIns="0" bIns="18000" anchor="ctr">
            <a:noAutofit/>
          </a:bodyPr>
          <a:lstStyle/>
          <a:p>
            <a:pPr algn="l"/>
            <a:r>
              <a:rPr sz="1800" b="0">
                <a:solidFill>
                  <a:srgbClr val="5A6B80"/>
                </a:solidFill>
                <a:latin typeface="Calibri"/>
              </a:rPr>
              <a:t>Other routes to large models on small hardware</a:t>
            </a:r>
          </a:p>
        </p:txBody>
      </p:sp>
      <p:sp>
        <p:nvSpPr>
          <p:cNvPr id="12" name="#s9-card_1"/>
          <p:cNvSpPr/>
          <p:nvPr/>
        </p:nvSpPr>
        <p:spPr>
          <a:xfrm>
            <a:off x="540000" y="1404000"/>
            <a:ext cx="3560000" cy="2232000"/>
          </a:xfrm>
          <a:prstGeom prst="roundRect">
            <a:avLst>
              <a:gd name="adj" fmla="val 4032"/>
            </a:avLst>
          </a:prstGeom>
          <a:solidFill>
            <a:srgbClr val="EAF1FB"/>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AirLLM</a:t>
            </a:r>
          </a:p>
          <a:p>
            <a:pPr algn="l">
              <a:spcAft>
                <a:spcPts val="600"/>
              </a:spcAft>
            </a:pPr>
            <a:r>
              <a:rPr sz="1600" b="0">
                <a:solidFill>
                  <a:srgbClr val="1F63C6"/>
                </a:solidFill>
                <a:latin typeface="Calibri"/>
              </a:rPr>
              <a:t>Layer-wise streaming</a:t>
            </a:r>
          </a:p>
          <a:p>
            <a:pPr algn="l"/>
            <a:r>
              <a:rPr sz="1800" b="0">
                <a:solidFill>
                  <a:srgbClr val="1E2B3A"/>
                </a:solidFill>
                <a:latin typeface="Calibri"/>
              </a:rPr>
              <a:t>Streams one layer at a time from disk: minimal VRAM, high latency.</a:t>
            </a:r>
          </a:p>
        </p:txBody>
      </p:sp>
      <p:sp>
        <p:nvSpPr>
          <p:cNvPr id="13" name="!!actor-layer_1"/>
          <p:cNvSpPr/>
          <p:nvPr/>
        </p:nvSpPr>
        <p:spPr>
          <a:xfrm>
            <a:off x="676800" y="1565999"/>
            <a:ext cx="72000" cy="1908000"/>
          </a:xfrm>
          <a:prstGeom prst="roundRect">
            <a:avLst>
              <a:gd name="adj" fmla="val 5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4" name="#s9-card_2"/>
          <p:cNvSpPr/>
          <p:nvPr/>
        </p:nvSpPr>
        <p:spPr>
          <a:xfrm>
            <a:off x="4316000" y="1404000"/>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FlexGen</a:t>
            </a:r>
          </a:p>
          <a:p>
            <a:pPr algn="l">
              <a:spcAft>
                <a:spcPts val="600"/>
              </a:spcAft>
            </a:pPr>
            <a:r>
              <a:rPr sz="1600" b="0">
                <a:solidFill>
                  <a:srgbClr val="1F63C6"/>
                </a:solidFill>
                <a:latin typeface="Calibri"/>
              </a:rPr>
              <a:t>ICML 2023</a:t>
            </a:r>
          </a:p>
          <a:p>
            <a:pPr algn="l"/>
            <a:r>
              <a:rPr sz="1800" b="0">
                <a:solidFill>
                  <a:srgbClr val="1E2B3A"/>
                </a:solidFill>
                <a:latin typeface="Calibri"/>
              </a:rPr>
              <a:t>Offloads weights and KV cache across GPU, CPU and disk for high-throughput batch inference.</a:t>
            </a:r>
          </a:p>
        </p:txBody>
      </p:sp>
      <p:sp>
        <p:nvSpPr>
          <p:cNvPr id="15" name="!!actor-layer_2"/>
          <p:cNvSpPr/>
          <p:nvPr/>
        </p:nvSpPr>
        <p:spPr>
          <a:xfrm>
            <a:off x="4452800" y="1565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6" name="#s9-card_3"/>
          <p:cNvSpPr/>
          <p:nvPr/>
        </p:nvSpPr>
        <p:spPr>
          <a:xfrm>
            <a:off x="8092000" y="1404000"/>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ZeRO-Inference</a:t>
            </a:r>
          </a:p>
          <a:p>
            <a:pPr algn="l">
              <a:spcAft>
                <a:spcPts val="600"/>
              </a:spcAft>
            </a:pPr>
            <a:r>
              <a:rPr sz="1600" b="0">
                <a:solidFill>
                  <a:srgbClr val="1F63C6"/>
                </a:solidFill>
                <a:latin typeface="Calibri"/>
              </a:rPr>
              <a:t>DeepSpeed</a:t>
            </a:r>
          </a:p>
          <a:p>
            <a:pPr algn="l"/>
            <a:r>
              <a:rPr sz="1800" b="0">
                <a:solidFill>
                  <a:srgbClr val="1E2B3A"/>
                </a:solidFill>
                <a:latin typeface="Calibri"/>
              </a:rPr>
              <a:t>Keeps weights in CPU RAM or NVMe and streams them to the GPU on demand.</a:t>
            </a:r>
          </a:p>
        </p:txBody>
      </p:sp>
      <p:sp>
        <p:nvSpPr>
          <p:cNvPr id="17" name="!!actor-layer_3"/>
          <p:cNvSpPr/>
          <p:nvPr/>
        </p:nvSpPr>
        <p:spPr>
          <a:xfrm>
            <a:off x="8228800" y="1565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8" name="#s9-card_4"/>
          <p:cNvSpPr/>
          <p:nvPr/>
        </p:nvSpPr>
        <p:spPr>
          <a:xfrm>
            <a:off x="540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llama.cpp</a:t>
            </a:r>
          </a:p>
          <a:p>
            <a:pPr algn="l">
              <a:spcAft>
                <a:spcPts val="600"/>
              </a:spcAft>
            </a:pPr>
            <a:r>
              <a:rPr sz="1600" b="0">
                <a:solidFill>
                  <a:srgbClr val="1F63C6"/>
                </a:solidFill>
                <a:latin typeface="Calibri"/>
              </a:rPr>
              <a:t>GGUF · CPU + GPU</a:t>
            </a:r>
          </a:p>
          <a:p>
            <a:pPr algn="l"/>
            <a:r>
              <a:rPr sz="1800" b="0">
                <a:solidFill>
                  <a:srgbClr val="1E2B3A"/>
                </a:solidFill>
                <a:latin typeface="Calibri"/>
              </a:rPr>
              <a:t>Quantized inference with memory-mapped weights on commodity hardware.</a:t>
            </a:r>
          </a:p>
        </p:txBody>
      </p:sp>
      <p:sp>
        <p:nvSpPr>
          <p:cNvPr id="19" name="!!actor-layer_4"/>
          <p:cNvSpPr/>
          <p:nvPr/>
        </p:nvSpPr>
        <p:spPr>
          <a:xfrm>
            <a:off x="676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20" name="#s9-card_5"/>
          <p:cNvSpPr/>
          <p:nvPr/>
        </p:nvSpPr>
        <p:spPr>
          <a:xfrm>
            <a:off x="4316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PowerInfer</a:t>
            </a:r>
          </a:p>
          <a:p>
            <a:pPr algn="l">
              <a:spcAft>
                <a:spcPts val="600"/>
              </a:spcAft>
            </a:pPr>
            <a:r>
              <a:rPr sz="1600" b="0">
                <a:solidFill>
                  <a:srgbClr val="1F63C6"/>
                </a:solidFill>
                <a:latin typeface="Calibri"/>
              </a:rPr>
              <a:t>SOSP 2024</a:t>
            </a:r>
          </a:p>
          <a:p>
            <a:pPr algn="l"/>
            <a:r>
              <a:rPr sz="1800" b="0">
                <a:solidFill>
                  <a:srgbClr val="1E2B3A"/>
                </a:solidFill>
                <a:latin typeface="Calibri"/>
              </a:rPr>
              <a:t>Hot neurons stay on the GPU, cold ones on the CPU, exploiting activation sparsity.</a:t>
            </a:r>
          </a:p>
        </p:txBody>
      </p:sp>
      <p:sp>
        <p:nvSpPr>
          <p:cNvPr id="21" name="!!actor-layer_5"/>
          <p:cNvSpPr/>
          <p:nvPr/>
        </p:nvSpPr>
        <p:spPr>
          <a:xfrm>
            <a:off x="4452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22" name="#s9-card_6"/>
          <p:cNvSpPr/>
          <p:nvPr/>
        </p:nvSpPr>
        <p:spPr>
          <a:xfrm>
            <a:off x="8092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60000" tIns="162000" rIns="162000" bIns="162000" rtlCol="0" anchor="t">
            <a:noAutofit/>
          </a:bodyPr>
          <a:lstStyle/>
          <a:p>
            <a:pPr algn="l"/>
            <a:r>
              <a:rPr sz="2000" b="1">
                <a:solidFill>
                  <a:srgbClr val="0B2545"/>
                </a:solidFill>
                <a:latin typeface="Calibri"/>
              </a:rPr>
              <a:t>HF Accelerate</a:t>
            </a:r>
          </a:p>
          <a:p>
            <a:pPr algn="l">
              <a:spcAft>
                <a:spcPts val="600"/>
              </a:spcAft>
            </a:pPr>
            <a:r>
              <a:rPr sz="1600" b="0">
                <a:solidFill>
                  <a:srgbClr val="1F63C6"/>
                </a:solidFill>
                <a:latin typeface="Calibri"/>
              </a:rPr>
              <a:t>device_map="auto"</a:t>
            </a:r>
          </a:p>
          <a:p>
            <a:pPr algn="l"/>
            <a:r>
              <a:rPr sz="1800" b="0">
                <a:solidFill>
                  <a:srgbClr val="1E2B3A"/>
                </a:solidFill>
                <a:latin typeface="Calibri"/>
              </a:rPr>
              <a:t>Spills layers that don't fit onto CPU RAM or disk automatically.</a:t>
            </a:r>
          </a:p>
        </p:txBody>
      </p:sp>
      <p:sp>
        <p:nvSpPr>
          <p:cNvPr id="23" name="!!actor-layer_6"/>
          <p:cNvSpPr/>
          <p:nvPr/>
        </p:nvSpPr>
        <p:spPr>
          <a:xfrm>
            <a:off x="8228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150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ene-orb_1"/>
          <p:cNvSpPr/>
          <p:nvPr/>
        </p:nvSpPr>
        <p:spPr>
          <a:xfrm>
            <a:off x="10800000" y="5580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3" name="!!scene-orb_2"/>
          <p:cNvSpPr/>
          <p:nvPr/>
        </p:nvSpPr>
        <p:spPr>
          <a:xfrm>
            <a:off x="-432000" y="5400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4" name="!!scene-band"/>
          <p:cNvSpPr/>
          <p:nvPr/>
        </p:nvSpPr>
        <p:spPr>
          <a:xfrm>
            <a:off x="0" y="0"/>
            <a:ext cx="12192000" cy="280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5" name="!!scene-accent"/>
          <p:cNvSpPr/>
          <p:nvPr/>
        </p:nvSpPr>
        <p:spPr>
          <a:xfrm>
            <a:off x="5628000" y="2628000"/>
            <a:ext cx="936000" cy="43200"/>
          </a:xfrm>
          <a:prstGeom prst="rect">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7" name="!!scene-footer"/>
          <p:cNvSpPr txBox="1"/>
          <p:nvPr/>
        </p:nvSpPr>
        <p:spPr>
          <a:xfrm>
            <a:off x="540000" y="6372000"/>
            <a:ext cx="8640000" cy="270000"/>
          </a:xfrm>
          <a:prstGeom prst="rect">
            <a:avLst/>
          </a:prstGeom>
          <a:noFill/>
          <a:ln>
            <a:noFill/>
          </a:ln>
        </p:spPr>
        <p:txBody>
          <a:bodyPr wrap="square" lIns="18000" tIns="18000" rIns="18000" bIns="18000" anchor="ctr">
            <a:noAutofit/>
          </a:bodyPr>
          <a:lstStyle/>
          <a:p>
            <a:pPr algn="l"/>
            <a:r>
              <a:rPr sz="1200" b="0" dirty="0">
                <a:solidFill>
                  <a:srgbClr val="5A6B80"/>
                </a:solidFill>
                <a:latin typeface="Calibri"/>
              </a:rPr>
              <a:t>Recent Trends Presentation · </a:t>
            </a:r>
            <a:r>
              <a:rPr sz="1200" b="0" dirty="0" err="1">
                <a:solidFill>
                  <a:srgbClr val="5A6B80"/>
                </a:solidFill>
                <a:latin typeface="Calibri"/>
              </a:rPr>
              <a:t>AirLLM</a:t>
            </a:r>
            <a:r>
              <a:rPr sz="1200" b="0" dirty="0">
                <a:solidFill>
                  <a:srgbClr val="5A6B80"/>
                </a:solidFill>
                <a:latin typeface="Calibri"/>
              </a:rPr>
              <a:t>   |   </a:t>
            </a:r>
            <a:r>
              <a:rPr sz="1200" b="0" dirty="0" err="1">
                <a:solidFill>
                  <a:srgbClr val="5A6B80"/>
                </a:solidFill>
                <a:latin typeface="Calibri"/>
              </a:rPr>
              <a:t>Popat</a:t>
            </a:r>
            <a:r>
              <a:rPr sz="1200" b="0" dirty="0">
                <a:solidFill>
                  <a:srgbClr val="5A6B80"/>
                </a:solidFill>
                <a:latin typeface="Calibri"/>
              </a:rPr>
              <a:t> </a:t>
            </a:r>
            <a:r>
              <a:rPr sz="1200" b="0" dirty="0" err="1">
                <a:solidFill>
                  <a:srgbClr val="5A6B80"/>
                </a:solidFill>
                <a:latin typeface="Calibri"/>
              </a:rPr>
              <a:t>Bhavya</a:t>
            </a:r>
            <a:r>
              <a:rPr sz="1200" b="0" dirty="0">
                <a:solidFill>
                  <a:srgbClr val="5A6B80"/>
                </a:solidFill>
                <a:latin typeface="Calibri"/>
              </a:rPr>
              <a:t> </a:t>
            </a:r>
            <a:r>
              <a:rPr sz="1200" b="0" dirty="0" err="1">
                <a:solidFill>
                  <a:srgbClr val="5A6B80"/>
                </a:solidFill>
                <a:latin typeface="Calibri"/>
              </a:rPr>
              <a:t>Balkrishnabhai</a:t>
            </a:r>
            <a:r>
              <a:rPr sz="1200" b="0" dirty="0">
                <a:solidFill>
                  <a:srgbClr val="5A6B80"/>
                </a:solidFill>
                <a:latin typeface="Calibri"/>
              </a:rPr>
              <a:t>   |   </a:t>
            </a:r>
            <a:r>
              <a:rPr lang="en-US" sz="1200" b="0" dirty="0" smtClean="0">
                <a:solidFill>
                  <a:srgbClr val="5A6B80"/>
                </a:solidFill>
                <a:latin typeface="Calibri"/>
              </a:rPr>
              <a:t>261881003</a:t>
            </a:r>
            <a:endParaRPr sz="1200" b="0" dirty="0">
              <a:solidFill>
                <a:srgbClr val="5A6B80"/>
              </a:solidFill>
              <a:latin typeface="Calibri"/>
            </a:endParaRPr>
          </a:p>
        </p:txBody>
      </p:sp>
      <p:sp>
        <p:nvSpPr>
          <p:cNvPr id="8" name="!!scene-page"/>
          <p:cNvSpPr txBox="1"/>
          <p:nvPr/>
        </p:nvSpPr>
        <p:spPr>
          <a:xfrm>
            <a:off x="10212000" y="6372000"/>
            <a:ext cx="1440000" cy="270000"/>
          </a:xfrm>
          <a:prstGeom prst="rect">
            <a:avLst/>
          </a:prstGeom>
          <a:noFill/>
          <a:ln>
            <a:noFill/>
          </a:ln>
        </p:spPr>
        <p:txBody>
          <a:bodyPr wrap="square" lIns="18000" tIns="18000" rIns="18000" bIns="18000" anchor="ctr">
            <a:noAutofit/>
          </a:bodyPr>
          <a:lstStyle/>
          <a:p>
            <a:pPr algn="r"/>
            <a:r>
              <a:rPr sz="1200" b="1">
                <a:solidFill>
                  <a:srgbClr val="1F63C6"/>
                </a:solidFill>
                <a:latin typeface="Calibri"/>
              </a:rPr>
              <a:t>10 / 10</a:t>
            </a:r>
          </a:p>
        </p:txBody>
      </p:sp>
      <p:pic>
        <p:nvPicPr>
          <p:cNvPr id="9" name="!!logo" descr="atmiya_logo_updated with bg.png"/>
          <p:cNvPicPr>
            <a:picLocks noChangeAspect="1"/>
          </p:cNvPicPr>
          <p:nvPr/>
        </p:nvPicPr>
        <p:blipFill>
          <a:blip r:embed="rId3"/>
          <a:stretch>
            <a:fillRect/>
          </a:stretch>
        </p:blipFill>
        <p:spPr>
          <a:xfrm>
            <a:off x="3936000" y="324000"/>
            <a:ext cx="4320000" cy="1089660"/>
          </a:xfrm>
          <a:prstGeom prst="roundRect">
            <a:avLst>
              <a:gd name="adj" fmla="val 18000"/>
            </a:avLst>
          </a:prstGeom>
          <a:ln w="12700">
            <a:solidFill>
              <a:srgbClr val="C9D4E3"/>
            </a:solidFill>
          </a:ln>
        </p:spPr>
      </p:pic>
      <p:sp>
        <p:nvSpPr>
          <p:cNvPr id="10" name="#s10-title"/>
          <p:cNvSpPr txBox="1"/>
          <p:nvPr/>
        </p:nvSpPr>
        <p:spPr>
          <a:xfrm>
            <a:off x="540000" y="1494000"/>
            <a:ext cx="11112000" cy="720000"/>
          </a:xfrm>
          <a:prstGeom prst="rect">
            <a:avLst/>
          </a:prstGeom>
          <a:noFill/>
          <a:ln>
            <a:noFill/>
          </a:ln>
        </p:spPr>
        <p:txBody>
          <a:bodyPr wrap="square" lIns="18000" tIns="18000" rIns="18000" bIns="18000" anchor="ctr">
            <a:noAutofit/>
          </a:bodyPr>
          <a:lstStyle/>
          <a:p>
            <a:pPr algn="ctr"/>
            <a:r>
              <a:rPr sz="5400" b="1">
                <a:solidFill>
                  <a:srgbClr val="FFFFFF"/>
                </a:solidFill>
                <a:latin typeface="Calibri"/>
              </a:rPr>
              <a:t>Thank you</a:t>
            </a:r>
          </a:p>
        </p:txBody>
      </p:sp>
      <p:sp>
        <p:nvSpPr>
          <p:cNvPr id="11" name="#s10-sub"/>
          <p:cNvSpPr txBox="1"/>
          <p:nvPr/>
        </p:nvSpPr>
        <p:spPr>
          <a:xfrm>
            <a:off x="540000" y="2232000"/>
            <a:ext cx="11112000" cy="324000"/>
          </a:xfrm>
          <a:prstGeom prst="rect">
            <a:avLst/>
          </a:prstGeom>
          <a:noFill/>
          <a:ln>
            <a:noFill/>
          </a:ln>
        </p:spPr>
        <p:txBody>
          <a:bodyPr wrap="square" lIns="18000" tIns="18000" rIns="18000" bIns="18000" anchor="ctr">
            <a:noAutofit/>
          </a:bodyPr>
          <a:lstStyle/>
          <a:p>
            <a:pPr algn="ctr"/>
            <a:r>
              <a:rPr sz="2200" b="0">
                <a:solidFill>
                  <a:srgbClr val="DCE6F5"/>
                </a:solidFill>
                <a:latin typeface="Calibri"/>
              </a:rPr>
              <a:t>Questions and discussion</a:t>
            </a:r>
          </a:p>
        </p:txBody>
      </p:sp>
      <p:sp>
        <p:nvSpPr>
          <p:cNvPr id="12" name="!!actor-card"/>
          <p:cNvSpPr/>
          <p:nvPr/>
        </p:nvSpPr>
        <p:spPr>
          <a:xfrm>
            <a:off x="1224000" y="3078000"/>
            <a:ext cx="9744000" cy="1925999"/>
          </a:xfrm>
          <a:prstGeom prst="roundRect">
            <a:avLst>
              <a:gd name="adj" fmla="val 4672"/>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wrap="square" lIns="324000" tIns="162000" rIns="324000" bIns="162000" rtlCol="0" anchor="ctr">
            <a:noAutofit/>
          </a:bodyPr>
          <a:lstStyle/>
          <a:p>
            <a:pPr algn="l">
              <a:spcAft>
                <a:spcPts val="800"/>
              </a:spcAft>
            </a:pPr>
            <a:r>
              <a:rPr sz="1400" b="1" spc="150">
                <a:solidFill>
                  <a:srgbClr val="1F63C6"/>
                </a:solidFill>
                <a:latin typeface="Calibri"/>
              </a:rPr>
              <a:t>KEY TAKEAWAYS</a:t>
            </a:r>
          </a:p>
          <a:p>
            <a:pPr algn="l">
              <a:spcAft>
                <a:spcPts val="600"/>
              </a:spcAft>
            </a:pPr>
            <a:r>
              <a:rPr sz="2000" b="1">
                <a:solidFill>
                  <a:srgbClr val="1F63C6"/>
                </a:solidFill>
                <a:latin typeface="Calibri"/>
              </a:rPr>
              <a:t>1   </a:t>
            </a:r>
            <a:r>
              <a:rPr sz="2000" b="0">
                <a:solidFill>
                  <a:srgbClr val="1E2B3A"/>
                </a:solidFill>
                <a:latin typeface="Calibri"/>
              </a:rPr>
              <a:t>GPU memory need drops to roughly one layer, not the whole model.</a:t>
            </a:r>
          </a:p>
          <a:p>
            <a:pPr algn="l">
              <a:spcAft>
                <a:spcPts val="600"/>
              </a:spcAft>
            </a:pPr>
            <a:r>
              <a:rPr sz="2000" b="1">
                <a:solidFill>
                  <a:srgbClr val="1F63C6"/>
                </a:solidFill>
                <a:latin typeface="Calibri"/>
              </a:rPr>
              <a:t>2   </a:t>
            </a:r>
            <a:r>
              <a:rPr sz="2000" b="0">
                <a:solidFill>
                  <a:srgbClr val="1E2B3A"/>
                </a:solidFill>
                <a:latin typeface="Calibri"/>
              </a:rPr>
              <a:t>Disk bandwidth becomes the new bottleneck.</a:t>
            </a:r>
          </a:p>
          <a:p>
            <a:pPr algn="l"/>
            <a:r>
              <a:rPr sz="2000" b="1">
                <a:solidFill>
                  <a:srgbClr val="1F63C6"/>
                </a:solidFill>
                <a:latin typeface="Calibri"/>
              </a:rPr>
              <a:t>3   </a:t>
            </a:r>
            <a:r>
              <a:rPr sz="2000" b="0">
                <a:solidFill>
                  <a:srgbClr val="1E2B3A"/>
                </a:solidFill>
                <a:latin typeface="Calibri"/>
              </a:rPr>
              <a:t>It trades latency for accessibility: a research and batch tool, not a chat server.</a:t>
            </a:r>
          </a:p>
        </p:txBody>
      </p:sp>
      <p:sp>
        <p:nvSpPr>
          <p:cNvPr id="13" name="!!actor-layer_1"/>
          <p:cNvSpPr/>
          <p:nvPr/>
        </p:nvSpPr>
        <p:spPr>
          <a:xfrm>
            <a:off x="2037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4" name="!!actor-layer_2"/>
          <p:cNvSpPr/>
          <p:nvPr/>
        </p:nvSpPr>
        <p:spPr>
          <a:xfrm>
            <a:off x="3063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5" name="!!actor-layer_3"/>
          <p:cNvSpPr/>
          <p:nvPr/>
        </p:nvSpPr>
        <p:spPr>
          <a:xfrm>
            <a:off x="4089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6" name="!!actor-layer_4"/>
          <p:cNvSpPr/>
          <p:nvPr/>
        </p:nvSpPr>
        <p:spPr>
          <a:xfrm>
            <a:off x="5115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7" name="!!actor-layer_5"/>
          <p:cNvSpPr/>
          <p:nvPr/>
        </p:nvSpPr>
        <p:spPr>
          <a:xfrm>
            <a:off x="6141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8" name="!!actor-layer_6"/>
          <p:cNvSpPr/>
          <p:nvPr/>
        </p:nvSpPr>
        <p:spPr>
          <a:xfrm>
            <a:off x="7166999"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19" name="!!actor-layer_7"/>
          <p:cNvSpPr/>
          <p:nvPr/>
        </p:nvSpPr>
        <p:spPr>
          <a:xfrm>
            <a:off x="8193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20" name="!!actor-layer_8"/>
          <p:cNvSpPr/>
          <p:nvPr/>
        </p:nvSpPr>
        <p:spPr>
          <a:xfrm>
            <a:off x="9219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noAutofit/>
          </a:bodyPr>
          <a:lstStyle/>
          <a:p>
            <a:pPr algn="ctr"/>
            <a:endParaRPr/>
          </a:p>
        </p:txBody>
      </p:sp>
      <p:sp>
        <p:nvSpPr>
          <p:cNvPr id="21" name="#s10-done"/>
          <p:cNvSpPr txBox="1"/>
          <p:nvPr/>
        </p:nvSpPr>
        <p:spPr>
          <a:xfrm>
            <a:off x="540000" y="5418000"/>
            <a:ext cx="11112000" cy="251999"/>
          </a:xfrm>
          <a:prstGeom prst="rect">
            <a:avLst/>
          </a:prstGeom>
          <a:noFill/>
          <a:ln>
            <a:noFill/>
          </a:ln>
        </p:spPr>
        <p:txBody>
          <a:bodyPr wrap="square" lIns="18000" tIns="18000" rIns="18000" bIns="18000" anchor="ctr">
            <a:noAutofit/>
          </a:bodyPr>
          <a:lstStyle/>
          <a:p>
            <a:pPr algn="ctr"/>
            <a:r>
              <a:rPr sz="1600" b="1">
                <a:solidFill>
                  <a:srgbClr val="1F63C6"/>
                </a:solidFill>
                <a:latin typeface="Calibri"/>
              </a:rPr>
              <a:t>All 80 layers streamed · complete</a:t>
            </a:r>
          </a:p>
        </p:txBody>
      </p:sp>
      <p:sp>
        <p:nvSpPr>
          <p:cNvPr id="22" name="#s10-presenter"/>
          <p:cNvSpPr txBox="1"/>
          <p:nvPr/>
        </p:nvSpPr>
        <p:spPr>
          <a:xfrm>
            <a:off x="540000" y="5688000"/>
            <a:ext cx="11112000" cy="306000"/>
          </a:xfrm>
          <a:prstGeom prst="rect">
            <a:avLst/>
          </a:prstGeom>
          <a:noFill/>
          <a:ln>
            <a:noFill/>
          </a:ln>
        </p:spPr>
        <p:txBody>
          <a:bodyPr wrap="square" lIns="18000" tIns="18000" rIns="18000" bIns="18000" anchor="ctr">
            <a:noAutofit/>
          </a:bodyPr>
          <a:lstStyle/>
          <a:p>
            <a:pPr algn="ctr"/>
            <a:r>
              <a:rPr sz="1800" b="0" dirty="0" err="1">
                <a:solidFill>
                  <a:srgbClr val="1E2B3A"/>
                </a:solidFill>
                <a:latin typeface="Calibri"/>
              </a:rPr>
              <a:t>Popat</a:t>
            </a:r>
            <a:r>
              <a:rPr sz="1800" b="0" dirty="0">
                <a:solidFill>
                  <a:srgbClr val="1E2B3A"/>
                </a:solidFill>
                <a:latin typeface="Calibri"/>
              </a:rPr>
              <a:t> </a:t>
            </a:r>
            <a:r>
              <a:rPr sz="1800" b="0" dirty="0" err="1">
                <a:solidFill>
                  <a:srgbClr val="1E2B3A"/>
                </a:solidFill>
                <a:latin typeface="Calibri"/>
              </a:rPr>
              <a:t>Bhavya</a:t>
            </a:r>
            <a:r>
              <a:rPr sz="1800" b="0" dirty="0">
                <a:solidFill>
                  <a:srgbClr val="1E2B3A"/>
                </a:solidFill>
                <a:latin typeface="Calibri"/>
              </a:rPr>
              <a:t> </a:t>
            </a:r>
            <a:r>
              <a:rPr sz="1800" b="0" dirty="0" err="1">
                <a:solidFill>
                  <a:srgbClr val="1E2B3A"/>
                </a:solidFill>
                <a:latin typeface="Calibri"/>
              </a:rPr>
              <a:t>Balkrishnabhai</a:t>
            </a:r>
            <a:r>
              <a:rPr sz="1800" b="0" dirty="0">
                <a:solidFill>
                  <a:srgbClr val="1E2B3A"/>
                </a:solidFill>
                <a:latin typeface="Calibri"/>
              </a:rPr>
              <a:t>   ·   </a:t>
            </a:r>
            <a:r>
              <a:rPr lang="en-US" sz="1800" b="0" dirty="0" smtClean="0">
                <a:solidFill>
                  <a:srgbClr val="1E2B3A"/>
                </a:solidFill>
                <a:latin typeface="Calibri"/>
              </a:rPr>
              <a:t>261881003</a:t>
            </a:r>
            <a:r>
              <a:rPr sz="1800" b="0" dirty="0" smtClean="0">
                <a:solidFill>
                  <a:srgbClr val="1E2B3A"/>
                </a:solidFill>
                <a:latin typeface="Calibri"/>
              </a:rPr>
              <a:t>   </a:t>
            </a:r>
            <a:r>
              <a:rPr sz="1800" b="0" dirty="0">
                <a:solidFill>
                  <a:srgbClr val="1E2B3A"/>
                </a:solidFill>
                <a:latin typeface="Calibri"/>
              </a:rPr>
              <a:t>·   PhD Computer Science, Semester 1</a:t>
            </a:r>
          </a:p>
        </p:txBody>
      </p:sp>
    </p:spTree>
  </p:cSld>
  <p:clrMapOvr>
    <a:masterClrMapping/>
  </p:clrMapOvr>
  <mc:AlternateContent xmlns:mc="http://schemas.openxmlformats.org/markup-compatibility/2006">
    <mc:Choice xmlns:p14="http://schemas.microsoft.com/office/powerpoint/2010/main" xmlns:p159="http://schemas.microsoft.com/office/powerpoint/2015/09/main" xmlns="" Requires="p159">
      <p:transition spd="slow" p14:dur="20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1730</Words>
  <Application>Microsoft Office PowerPoint</Application>
  <PresentationFormat>Widescreen</PresentationFormat>
  <Paragraphs>226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atmiya</cp:lastModifiedBy>
  <cp:revision>2</cp:revision>
  <dcterms:created xsi:type="dcterms:W3CDTF">2013-01-27T09:14:16Z</dcterms:created>
  <dcterms:modified xsi:type="dcterms:W3CDTF">2026-10-28T03:30:49Z</dcterms:modified>
  <cp:category/>
</cp:coreProperties>
</file>