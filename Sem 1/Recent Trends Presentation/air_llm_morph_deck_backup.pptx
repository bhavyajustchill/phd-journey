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6956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AirLLM</a:t>
            </a:r>
            <a:r>
              <a:rPr dirty="0"/>
              <a:t> runs a 70-billion-parameter model on a GPU with only 4GB of VRAM. The trick is not compression but scheduling: instead of placing the whole model in memory (spatial memory), it streams the model from disk one decoder layer at a time. The ribbon below the title is the model's 80 decoder layers; watch it as we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traditional approach loads the full checkpoint before the first token. 70B parameters at 2 bytes each in fp16 is about 140GB, and all of it must be resident at the same time. Against a 4GB GPU that is 35 times the budget, so the load fails with a CUDA out-of-memory error long before inference starts.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AirLLM splits the checkpoint into one shard per layer on disk. For every token it walks the 80 layers in order: compute layer N on the GPU, evict its weights, and bring in layer N+1. Prefetching overlaps the disk read for N+1 with the compute for N. Flash Attention is the attention kernel used during the compute step; the prefetch itself is asynchronous disk I/O. Sizing note: in fp16 one 70B decoder layer is about 1.7GB of weights. With prefetching, up to two layers are in flight, plus activations and CUDA overhead, which is why the whole loop still fits inside a 4GB card. The ~2.4GB label is an approximate working-set figure.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loop scales further when fewer bytes move per token. Per the AirLLM README, Kimi K3 (2.8T-parameter MoE, 16 of 896 experts active per token) runs in about 3.72GB, and DeepSeek-V3 (671B) in about 12GB; these are the author's own measurements. For Kimi K3, AirLLM streams only the experts each token routes to; other MoE models (Mixtral, the generic path) still stream whole layers. Optional 4-bit or 8-bit block-wise compression quantizes weights only. The README claims up to 3x speed-up, but GitHub issue #330 reports slowdowns because compression disables prefetching, so present it as an option, not a guaranteed win.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honest trade-off. </a:t>
            </a:r>
            <a:r>
              <a:rPr dirty="0" err="1"/>
              <a:t>AirLLM</a:t>
            </a:r>
            <a:r>
              <a:rPr dirty="0"/>
              <a:t> removes the hardware barrier but pays in latency: at 16-bit a 70B model takes on the order of two minutes per token, about 25 seconds with 4-bit shards and a warm OS page cache, versus roughly 3.4 seconds for a quantized llama.cpp build that needs around 44GB of system RAM. Use it for offline or batch work on small GPUs, not for interactive chat. Figures are indicative and depend heavily on disk bandwidth; cite the benchmark you take them from.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1-kicker"/>
          <p:cNvSpPr txBox="1"/>
          <p:nvPr/>
        </p:nvSpPr>
        <p:spPr>
          <a:xfrm>
            <a:off x="457200" y="1098000"/>
            <a:ext cx="11277600" cy="360000"/>
          </a:xfrm>
          <a:prstGeom prst="rect">
            <a:avLst/>
          </a:prstGeom>
          <a:noFill/>
          <a:ln>
            <a:noFill/>
          </a:ln>
        </p:spPr>
        <p:txBody>
          <a:bodyPr wrap="square" lIns="108000" tIns="54000" rIns="108000" bIns="54000" anchor="ctr">
            <a:noAutofit/>
          </a:bodyPr>
          <a:lstStyle/>
          <a:p>
            <a:pPr algn="ctr"/>
            <a:r>
              <a:rPr sz="1800" b="1" spc="300">
                <a:solidFill>
                  <a:srgbClr val="1F6FEB"/>
                </a:solidFill>
                <a:latin typeface="Segoe UI"/>
              </a:rPr>
              <a:t>MEMORY-EFFICIENT LLM INFERENCE</a:t>
            </a:r>
          </a:p>
        </p:txBody>
      </p:sp>
      <p:sp>
        <p:nvSpPr>
          <p:cNvPr id="3" name="!!hero_badge"/>
          <p:cNvSpPr/>
          <p:nvPr/>
        </p:nvSpPr>
        <p:spPr>
          <a:xfrm>
            <a:off x="1414800" y="1565999"/>
            <a:ext cx="9360000" cy="1584000"/>
          </a:xfrm>
          <a:prstGeom prst="roundRect">
            <a:avLst>
              <a:gd name="adj" fmla="val 13636"/>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r>
              <a:rPr sz="4800" b="1">
                <a:solidFill>
                  <a:srgbClr val="FFFFFF"/>
                </a:solidFill>
                <a:latin typeface="Segoe UI"/>
              </a:rPr>
              <a:t>AirLLM: 70B on 4GB VRAM</a:t>
            </a:r>
          </a:p>
        </p:txBody>
      </p:sp>
      <p:sp>
        <p:nvSpPr>
          <p:cNvPr id="4" name="!!subtitle"/>
          <p:cNvSpPr txBox="1"/>
          <p:nvPr/>
        </p:nvSpPr>
        <p:spPr>
          <a:xfrm>
            <a:off x="1414800" y="3294000"/>
            <a:ext cx="9360000" cy="540000"/>
          </a:xfrm>
          <a:prstGeom prst="rect">
            <a:avLst/>
          </a:prstGeom>
          <a:noFill/>
          <a:ln>
            <a:noFill/>
          </a:ln>
        </p:spPr>
        <p:txBody>
          <a:bodyPr wrap="square" lIns="108000" tIns="54000" rIns="108000" bIns="54000" anchor="ctr">
            <a:noAutofit/>
          </a:bodyPr>
          <a:lstStyle/>
          <a:p>
            <a:pPr algn="ctr"/>
            <a:r>
              <a:rPr sz="2400" b="0">
                <a:solidFill>
                  <a:srgbClr val="4A5568"/>
                </a:solidFill>
                <a:latin typeface="Segoe UI"/>
              </a:rPr>
              <a:t>Layer-Wise Disk Streaming vs. Traditional Spatial Memory</a:t>
            </a:r>
          </a:p>
        </p:txBody>
      </p:sp>
      <p:sp>
        <p:nvSpPr>
          <p:cNvPr id="5" name="!!actor-layer_1"/>
          <p:cNvSpPr/>
          <p:nvPr/>
        </p:nvSpPr>
        <p:spPr>
          <a:xfrm>
            <a:off x="1371000" y="4230000"/>
            <a:ext cx="1440000" cy="396000"/>
          </a:xfrm>
          <a:prstGeom prst="roundRect">
            <a:avLst>
              <a:gd name="adj" fmla="val 16363"/>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L1</a:t>
            </a:r>
          </a:p>
        </p:txBody>
      </p:sp>
      <p:sp>
        <p:nvSpPr>
          <p:cNvPr id="6" name="!!actor-layer_2"/>
          <p:cNvSpPr/>
          <p:nvPr/>
        </p:nvSpPr>
        <p:spPr>
          <a:xfrm>
            <a:off x="2973000" y="4230000"/>
            <a:ext cx="1440000" cy="396000"/>
          </a:xfrm>
          <a:prstGeom prst="roundRect">
            <a:avLst>
              <a:gd name="adj" fmla="val 16363"/>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L2</a:t>
            </a:r>
          </a:p>
        </p:txBody>
      </p:sp>
      <p:sp>
        <p:nvSpPr>
          <p:cNvPr id="7" name="!!actor-layer_3"/>
          <p:cNvSpPr/>
          <p:nvPr/>
        </p:nvSpPr>
        <p:spPr>
          <a:xfrm>
            <a:off x="4575000" y="4230000"/>
            <a:ext cx="1440000" cy="396000"/>
          </a:xfrm>
          <a:prstGeom prst="roundRect">
            <a:avLst>
              <a:gd name="adj" fmla="val 16363"/>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L3</a:t>
            </a:r>
          </a:p>
        </p:txBody>
      </p:sp>
      <p:sp>
        <p:nvSpPr>
          <p:cNvPr id="8" name="!!actor-layer_4"/>
          <p:cNvSpPr/>
          <p:nvPr/>
        </p:nvSpPr>
        <p:spPr>
          <a:xfrm>
            <a:off x="6177000" y="4230000"/>
            <a:ext cx="1440000" cy="396000"/>
          </a:xfrm>
          <a:prstGeom prst="roundRect">
            <a:avLst>
              <a:gd name="adj" fmla="val 16363"/>
            </a:avLst>
          </a:prstGeom>
          <a:solidFill>
            <a:srgbClr val="C9D6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a:t>
            </a:r>
          </a:p>
        </p:txBody>
      </p:sp>
      <p:sp>
        <p:nvSpPr>
          <p:cNvPr id="9" name="!!actor-layer_5"/>
          <p:cNvSpPr/>
          <p:nvPr/>
        </p:nvSpPr>
        <p:spPr>
          <a:xfrm>
            <a:off x="7779000" y="4230000"/>
            <a:ext cx="1440000" cy="396000"/>
          </a:xfrm>
          <a:prstGeom prst="roundRect">
            <a:avLst>
              <a:gd name="adj" fmla="val 16363"/>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L79</a:t>
            </a:r>
          </a:p>
        </p:txBody>
      </p:sp>
      <p:sp>
        <p:nvSpPr>
          <p:cNvPr id="10" name="!!actor-layer_6"/>
          <p:cNvSpPr/>
          <p:nvPr/>
        </p:nvSpPr>
        <p:spPr>
          <a:xfrm>
            <a:off x="9381000" y="4230000"/>
            <a:ext cx="1440000" cy="396000"/>
          </a:xfrm>
          <a:prstGeom prst="roundRect">
            <a:avLst>
              <a:gd name="adj" fmla="val 16363"/>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L80</a:t>
            </a:r>
          </a:p>
        </p:txBody>
      </p:sp>
      <p:sp>
        <p:nvSpPr>
          <p:cNvPr id="11" name="#s1-ribbon_label"/>
          <p:cNvSpPr txBox="1"/>
          <p:nvPr/>
        </p:nvSpPr>
        <p:spPr>
          <a:xfrm>
            <a:off x="457200" y="4698000"/>
            <a:ext cx="11277600" cy="324000"/>
          </a:xfrm>
          <a:prstGeom prst="rect">
            <a:avLst/>
          </a:prstGeom>
          <a:noFill/>
          <a:ln>
            <a:noFill/>
          </a:ln>
        </p:spPr>
        <p:txBody>
          <a:bodyPr wrap="square" lIns="108000" tIns="54000" rIns="108000" bIns="54000" anchor="ctr">
            <a:noAutofit/>
          </a:bodyPr>
          <a:lstStyle/>
          <a:p>
            <a:pPr algn="ctr"/>
            <a:r>
              <a:rPr sz="1800" b="0">
                <a:solidFill>
                  <a:srgbClr val="4A5568"/>
                </a:solidFill>
                <a:latin typeface="Segoe UI"/>
              </a:rPr>
              <a:t>80 decoder layers  ·  ~140GB of fp16 weights</a:t>
            </a:r>
          </a:p>
        </p:txBody>
      </p:sp>
      <p:sp>
        <p:nvSpPr>
          <p:cNvPr id="12" name="#s1-strap"/>
          <p:cNvSpPr/>
          <p:nvPr/>
        </p:nvSpPr>
        <p:spPr>
          <a:xfrm>
            <a:off x="0" y="6192000"/>
            <a:ext cx="12192000" cy="666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r>
              <a:rPr sz="1800" b="1" dirty="0">
                <a:solidFill>
                  <a:srgbClr val="FFFFFF"/>
                </a:solidFill>
                <a:latin typeface="Segoe UI"/>
              </a:rPr>
              <a:t>PhD</a:t>
            </a:r>
            <a:r>
              <a:rPr lang="en-IN" sz="1800" b="1" dirty="0">
                <a:solidFill>
                  <a:srgbClr val="FFFFFF"/>
                </a:solidFill>
                <a:latin typeface="Segoe UI"/>
              </a:rPr>
              <a:t> Recent Trends</a:t>
            </a:r>
            <a:r>
              <a:rPr sz="1800" b="1" dirty="0">
                <a:solidFill>
                  <a:srgbClr val="FFFFFF"/>
                </a:solidFill>
                <a:latin typeface="Segoe UI"/>
              </a:rPr>
              <a:t> Seminar  ·  </a:t>
            </a:r>
            <a:r>
              <a:rPr lang="en-IN" sz="1800" b="1" dirty="0">
                <a:solidFill>
                  <a:srgbClr val="FFFFFF"/>
                </a:solidFill>
                <a:latin typeface="Segoe UI"/>
              </a:rPr>
              <a:t>July</a:t>
            </a:r>
            <a:r>
              <a:rPr sz="1800" b="1" dirty="0">
                <a:solidFill>
                  <a:srgbClr val="FFFFFF"/>
                </a:solidFill>
                <a:latin typeface="Segoe UI"/>
              </a:rPr>
              <a:t> 2026</a:t>
            </a:r>
            <a:r>
              <a:rPr lang="en-IN" sz="1800" b="1" dirty="0">
                <a:solidFill>
                  <a:srgbClr val="FFFFFF"/>
                </a:solidFill>
                <a:latin typeface="Segoe UI"/>
              </a:rPr>
              <a:t> Batch · Semester 1 · Bhavya </a:t>
            </a:r>
            <a:r>
              <a:rPr lang="en-IN" sz="1800" b="1" dirty="0" err="1">
                <a:solidFill>
                  <a:srgbClr val="FFFFFF"/>
                </a:solidFill>
                <a:latin typeface="Segoe UI"/>
              </a:rPr>
              <a:t>Popat</a:t>
            </a:r>
            <a:endParaRPr sz="1800" b="1" dirty="0">
              <a:solidFill>
                <a:srgbClr val="FFFFFF"/>
              </a:solidFill>
              <a:latin typeface="Segoe UI"/>
            </a:endParaRPr>
          </a:p>
        </p:txBody>
      </p:sp>
      <p:pic>
        <p:nvPicPr>
          <p:cNvPr id="18" name="Picture 17">
            <a:extLst>
              <a:ext uri="{FF2B5EF4-FFF2-40B4-BE49-F238E27FC236}">
                <a16:creationId xmlns:a16="http://schemas.microsoft.com/office/drawing/2014/main" id="{EB0DF87A-F8F7-8D67-1055-7EBB08A8AC80}"/>
              </a:ext>
            </a:extLst>
          </p:cNvPr>
          <p:cNvPicPr>
            <a:picLocks noChangeAspect="1"/>
          </p:cNvPicPr>
          <p:nvPr/>
        </p:nvPicPr>
        <p:blipFill>
          <a:blip r:embed="rId3"/>
          <a:stretch>
            <a:fillRect/>
          </a:stretch>
        </p:blipFill>
        <p:spPr>
          <a:xfrm>
            <a:off x="9794500" y="146164"/>
            <a:ext cx="2203628" cy="5558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hero_badge"/>
          <p:cNvSpPr/>
          <p:nvPr/>
        </p:nvSpPr>
        <p:spPr>
          <a:xfrm>
            <a:off x="457200" y="306000"/>
            <a:ext cx="3960000" cy="972000"/>
          </a:xfrm>
          <a:prstGeom prst="roundRect">
            <a:avLst>
              <a:gd name="adj" fmla="val 14814"/>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r>
              <a:rPr sz="2800" b="1">
                <a:solidFill>
                  <a:srgbClr val="FFFFFF"/>
                </a:solidFill>
                <a:latin typeface="Segoe UI"/>
              </a:rPr>
              <a:t>70B Model (140GB)</a:t>
            </a:r>
          </a:p>
        </p:txBody>
      </p:sp>
      <p:sp>
        <p:nvSpPr>
          <p:cNvPr id="3" name="#s2-title"/>
          <p:cNvSpPr txBox="1"/>
          <p:nvPr/>
        </p:nvSpPr>
        <p:spPr>
          <a:xfrm>
            <a:off x="4680000" y="251999"/>
            <a:ext cx="7056000" cy="1080000"/>
          </a:xfrm>
          <a:prstGeom prst="rect">
            <a:avLst/>
          </a:prstGeom>
          <a:noFill/>
          <a:ln>
            <a:noFill/>
          </a:ln>
        </p:spPr>
        <p:txBody>
          <a:bodyPr wrap="square" lIns="108000" tIns="54000" rIns="108000" bIns="54000" anchor="ctr">
            <a:noAutofit/>
          </a:bodyPr>
          <a:lstStyle/>
          <a:p>
            <a:pPr algn="l"/>
            <a:r>
              <a:rPr sz="4000" b="1">
                <a:solidFill>
                  <a:srgbClr val="14213D"/>
                </a:solidFill>
                <a:latin typeface="Segoe UI"/>
              </a:rPr>
              <a:t>The Core Problem</a:t>
            </a:r>
          </a:p>
          <a:p>
            <a:pPr algn="l"/>
            <a:r>
              <a:rPr sz="2000" b="0">
                <a:solidFill>
                  <a:srgbClr val="4A5568"/>
                </a:solidFill>
                <a:latin typeface="Segoe UI"/>
              </a:rPr>
              <a:t>Traditional loading: every weight resident at once</a:t>
            </a:r>
          </a:p>
        </p:txBody>
      </p:sp>
      <p:sp>
        <p:nvSpPr>
          <p:cNvPr id="4" name="!!actor-layer_1"/>
          <p:cNvSpPr/>
          <p:nvPr/>
        </p:nvSpPr>
        <p:spPr>
          <a:xfrm>
            <a:off x="781200" y="1638000"/>
            <a:ext cx="3311999" cy="450000"/>
          </a:xfrm>
          <a:prstGeom prst="roundRect">
            <a:avLst>
              <a:gd name="adj" fmla="val 14399"/>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L1</a:t>
            </a:r>
          </a:p>
        </p:txBody>
      </p:sp>
      <p:sp>
        <p:nvSpPr>
          <p:cNvPr id="5" name="!!actor-layer_2"/>
          <p:cNvSpPr/>
          <p:nvPr/>
        </p:nvSpPr>
        <p:spPr>
          <a:xfrm>
            <a:off x="781200" y="2196000"/>
            <a:ext cx="3311999" cy="450000"/>
          </a:xfrm>
          <a:prstGeom prst="roundRect">
            <a:avLst>
              <a:gd name="adj" fmla="val 14399"/>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L2</a:t>
            </a:r>
          </a:p>
        </p:txBody>
      </p:sp>
      <p:sp>
        <p:nvSpPr>
          <p:cNvPr id="6" name="!!actor-layer_3"/>
          <p:cNvSpPr/>
          <p:nvPr/>
        </p:nvSpPr>
        <p:spPr>
          <a:xfrm>
            <a:off x="781200" y="2754000"/>
            <a:ext cx="3311999" cy="450000"/>
          </a:xfrm>
          <a:prstGeom prst="roundRect">
            <a:avLst>
              <a:gd name="adj" fmla="val 14399"/>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L3</a:t>
            </a:r>
          </a:p>
        </p:txBody>
      </p:sp>
      <p:sp>
        <p:nvSpPr>
          <p:cNvPr id="7" name="!!actor-layer_4"/>
          <p:cNvSpPr/>
          <p:nvPr/>
        </p:nvSpPr>
        <p:spPr>
          <a:xfrm>
            <a:off x="781200" y="3311999"/>
            <a:ext cx="3311999" cy="450000"/>
          </a:xfrm>
          <a:prstGeom prst="roundRect">
            <a:avLst>
              <a:gd name="adj" fmla="val 14399"/>
            </a:avLst>
          </a:prstGeom>
          <a:solidFill>
            <a:srgbClr val="C9D6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a:t>
            </a:r>
          </a:p>
        </p:txBody>
      </p:sp>
      <p:sp>
        <p:nvSpPr>
          <p:cNvPr id="8" name="!!actor-layer_5"/>
          <p:cNvSpPr/>
          <p:nvPr/>
        </p:nvSpPr>
        <p:spPr>
          <a:xfrm>
            <a:off x="781200" y="3870000"/>
            <a:ext cx="3311999" cy="450000"/>
          </a:xfrm>
          <a:prstGeom prst="roundRect">
            <a:avLst>
              <a:gd name="adj" fmla="val 14399"/>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L79</a:t>
            </a:r>
          </a:p>
        </p:txBody>
      </p:sp>
      <p:sp>
        <p:nvSpPr>
          <p:cNvPr id="9" name="!!actor-layer_6"/>
          <p:cNvSpPr/>
          <p:nvPr/>
        </p:nvSpPr>
        <p:spPr>
          <a:xfrm>
            <a:off x="781200" y="4428000"/>
            <a:ext cx="3311999" cy="450000"/>
          </a:xfrm>
          <a:prstGeom prst="roundRect">
            <a:avLst>
              <a:gd name="adj" fmla="val 14399"/>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L80</a:t>
            </a:r>
          </a:p>
        </p:txBody>
      </p:sp>
      <p:sp>
        <p:nvSpPr>
          <p:cNvPr id="10" name="#s2-tower_label"/>
          <p:cNvSpPr txBox="1"/>
          <p:nvPr/>
        </p:nvSpPr>
        <p:spPr>
          <a:xfrm>
            <a:off x="457200" y="4968000"/>
            <a:ext cx="3960000" cy="324000"/>
          </a:xfrm>
          <a:prstGeom prst="rect">
            <a:avLst/>
          </a:prstGeom>
          <a:noFill/>
          <a:ln>
            <a:noFill/>
          </a:ln>
        </p:spPr>
        <p:txBody>
          <a:bodyPr wrap="square" lIns="108000" tIns="54000" rIns="108000" bIns="54000" anchor="ctr">
            <a:noAutofit/>
          </a:bodyPr>
          <a:lstStyle/>
          <a:p>
            <a:pPr algn="ctr"/>
            <a:r>
              <a:rPr sz="1800" b="0">
                <a:solidFill>
                  <a:srgbClr val="4A5568"/>
                </a:solidFill>
                <a:latin typeface="Segoe UI"/>
              </a:rPr>
              <a:t>All 80 layers, loaded up front</a:t>
            </a:r>
          </a:p>
        </p:txBody>
      </p:sp>
      <p:sp>
        <p:nvSpPr>
          <p:cNvPr id="11" name="#s2-arrow_label"/>
          <p:cNvSpPr txBox="1"/>
          <p:nvPr/>
        </p:nvSpPr>
        <p:spPr>
          <a:xfrm>
            <a:off x="4464000" y="2358000"/>
            <a:ext cx="2664000" cy="360000"/>
          </a:xfrm>
          <a:prstGeom prst="rect">
            <a:avLst/>
          </a:prstGeom>
          <a:noFill/>
          <a:ln>
            <a:noFill/>
          </a:ln>
        </p:spPr>
        <p:txBody>
          <a:bodyPr wrap="square" lIns="108000" tIns="54000" rIns="108000" bIns="54000" anchor="ctr">
            <a:noAutofit/>
          </a:bodyPr>
          <a:lstStyle/>
          <a:p>
            <a:pPr algn="ctr"/>
            <a:r>
              <a:rPr sz="1800" b="1">
                <a:solidFill>
                  <a:srgbClr val="4A5568"/>
                </a:solidFill>
                <a:latin typeface="Segoe UI"/>
              </a:rPr>
              <a:t>Load every layer</a:t>
            </a:r>
          </a:p>
        </p:txBody>
      </p:sp>
      <p:sp>
        <p:nvSpPr>
          <p:cNvPr id="12" name="#s2-load_arrow"/>
          <p:cNvSpPr/>
          <p:nvPr/>
        </p:nvSpPr>
        <p:spPr>
          <a:xfrm>
            <a:off x="4644000" y="2790000"/>
            <a:ext cx="2304000" cy="648000"/>
          </a:xfrm>
          <a:prstGeom prst="rightArrow">
            <a:avLst/>
          </a:prstGeom>
          <a:solidFill>
            <a:srgbClr val="8A99B0"/>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3" name="#s2-gpu_wall"/>
          <p:cNvSpPr/>
          <p:nvPr/>
        </p:nvSpPr>
        <p:spPr>
          <a:xfrm>
            <a:off x="7200000" y="1638000"/>
            <a:ext cx="4536000" cy="3240000"/>
          </a:xfrm>
          <a:prstGeom prst="roundRect">
            <a:avLst>
              <a:gd name="adj" fmla="val 3888"/>
            </a:avLst>
          </a:prstGeom>
          <a:solidFill>
            <a:srgbClr val="FFFFFF"/>
          </a:solidFill>
          <a:ln w="444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spcAft>
                <a:spcPts val="200"/>
              </a:spcAft>
            </a:pPr>
            <a:r>
              <a:rPr sz="3400" b="1">
                <a:solidFill>
                  <a:srgbClr val="C8102E"/>
                </a:solidFill>
                <a:latin typeface="Segoe UI"/>
              </a:rPr>
              <a:t>4GB VRAM Limit</a:t>
            </a:r>
          </a:p>
          <a:p>
            <a:pPr algn="ctr">
              <a:spcAft>
                <a:spcPts val="1200"/>
              </a:spcAft>
            </a:pPr>
            <a:r>
              <a:rPr sz="3400" b="1">
                <a:solidFill>
                  <a:srgbClr val="C8102E"/>
                </a:solidFill>
                <a:latin typeface="Segoe UI"/>
              </a:rPr>
              <a:t>→ OOM Crash</a:t>
            </a:r>
          </a:p>
          <a:p>
            <a:pPr algn="ctr"/>
            <a:r>
              <a:rPr sz="2000" b="0">
                <a:solidFill>
                  <a:srgbClr val="14213D"/>
                </a:solidFill>
                <a:latin typeface="Segoe UI"/>
              </a:rPr>
              <a:t>Needs 140GB resident:</a:t>
            </a:r>
            <a:br/>
            <a:r>
              <a:rPr sz="2000" b="0">
                <a:solidFill>
                  <a:srgbClr val="14213D"/>
                </a:solidFill>
                <a:latin typeface="Segoe UI"/>
              </a:rPr>
              <a:t>35× the 4GB budget</a:t>
            </a:r>
          </a:p>
        </p:txBody>
      </p:sp>
      <p:sp>
        <p:nvSpPr>
          <p:cNvPr id="14" name="!!subtitle"/>
          <p:cNvSpPr txBox="1"/>
          <p:nvPr/>
        </p:nvSpPr>
        <p:spPr>
          <a:xfrm>
            <a:off x="457200" y="5508000"/>
            <a:ext cx="11277600" cy="648000"/>
          </a:xfrm>
          <a:prstGeom prst="rect">
            <a:avLst/>
          </a:prstGeom>
          <a:solidFill>
            <a:srgbClr val="FCE8EA"/>
          </a:solidFill>
          <a:ln>
            <a:noFill/>
          </a:ln>
        </p:spPr>
        <p:txBody>
          <a:bodyPr wrap="square" lIns="108000" tIns="54000" rIns="108000" bIns="54000" anchor="ctr">
            <a:noAutofit/>
          </a:bodyPr>
          <a:lstStyle/>
          <a:p>
            <a:pPr algn="ctr"/>
            <a:r>
              <a:rPr sz="2400" b="1">
                <a:solidFill>
                  <a:srgbClr val="14213D"/>
                </a:solidFill>
                <a:latin typeface="Segoe UI"/>
              </a:rPr>
              <a:t>Full weights must reside simultaneously in memory.</a:t>
            </a:r>
          </a:p>
        </p:txBody>
      </p:sp>
      <p:pic>
        <p:nvPicPr>
          <p:cNvPr id="17" name="Picture 16">
            <a:extLst>
              <a:ext uri="{FF2B5EF4-FFF2-40B4-BE49-F238E27FC236}">
                <a16:creationId xmlns:a16="http://schemas.microsoft.com/office/drawing/2014/main" id="{DA6A794B-D569-713B-4402-9AD94F88DE8E}"/>
              </a:ext>
            </a:extLst>
          </p:cNvPr>
          <p:cNvPicPr>
            <a:picLocks noChangeAspect="1"/>
          </p:cNvPicPr>
          <p:nvPr/>
        </p:nvPicPr>
        <p:blipFill>
          <a:blip r:embed="rId3"/>
          <a:stretch>
            <a:fillRect/>
          </a:stretch>
        </p:blipFill>
        <p:spPr>
          <a:xfrm>
            <a:off x="9794500" y="146164"/>
            <a:ext cx="2203628" cy="5558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p14="http://schemas.microsoft.com/office/powerpoint/2010/main"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3-title"/>
          <p:cNvSpPr txBox="1"/>
          <p:nvPr/>
        </p:nvSpPr>
        <p:spPr>
          <a:xfrm>
            <a:off x="457200" y="251999"/>
            <a:ext cx="7920000" cy="1080000"/>
          </a:xfrm>
          <a:prstGeom prst="rect">
            <a:avLst/>
          </a:prstGeom>
          <a:noFill/>
          <a:ln>
            <a:noFill/>
          </a:ln>
        </p:spPr>
        <p:txBody>
          <a:bodyPr wrap="square" lIns="108000" tIns="54000" rIns="108000" bIns="54000" anchor="ctr">
            <a:noAutofit/>
          </a:bodyPr>
          <a:lstStyle/>
          <a:p>
            <a:pPr algn="l"/>
            <a:r>
              <a:rPr sz="4000" b="1">
                <a:solidFill>
                  <a:srgbClr val="14213D"/>
                </a:solidFill>
                <a:latin typeface="Segoe UI"/>
              </a:rPr>
              <a:t>The AirLLM Solution</a:t>
            </a:r>
          </a:p>
          <a:p>
            <a:pPr algn="l"/>
            <a:r>
              <a:rPr sz="2000" b="0">
                <a:solidFill>
                  <a:srgbClr val="4A5568"/>
                </a:solidFill>
                <a:latin typeface="Segoe UI"/>
              </a:rPr>
              <a:t>Page-by-page streaming: one layer at a time</a:t>
            </a:r>
          </a:p>
        </p:txBody>
      </p:sp>
      <p:sp>
        <p:nvSpPr>
          <p:cNvPr id="3" name="!!hero_badge"/>
          <p:cNvSpPr/>
          <p:nvPr/>
        </p:nvSpPr>
        <p:spPr>
          <a:xfrm>
            <a:off x="457200" y="1422000"/>
            <a:ext cx="3384000" cy="4176000"/>
          </a:xfrm>
          <a:prstGeom prst="ca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t">
            <a:noAutofit/>
          </a:bodyPr>
          <a:lstStyle/>
          <a:p>
            <a:pPr algn="ctr"/>
            <a:r>
              <a:rPr sz="2600" b="1">
                <a:solidFill>
                  <a:srgbClr val="FFFFFF"/>
                </a:solidFill>
                <a:latin typeface="Segoe UI"/>
              </a:rPr>
              <a:t>Disk Shards</a:t>
            </a:r>
          </a:p>
          <a:p>
            <a:pPr algn="ctr"/>
            <a:r>
              <a:rPr sz="2000" b="0">
                <a:solidFill>
                  <a:srgbClr val="C9D6EA"/>
                </a:solidFill>
                <a:latin typeface="Segoe UI"/>
              </a:rPr>
              <a:t>(80 Layers)</a:t>
            </a:r>
          </a:p>
        </p:txBody>
      </p:sp>
      <p:sp>
        <p:nvSpPr>
          <p:cNvPr id="4" name="!!actor-layer_3"/>
          <p:cNvSpPr/>
          <p:nvPr/>
        </p:nvSpPr>
        <p:spPr>
          <a:xfrm>
            <a:off x="817200" y="3186000"/>
            <a:ext cx="2664000" cy="413999"/>
          </a:xfrm>
          <a:prstGeom prst="roundRect">
            <a:avLst>
              <a:gd name="adj" fmla="val 15652"/>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L3</a:t>
            </a:r>
          </a:p>
        </p:txBody>
      </p:sp>
      <p:sp>
        <p:nvSpPr>
          <p:cNvPr id="5" name="!!actor-layer_4"/>
          <p:cNvSpPr/>
          <p:nvPr/>
        </p:nvSpPr>
        <p:spPr>
          <a:xfrm>
            <a:off x="817200" y="3690000"/>
            <a:ext cx="2664000" cy="413999"/>
          </a:xfrm>
          <a:prstGeom prst="roundRect">
            <a:avLst>
              <a:gd name="adj" fmla="val 15652"/>
            </a:avLst>
          </a:prstGeom>
          <a:solidFill>
            <a:srgbClr val="C9D6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a:t>
            </a:r>
          </a:p>
        </p:txBody>
      </p:sp>
      <p:sp>
        <p:nvSpPr>
          <p:cNvPr id="6" name="!!actor-layer_5"/>
          <p:cNvSpPr/>
          <p:nvPr/>
        </p:nvSpPr>
        <p:spPr>
          <a:xfrm>
            <a:off x="817200" y="4193999"/>
            <a:ext cx="2664000" cy="413999"/>
          </a:xfrm>
          <a:prstGeom prst="roundRect">
            <a:avLst>
              <a:gd name="adj" fmla="val 15652"/>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L79</a:t>
            </a:r>
          </a:p>
        </p:txBody>
      </p:sp>
      <p:sp>
        <p:nvSpPr>
          <p:cNvPr id="7" name="!!actor-layer_6"/>
          <p:cNvSpPr/>
          <p:nvPr/>
        </p:nvSpPr>
        <p:spPr>
          <a:xfrm>
            <a:off x="817200" y="4698000"/>
            <a:ext cx="2664000" cy="413999"/>
          </a:xfrm>
          <a:prstGeom prst="roundRect">
            <a:avLst>
              <a:gd name="adj" fmla="val 15652"/>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L80</a:t>
            </a:r>
          </a:p>
        </p:txBody>
      </p:sp>
      <p:sp>
        <p:nvSpPr>
          <p:cNvPr id="8" name="#s3-stream_arrow"/>
          <p:cNvSpPr/>
          <p:nvPr/>
        </p:nvSpPr>
        <p:spPr>
          <a:xfrm>
            <a:off x="3978000" y="2718000"/>
            <a:ext cx="792000" cy="54000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9" name="#s3-gpu_window"/>
          <p:cNvSpPr/>
          <p:nvPr/>
        </p:nvSpPr>
        <p:spPr>
          <a:xfrm>
            <a:off x="4896000" y="1422000"/>
            <a:ext cx="3671999" cy="2988000"/>
          </a:xfrm>
          <a:prstGeom prst="roundRect">
            <a:avLst>
              <a:gd name="adj" fmla="val 4216"/>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125999" rIns="108000" bIns="125999" rtlCol="0" anchor="t">
            <a:noAutofit/>
          </a:bodyPr>
          <a:lstStyle/>
          <a:p>
            <a:pPr algn="ctr"/>
            <a:r>
              <a:rPr sz="2600" b="1">
                <a:solidFill>
                  <a:srgbClr val="FFFFFF"/>
                </a:solidFill>
                <a:latin typeface="Segoe UI"/>
              </a:rPr>
              <a:t>1 Layer in VRAM</a:t>
            </a:r>
            <a:br/>
            <a:r>
              <a:rPr sz="2600" b="1">
                <a:solidFill>
                  <a:srgbClr val="FFFFFF"/>
                </a:solidFill>
                <a:latin typeface="Segoe UI"/>
              </a:rPr>
              <a:t>(~2.4GB)</a:t>
            </a:r>
          </a:p>
        </p:txBody>
      </p:sp>
      <p:sp>
        <p:nvSpPr>
          <p:cNvPr id="10" name="!!actor-layer_1"/>
          <p:cNvSpPr/>
          <p:nvPr/>
        </p:nvSpPr>
        <p:spPr>
          <a:xfrm>
            <a:off x="5364000" y="2556000"/>
            <a:ext cx="2736000" cy="54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2000" b="1">
                <a:solidFill>
                  <a:srgbClr val="1F6FEB"/>
                </a:solidFill>
                <a:latin typeface="Segoe UI"/>
              </a:rPr>
              <a:t>L1 · computing</a:t>
            </a:r>
          </a:p>
        </p:txBody>
      </p:sp>
      <p:sp>
        <p:nvSpPr>
          <p:cNvPr id="11" name="#s3-vram_track"/>
          <p:cNvSpPr/>
          <p:nvPr/>
        </p:nvSpPr>
        <p:spPr>
          <a:xfrm>
            <a:off x="5364000" y="3581999"/>
            <a:ext cx="2736000" cy="180000"/>
          </a:xfrm>
          <a:prstGeom prst="roundRect">
            <a:avLst>
              <a:gd name="adj" fmla="val 50000"/>
            </a:avLst>
          </a:prstGeom>
          <a:solidFill>
            <a:srgbClr val="1650B8"/>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2" name="#s3-vram_used"/>
          <p:cNvSpPr/>
          <p:nvPr/>
        </p:nvSpPr>
        <p:spPr>
          <a:xfrm>
            <a:off x="5364000" y="3581999"/>
            <a:ext cx="1641599" cy="180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3" name="#s3-vram_label"/>
          <p:cNvSpPr txBox="1"/>
          <p:nvPr/>
        </p:nvSpPr>
        <p:spPr>
          <a:xfrm>
            <a:off x="4896000" y="3798000"/>
            <a:ext cx="3671999" cy="324000"/>
          </a:xfrm>
          <a:prstGeom prst="rect">
            <a:avLst/>
          </a:prstGeom>
          <a:noFill/>
          <a:ln>
            <a:noFill/>
          </a:ln>
        </p:spPr>
        <p:txBody>
          <a:bodyPr wrap="square" lIns="108000" tIns="54000" rIns="108000" bIns="54000" anchor="ctr">
            <a:noAutofit/>
          </a:bodyPr>
          <a:lstStyle/>
          <a:p>
            <a:pPr algn="ctr"/>
            <a:r>
              <a:rPr sz="1800" b="0">
                <a:solidFill>
                  <a:srgbClr val="FFFFFF"/>
                </a:solidFill>
                <a:latin typeface="Segoe UI"/>
              </a:rPr>
              <a:t>Fits inside the 4GB budget</a:t>
            </a:r>
          </a:p>
        </p:txBody>
      </p:sp>
      <p:sp>
        <p:nvSpPr>
          <p:cNvPr id="14" name="!!actor-layer_2"/>
          <p:cNvSpPr/>
          <p:nvPr/>
        </p:nvSpPr>
        <p:spPr>
          <a:xfrm>
            <a:off x="5364000" y="4626000"/>
            <a:ext cx="2736000" cy="468000"/>
          </a:xfrm>
          <a:prstGeom prst="roundRect">
            <a:avLst>
              <a:gd name="adj" fmla="val 13846"/>
            </a:avLst>
          </a:prstGeom>
          <a:solidFill>
            <a:srgbClr val="E3EDFD"/>
          </a:solidFill>
          <a:ln w="19050">
            <a:solidFill>
              <a:srgbClr val="1F6FEB"/>
            </a:solidFill>
            <a:prstDash val="dash"/>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F6FEB"/>
                </a:solidFill>
                <a:latin typeface="Segoe UI"/>
              </a:rPr>
              <a:t>L2 · prefetching</a:t>
            </a:r>
          </a:p>
        </p:txBody>
      </p:sp>
      <p:sp>
        <p:nvSpPr>
          <p:cNvPr id="15" name="#s3-step_compute"/>
          <p:cNvSpPr/>
          <p:nvPr/>
        </p:nvSpPr>
        <p:spPr>
          <a:xfrm>
            <a:off x="8856000" y="1422000"/>
            <a:ext cx="2880000" cy="1098000"/>
          </a:xfrm>
          <a:prstGeom prst="roundRect">
            <a:avLst>
              <a:gd name="adj" fmla="val 9836"/>
            </a:avLst>
          </a:prstGeom>
          <a:solidFill>
            <a:srgbClr val="FFFFFF"/>
          </a:solidFill>
          <a:ln w="12700">
            <a:solidFill>
              <a:srgbClr val="D3DAE5"/>
            </a:solidFill>
          </a:ln>
          <a:effectLst/>
        </p:spPr>
        <p:style>
          <a:lnRef idx="1">
            <a:schemeClr val="accent1"/>
          </a:lnRef>
          <a:fillRef idx="3">
            <a:schemeClr val="accent1"/>
          </a:fillRef>
          <a:effectRef idx="2">
            <a:schemeClr val="accent1"/>
          </a:effectRef>
          <a:fontRef idx="minor">
            <a:schemeClr val="lt1"/>
          </a:fontRef>
        </p:style>
        <p:txBody>
          <a:bodyPr wrap="square" lIns="125999" tIns="54000" rIns="125999" bIns="54000" rtlCol="0" anchor="ctr">
            <a:noAutofit/>
          </a:bodyPr>
          <a:lstStyle/>
          <a:p>
            <a:pPr algn="l">
              <a:spcAft>
                <a:spcPts val="200"/>
              </a:spcAft>
            </a:pPr>
            <a:r>
              <a:rPr sz="2200" b="1">
                <a:solidFill>
                  <a:srgbClr val="1F6FEB"/>
                </a:solidFill>
                <a:latin typeface="Segoe UI"/>
              </a:rPr>
              <a:t>1 · Compute</a:t>
            </a:r>
          </a:p>
          <a:p>
            <a:pPr algn="l"/>
            <a:r>
              <a:rPr sz="1800" b="0">
                <a:solidFill>
                  <a:srgbClr val="14213D"/>
                </a:solidFill>
                <a:latin typeface="Segoe UI"/>
              </a:rPr>
              <a:t>Run layer N on GPU (Flash Attention)</a:t>
            </a:r>
          </a:p>
        </p:txBody>
      </p:sp>
      <p:sp>
        <p:nvSpPr>
          <p:cNvPr id="16" name="#s3-step_evict"/>
          <p:cNvSpPr/>
          <p:nvPr/>
        </p:nvSpPr>
        <p:spPr>
          <a:xfrm>
            <a:off x="8856000" y="2628000"/>
            <a:ext cx="2880000" cy="1098000"/>
          </a:xfrm>
          <a:prstGeom prst="roundRect">
            <a:avLst>
              <a:gd name="adj" fmla="val 9836"/>
            </a:avLst>
          </a:prstGeom>
          <a:solidFill>
            <a:srgbClr val="FFFFFF"/>
          </a:solidFill>
          <a:ln w="12700">
            <a:solidFill>
              <a:srgbClr val="D3DAE5"/>
            </a:solidFill>
          </a:ln>
          <a:effectLst/>
        </p:spPr>
        <p:style>
          <a:lnRef idx="1">
            <a:schemeClr val="accent1"/>
          </a:lnRef>
          <a:fillRef idx="3">
            <a:schemeClr val="accent1"/>
          </a:fillRef>
          <a:effectRef idx="2">
            <a:schemeClr val="accent1"/>
          </a:effectRef>
          <a:fontRef idx="minor">
            <a:schemeClr val="lt1"/>
          </a:fontRef>
        </p:style>
        <p:txBody>
          <a:bodyPr wrap="square" lIns="125999" tIns="54000" rIns="125999" bIns="54000" rtlCol="0" anchor="ctr">
            <a:noAutofit/>
          </a:bodyPr>
          <a:lstStyle/>
          <a:p>
            <a:pPr algn="l">
              <a:spcAft>
                <a:spcPts val="200"/>
              </a:spcAft>
            </a:pPr>
            <a:r>
              <a:rPr sz="2200" b="1">
                <a:solidFill>
                  <a:srgbClr val="1F6FEB"/>
                </a:solidFill>
                <a:latin typeface="Segoe UI"/>
              </a:rPr>
              <a:t>2 · Evict</a:t>
            </a:r>
          </a:p>
          <a:p>
            <a:pPr algn="l"/>
            <a:r>
              <a:rPr sz="1800" b="0">
                <a:solidFill>
                  <a:srgbClr val="14213D"/>
                </a:solidFill>
                <a:latin typeface="Segoe UI"/>
              </a:rPr>
              <a:t>Free layer N's weights from VRAM</a:t>
            </a:r>
          </a:p>
        </p:txBody>
      </p:sp>
      <p:sp>
        <p:nvSpPr>
          <p:cNvPr id="17" name="#s3-step_prefetch"/>
          <p:cNvSpPr/>
          <p:nvPr/>
        </p:nvSpPr>
        <p:spPr>
          <a:xfrm>
            <a:off x="8856000" y="3834000"/>
            <a:ext cx="2880000" cy="1098000"/>
          </a:xfrm>
          <a:prstGeom prst="roundRect">
            <a:avLst>
              <a:gd name="adj" fmla="val 9836"/>
            </a:avLst>
          </a:prstGeom>
          <a:solidFill>
            <a:srgbClr val="FFFFFF"/>
          </a:solidFill>
          <a:ln w="12700">
            <a:solidFill>
              <a:srgbClr val="D3DAE5"/>
            </a:solidFill>
          </a:ln>
          <a:effectLst/>
        </p:spPr>
        <p:style>
          <a:lnRef idx="1">
            <a:schemeClr val="accent1"/>
          </a:lnRef>
          <a:fillRef idx="3">
            <a:schemeClr val="accent1"/>
          </a:fillRef>
          <a:effectRef idx="2">
            <a:schemeClr val="accent1"/>
          </a:effectRef>
          <a:fontRef idx="minor">
            <a:schemeClr val="lt1"/>
          </a:fontRef>
        </p:style>
        <p:txBody>
          <a:bodyPr wrap="square" lIns="125999" tIns="54000" rIns="125999" bIns="54000" rtlCol="0" anchor="ctr">
            <a:noAutofit/>
          </a:bodyPr>
          <a:lstStyle/>
          <a:p>
            <a:pPr algn="l">
              <a:spcAft>
                <a:spcPts val="200"/>
              </a:spcAft>
            </a:pPr>
            <a:r>
              <a:rPr sz="2200" b="1">
                <a:solidFill>
                  <a:srgbClr val="1F6FEB"/>
                </a:solidFill>
                <a:latin typeface="Segoe UI"/>
              </a:rPr>
              <a:t>3 · Prefetch</a:t>
            </a:r>
          </a:p>
          <a:p>
            <a:pPr algn="l"/>
            <a:r>
              <a:rPr sz="1800" b="0">
                <a:solidFill>
                  <a:srgbClr val="14213D"/>
                </a:solidFill>
                <a:latin typeface="Segoe UI"/>
              </a:rPr>
              <a:t>Load layer N+1 from disk while N runs</a:t>
            </a:r>
          </a:p>
        </p:txBody>
      </p:sp>
      <p:sp>
        <p:nvSpPr>
          <p:cNvPr id="18" name="#s3-loop_label"/>
          <p:cNvSpPr txBox="1"/>
          <p:nvPr/>
        </p:nvSpPr>
        <p:spPr>
          <a:xfrm>
            <a:off x="8856000" y="5040000"/>
            <a:ext cx="2880000" cy="576000"/>
          </a:xfrm>
          <a:prstGeom prst="rect">
            <a:avLst/>
          </a:prstGeom>
          <a:noFill/>
          <a:ln>
            <a:noFill/>
          </a:ln>
        </p:spPr>
        <p:txBody>
          <a:bodyPr wrap="square" lIns="108000" tIns="54000" rIns="108000" bIns="54000" anchor="ctr">
            <a:noAutofit/>
          </a:bodyPr>
          <a:lstStyle/>
          <a:p>
            <a:pPr algn="ctr"/>
            <a:r>
              <a:rPr sz="1800" b="1">
                <a:solidFill>
                  <a:srgbClr val="1F6FEB"/>
                </a:solidFill>
                <a:latin typeface="Segoe UI"/>
              </a:rPr>
              <a:t>Repeat for all 80 layers, every token</a:t>
            </a:r>
          </a:p>
        </p:txBody>
      </p:sp>
      <p:sp>
        <p:nvSpPr>
          <p:cNvPr id="19" name="#s2-gpu_wall"/>
          <p:cNvSpPr/>
          <p:nvPr/>
        </p:nvSpPr>
        <p:spPr>
          <a:xfrm>
            <a:off x="12960000" y="1638000"/>
            <a:ext cx="4536000" cy="3240000"/>
          </a:xfrm>
          <a:prstGeom prst="roundRect">
            <a:avLst>
              <a:gd name="adj" fmla="val 3888"/>
            </a:avLst>
          </a:prstGeom>
          <a:solidFill>
            <a:srgbClr val="FFFFFF"/>
          </a:solidFill>
          <a:ln w="444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spcAft>
                <a:spcPts val="200"/>
              </a:spcAft>
            </a:pPr>
            <a:r>
              <a:rPr sz="3400" b="1">
                <a:solidFill>
                  <a:srgbClr val="C8102E"/>
                </a:solidFill>
                <a:latin typeface="Segoe UI"/>
              </a:rPr>
              <a:t>4GB VRAM Limit</a:t>
            </a:r>
          </a:p>
          <a:p>
            <a:pPr algn="ctr">
              <a:spcAft>
                <a:spcPts val="1200"/>
              </a:spcAft>
            </a:pPr>
            <a:r>
              <a:rPr sz="3400" b="1">
                <a:solidFill>
                  <a:srgbClr val="C8102E"/>
                </a:solidFill>
                <a:latin typeface="Segoe UI"/>
              </a:rPr>
              <a:t>→ OOM Crash</a:t>
            </a:r>
          </a:p>
          <a:p>
            <a:pPr algn="ctr"/>
            <a:r>
              <a:rPr sz="2000" b="0">
                <a:solidFill>
                  <a:srgbClr val="14213D"/>
                </a:solidFill>
                <a:latin typeface="Segoe UI"/>
              </a:rPr>
              <a:t>Needs 140GB resident:</a:t>
            </a:r>
            <a:br/>
            <a:r>
              <a:rPr sz="2000" b="0">
                <a:solidFill>
                  <a:srgbClr val="14213D"/>
                </a:solidFill>
                <a:latin typeface="Segoe UI"/>
              </a:rPr>
              <a:t>35× the 4GB budget</a:t>
            </a:r>
          </a:p>
        </p:txBody>
      </p:sp>
      <p:sp>
        <p:nvSpPr>
          <p:cNvPr id="20" name="!!subtitle"/>
          <p:cNvSpPr txBox="1"/>
          <p:nvPr/>
        </p:nvSpPr>
        <p:spPr>
          <a:xfrm>
            <a:off x="457200" y="5760000"/>
            <a:ext cx="11277600" cy="612000"/>
          </a:xfrm>
          <a:prstGeom prst="rect">
            <a:avLst/>
          </a:prstGeom>
          <a:solidFill>
            <a:srgbClr val="E3EDFD"/>
          </a:solidFill>
          <a:ln>
            <a:noFill/>
          </a:ln>
        </p:spPr>
        <p:txBody>
          <a:bodyPr wrap="square" lIns="108000" tIns="54000" rIns="108000" bIns="54000" anchor="ctr">
            <a:noAutofit/>
          </a:bodyPr>
          <a:lstStyle/>
          <a:p>
            <a:pPr algn="ctr"/>
            <a:r>
              <a:rPr sz="2400" b="1">
                <a:solidFill>
                  <a:srgbClr val="14213D"/>
                </a:solidFill>
                <a:latin typeface="Segoe UI"/>
              </a:rPr>
              <a:t>VRAM holds one layer at a time, never the whole model.</a:t>
            </a:r>
          </a:p>
        </p:txBody>
      </p:sp>
      <p:pic>
        <p:nvPicPr>
          <p:cNvPr id="23" name="Picture 22">
            <a:extLst>
              <a:ext uri="{FF2B5EF4-FFF2-40B4-BE49-F238E27FC236}">
                <a16:creationId xmlns:a16="http://schemas.microsoft.com/office/drawing/2014/main" id="{B73DBCBF-D688-1C28-C2FE-0F91549C3561}"/>
              </a:ext>
            </a:extLst>
          </p:cNvPr>
          <p:cNvPicPr>
            <a:picLocks noChangeAspect="1"/>
          </p:cNvPicPr>
          <p:nvPr/>
        </p:nvPicPr>
        <p:blipFill>
          <a:blip r:embed="rId3"/>
          <a:stretch>
            <a:fillRect/>
          </a:stretch>
        </p:blipFill>
        <p:spPr>
          <a:xfrm>
            <a:off x="9794500" y="146164"/>
            <a:ext cx="2203628" cy="5558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p14="http://schemas.microsoft.com/office/powerpoint/2010/main"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4-title"/>
          <p:cNvSpPr txBox="1"/>
          <p:nvPr/>
        </p:nvSpPr>
        <p:spPr>
          <a:xfrm>
            <a:off x="457200" y="251999"/>
            <a:ext cx="11277600" cy="1044000"/>
          </a:xfrm>
          <a:prstGeom prst="rect">
            <a:avLst/>
          </a:prstGeom>
          <a:noFill/>
          <a:ln>
            <a:noFill/>
          </a:ln>
        </p:spPr>
        <p:txBody>
          <a:bodyPr wrap="square" lIns="108000" tIns="54000" rIns="108000" bIns="54000" anchor="ctr">
            <a:noAutofit/>
          </a:bodyPr>
          <a:lstStyle/>
          <a:p>
            <a:pPr algn="l"/>
            <a:r>
              <a:rPr sz="4000" b="1">
                <a:solidFill>
                  <a:srgbClr val="14213D"/>
                </a:solidFill>
                <a:latin typeface="Segoe UI"/>
              </a:rPr>
              <a:t>Real-World Scale &amp; MoE Extension</a:t>
            </a:r>
          </a:p>
          <a:p>
            <a:pPr algn="l"/>
            <a:r>
              <a:rPr sz="2000" b="0">
                <a:solidFill>
                  <a:srgbClr val="4A5568"/>
                </a:solidFill>
                <a:latin typeface="Segoe UI"/>
              </a:rPr>
              <a:t>Same streaming loop, stretched to frontier-scale models</a:t>
            </a:r>
          </a:p>
        </p:txBody>
      </p:sp>
      <p:sp>
        <p:nvSpPr>
          <p:cNvPr id="3" name="!!hero_badge"/>
          <p:cNvSpPr/>
          <p:nvPr/>
        </p:nvSpPr>
        <p:spPr>
          <a:xfrm>
            <a:off x="457200" y="1350000"/>
            <a:ext cx="11277600" cy="882000"/>
          </a:xfrm>
          <a:prstGeom prst="roundRect">
            <a:avLst>
              <a:gd name="adj" fmla="val 16326"/>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r>
              <a:rPr sz="2800" b="1">
                <a:solidFill>
                  <a:srgbClr val="FFFFFF"/>
                </a:solidFill>
                <a:latin typeface="Segoe UI"/>
              </a:rPr>
              <a:t>Kimi K3 (2.8T) under 4GB   |   DeepSeek-V3 on 12GB</a:t>
            </a:r>
          </a:p>
        </p:txBody>
      </p:sp>
      <p:sp>
        <p:nvSpPr>
          <p:cNvPr id="4" name="#s4-card_moe"/>
          <p:cNvSpPr/>
          <p:nvPr/>
        </p:nvSpPr>
        <p:spPr>
          <a:xfrm>
            <a:off x="457200" y="2466000"/>
            <a:ext cx="5494800" cy="3150000"/>
          </a:xfrm>
          <a:prstGeom prst="roundRect">
            <a:avLst>
              <a:gd name="adj" fmla="val 4000"/>
            </a:avLst>
          </a:prstGeom>
          <a:solidFill>
            <a:srgbClr val="FFFFFF"/>
          </a:solidFill>
          <a:ln w="12700">
            <a:solidFill>
              <a:srgbClr val="D3DAE5"/>
            </a:solidFill>
          </a:ln>
          <a:effectLst/>
        </p:spPr>
        <p:style>
          <a:lnRef idx="1">
            <a:schemeClr val="accent1"/>
          </a:lnRef>
          <a:fillRef idx="3">
            <a:schemeClr val="accent1"/>
          </a:fillRef>
          <a:effectRef idx="2">
            <a:schemeClr val="accent1"/>
          </a:effectRef>
          <a:fontRef idx="minor">
            <a:schemeClr val="lt1"/>
          </a:fontRef>
        </p:style>
        <p:txBody>
          <a:bodyPr wrap="square" lIns="216000" tIns="162000" rIns="216000" bIns="162000" rtlCol="0" anchor="t">
            <a:noAutofit/>
          </a:bodyPr>
          <a:lstStyle/>
          <a:p>
            <a:pPr algn="l">
              <a:spcAft>
                <a:spcPts val="600"/>
              </a:spcAft>
            </a:pPr>
            <a:r>
              <a:rPr sz="2200" b="1">
                <a:solidFill>
                  <a:srgbClr val="14213D"/>
                </a:solidFill>
                <a:latin typeface="Segoe UI"/>
              </a:rPr>
              <a:t>Single-expert streaming for sparse MoE</a:t>
            </a:r>
          </a:p>
          <a:p>
            <a:pPr algn="l"/>
            <a:r>
              <a:rPr sz="1800" b="0">
                <a:solidFill>
                  <a:srgbClr val="4A5568"/>
                </a:solidFill>
                <a:latin typeface="Segoe UI"/>
              </a:rPr>
              <a:t>Kimi K3: only the experts a token routes to are streamed. Idle experts never touch VRAM.</a:t>
            </a:r>
          </a:p>
        </p:txBody>
      </p:sp>
      <p:sp>
        <p:nvSpPr>
          <p:cNvPr id="5" name="!!actor-layer_1"/>
          <p:cNvSpPr/>
          <p:nvPr/>
        </p:nvSpPr>
        <p:spPr>
          <a:xfrm>
            <a:off x="673200" y="4266000"/>
            <a:ext cx="1591600" cy="486000"/>
          </a:xfrm>
          <a:prstGeom prst="roundRect">
            <a:avLst>
              <a:gd name="adj" fmla="val 13333"/>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FFFFFF"/>
                </a:solidFill>
                <a:latin typeface="Segoe UI"/>
              </a:rPr>
              <a:t>E1 · active</a:t>
            </a:r>
          </a:p>
        </p:txBody>
      </p:sp>
      <p:sp>
        <p:nvSpPr>
          <p:cNvPr id="6" name="!!actor-layer_2"/>
          <p:cNvSpPr/>
          <p:nvPr/>
        </p:nvSpPr>
        <p:spPr>
          <a:xfrm>
            <a:off x="2408800" y="4266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E2</a:t>
            </a:r>
          </a:p>
        </p:txBody>
      </p:sp>
      <p:sp>
        <p:nvSpPr>
          <p:cNvPr id="7" name="!!actor-layer_3"/>
          <p:cNvSpPr/>
          <p:nvPr/>
        </p:nvSpPr>
        <p:spPr>
          <a:xfrm>
            <a:off x="4144400" y="4266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E3</a:t>
            </a:r>
          </a:p>
        </p:txBody>
      </p:sp>
      <p:sp>
        <p:nvSpPr>
          <p:cNvPr id="8" name="!!actor-layer_4"/>
          <p:cNvSpPr/>
          <p:nvPr/>
        </p:nvSpPr>
        <p:spPr>
          <a:xfrm>
            <a:off x="673200" y="4878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E4</a:t>
            </a:r>
          </a:p>
        </p:txBody>
      </p:sp>
      <p:sp>
        <p:nvSpPr>
          <p:cNvPr id="9" name="!!actor-layer_5"/>
          <p:cNvSpPr/>
          <p:nvPr/>
        </p:nvSpPr>
        <p:spPr>
          <a:xfrm>
            <a:off x="2408800" y="4878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E5</a:t>
            </a:r>
          </a:p>
        </p:txBody>
      </p:sp>
      <p:sp>
        <p:nvSpPr>
          <p:cNvPr id="10" name="!!actor-layer_6"/>
          <p:cNvSpPr/>
          <p:nvPr/>
        </p:nvSpPr>
        <p:spPr>
          <a:xfrm>
            <a:off x="4144400" y="4878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E6</a:t>
            </a:r>
          </a:p>
        </p:txBody>
      </p:sp>
      <p:sp>
        <p:nvSpPr>
          <p:cNvPr id="11" name="#s4-card_quant"/>
          <p:cNvSpPr/>
          <p:nvPr/>
        </p:nvSpPr>
        <p:spPr>
          <a:xfrm>
            <a:off x="6240000" y="2466000"/>
            <a:ext cx="5494800" cy="3150000"/>
          </a:xfrm>
          <a:prstGeom prst="roundRect">
            <a:avLst>
              <a:gd name="adj" fmla="val 4000"/>
            </a:avLst>
          </a:prstGeom>
          <a:solidFill>
            <a:srgbClr val="FFFFFF"/>
          </a:solidFill>
          <a:ln w="12700">
            <a:solidFill>
              <a:srgbClr val="D3DAE5"/>
            </a:solidFill>
          </a:ln>
          <a:effectLst/>
        </p:spPr>
        <p:style>
          <a:lnRef idx="1">
            <a:schemeClr val="accent1"/>
          </a:lnRef>
          <a:fillRef idx="3">
            <a:schemeClr val="accent1"/>
          </a:fillRef>
          <a:effectRef idx="2">
            <a:schemeClr val="accent1"/>
          </a:effectRef>
          <a:fontRef idx="minor">
            <a:schemeClr val="lt1"/>
          </a:fontRef>
        </p:style>
        <p:txBody>
          <a:bodyPr wrap="square" lIns="216000" tIns="162000" rIns="216000" bIns="162000" rtlCol="0" anchor="t">
            <a:noAutofit/>
          </a:bodyPr>
          <a:lstStyle/>
          <a:p>
            <a:pPr algn="l">
              <a:spcAft>
                <a:spcPts val="600"/>
              </a:spcAft>
            </a:pPr>
            <a:r>
              <a:rPr sz="2200" b="1">
                <a:solidFill>
                  <a:srgbClr val="14213D"/>
                </a:solidFill>
                <a:latin typeface="Segoe UI"/>
              </a:rPr>
              <a:t>4-bit block compression (optional)</a:t>
            </a:r>
          </a:p>
          <a:p>
            <a:pPr algn="l"/>
            <a:r>
              <a:rPr sz="1800" b="0">
                <a:solidFill>
                  <a:srgbClr val="4A5568"/>
                </a:solidFill>
                <a:latin typeface="Segoe UI"/>
              </a:rPr>
              <a:t>Weights are block-wise quantized on disk; activations stay 16-bit. Smaller shards cut disk I/O, the real bottleneck.</a:t>
            </a:r>
          </a:p>
        </p:txBody>
      </p:sp>
      <p:sp>
        <p:nvSpPr>
          <p:cNvPr id="12" name="#s4-shard16"/>
          <p:cNvSpPr/>
          <p:nvPr/>
        </p:nvSpPr>
        <p:spPr>
          <a:xfrm>
            <a:off x="6456000" y="4266000"/>
            <a:ext cx="5062800" cy="486000"/>
          </a:xfrm>
          <a:prstGeom prst="roundRect">
            <a:avLst>
              <a:gd name="adj" fmla="val 13333"/>
            </a:avLst>
          </a:prstGeom>
          <a:solidFill>
            <a:srgbClr val="5B7DB1"/>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54000" rIns="144000" bIns="54000" rtlCol="0" anchor="ctr">
            <a:noAutofit/>
          </a:bodyPr>
          <a:lstStyle/>
          <a:p>
            <a:pPr algn="l"/>
            <a:r>
              <a:rPr sz="1800" b="1">
                <a:solidFill>
                  <a:srgbClr val="FFFFFF"/>
                </a:solidFill>
                <a:latin typeface="Segoe UI"/>
              </a:rPr>
              <a:t>16-bit layer shard</a:t>
            </a:r>
          </a:p>
        </p:txBody>
      </p:sp>
      <p:sp>
        <p:nvSpPr>
          <p:cNvPr id="13" name="#s4-shard4"/>
          <p:cNvSpPr/>
          <p:nvPr/>
        </p:nvSpPr>
        <p:spPr>
          <a:xfrm>
            <a:off x="6456000" y="4878000"/>
            <a:ext cx="1265700" cy="486000"/>
          </a:xfrm>
          <a:prstGeom prst="roundRect">
            <a:avLst>
              <a:gd name="adj" fmla="val 13333"/>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r>
              <a:rPr sz="1800" b="1">
                <a:solidFill>
                  <a:srgbClr val="FFFFFF"/>
                </a:solidFill>
                <a:latin typeface="Segoe UI"/>
              </a:rPr>
              <a:t>4-bit</a:t>
            </a:r>
          </a:p>
        </p:txBody>
      </p:sp>
      <p:sp>
        <p:nvSpPr>
          <p:cNvPr id="14" name="#s4-shard4_label"/>
          <p:cNvSpPr txBox="1"/>
          <p:nvPr/>
        </p:nvSpPr>
        <p:spPr>
          <a:xfrm>
            <a:off x="7829700" y="4878000"/>
            <a:ext cx="3689100" cy="486000"/>
          </a:xfrm>
          <a:prstGeom prst="rect">
            <a:avLst/>
          </a:prstGeom>
          <a:noFill/>
          <a:ln>
            <a:noFill/>
          </a:ln>
        </p:spPr>
        <p:txBody>
          <a:bodyPr wrap="square" lIns="108000" tIns="54000" rIns="108000" bIns="54000" anchor="ctr">
            <a:noAutofit/>
          </a:bodyPr>
          <a:lstStyle/>
          <a:p>
            <a:pPr algn="l"/>
            <a:r>
              <a:rPr sz="1800" b="0">
                <a:solidFill>
                  <a:srgbClr val="14213D"/>
                </a:solidFill>
                <a:latin typeface="Segoe UI"/>
              </a:rPr>
              <a:t>≈ ¼ of the bytes to read per layer</a:t>
            </a:r>
          </a:p>
        </p:txBody>
      </p:sp>
      <p:sp>
        <p:nvSpPr>
          <p:cNvPr id="15" name="#s3-gpu_window"/>
          <p:cNvSpPr/>
          <p:nvPr/>
        </p:nvSpPr>
        <p:spPr>
          <a:xfrm>
            <a:off x="12960000" y="1422000"/>
            <a:ext cx="3671999" cy="2988000"/>
          </a:xfrm>
          <a:prstGeom prst="roundRect">
            <a:avLst>
              <a:gd name="adj" fmla="val 4216"/>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125999" rIns="108000" bIns="125999" rtlCol="0" anchor="t">
            <a:noAutofit/>
          </a:bodyPr>
          <a:lstStyle/>
          <a:p>
            <a:pPr algn="ctr"/>
            <a:r>
              <a:rPr sz="2600" b="1">
                <a:solidFill>
                  <a:srgbClr val="FFFFFF"/>
                </a:solidFill>
                <a:latin typeface="Segoe UI"/>
              </a:rPr>
              <a:t>1 Layer in VRAM</a:t>
            </a:r>
            <a:br/>
            <a:r>
              <a:rPr sz="2600" b="1">
                <a:solidFill>
                  <a:srgbClr val="FFFFFF"/>
                </a:solidFill>
                <a:latin typeface="Segoe UI"/>
              </a:rPr>
              <a:t>(~2.4GB)</a:t>
            </a:r>
          </a:p>
        </p:txBody>
      </p:sp>
      <p:sp>
        <p:nvSpPr>
          <p:cNvPr id="16" name="!!subtitle"/>
          <p:cNvSpPr txBox="1"/>
          <p:nvPr/>
        </p:nvSpPr>
        <p:spPr>
          <a:xfrm>
            <a:off x="457200" y="5778000"/>
            <a:ext cx="11277600" cy="612000"/>
          </a:xfrm>
          <a:prstGeom prst="rect">
            <a:avLst/>
          </a:prstGeom>
          <a:solidFill>
            <a:srgbClr val="E6EBF2"/>
          </a:solidFill>
          <a:ln>
            <a:noFill/>
          </a:ln>
        </p:spPr>
        <p:txBody>
          <a:bodyPr wrap="square" lIns="108000" tIns="54000" rIns="108000" bIns="54000" anchor="ctr">
            <a:noAutofit/>
          </a:bodyPr>
          <a:lstStyle/>
          <a:p>
            <a:pPr algn="ctr"/>
            <a:r>
              <a:rPr sz="2400" b="1">
                <a:solidFill>
                  <a:srgbClr val="14213D"/>
                </a:solidFill>
                <a:latin typeface="Segoe UI"/>
              </a:rPr>
              <a:t>Fewer bytes per token → bigger models, same small GPU.</a:t>
            </a:r>
          </a:p>
        </p:txBody>
      </p:sp>
      <p:pic>
        <p:nvPicPr>
          <p:cNvPr id="19" name="Picture 18">
            <a:extLst>
              <a:ext uri="{FF2B5EF4-FFF2-40B4-BE49-F238E27FC236}">
                <a16:creationId xmlns:a16="http://schemas.microsoft.com/office/drawing/2014/main" id="{7D76D1C3-D7AE-7AD6-6A8B-0F55B7198CBB}"/>
              </a:ext>
            </a:extLst>
          </p:cNvPr>
          <p:cNvPicPr>
            <a:picLocks noChangeAspect="1"/>
          </p:cNvPicPr>
          <p:nvPr/>
        </p:nvPicPr>
        <p:blipFill>
          <a:blip r:embed="rId3"/>
          <a:stretch>
            <a:fillRect/>
          </a:stretch>
        </p:blipFill>
        <p:spPr>
          <a:xfrm>
            <a:off x="9794500" y="146164"/>
            <a:ext cx="2203628" cy="5558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p14="http://schemas.microsoft.com/office/powerpoint/2010/main"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hero_badge"/>
          <p:cNvSpPr/>
          <p:nvPr/>
        </p:nvSpPr>
        <p:spPr>
          <a:xfrm>
            <a:off x="457200" y="288000"/>
            <a:ext cx="11277600" cy="6282000"/>
          </a:xfrm>
          <a:prstGeom prst="roundRect">
            <a:avLst>
              <a:gd name="adj" fmla="val 2865"/>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t">
            <a:noAutofit/>
          </a:bodyPr>
          <a:lstStyle/>
          <a:p>
            <a:pPr algn="ctr"/>
            <a:r>
              <a:rPr sz="4000" b="1">
                <a:solidFill>
                  <a:srgbClr val="FFFFFF"/>
                </a:solidFill>
                <a:latin typeface="Segoe UI"/>
              </a:rPr>
              <a:t>Accessibility vs. Latency</a:t>
            </a:r>
          </a:p>
        </p:txBody>
      </p:sp>
      <p:sp>
        <p:nvSpPr>
          <p:cNvPr id="3" name="#s5-head_setup"/>
          <p:cNvSpPr txBox="1"/>
          <p:nvPr/>
        </p:nvSpPr>
        <p:spPr>
          <a:xfrm>
            <a:off x="1044000" y="1134000"/>
            <a:ext cx="3600000" cy="306000"/>
          </a:xfrm>
          <a:prstGeom prst="rect">
            <a:avLst/>
          </a:prstGeom>
          <a:noFill/>
          <a:ln>
            <a:noFill/>
          </a:ln>
        </p:spPr>
        <p:txBody>
          <a:bodyPr wrap="square" lIns="108000" tIns="54000" rIns="108000" bIns="54000" anchor="ctr">
            <a:noAutofit/>
          </a:bodyPr>
          <a:lstStyle/>
          <a:p>
            <a:pPr algn="l"/>
            <a:r>
              <a:rPr sz="1800" b="1">
                <a:solidFill>
                  <a:srgbClr val="C9D6EA"/>
                </a:solidFill>
                <a:latin typeface="Segoe UI"/>
              </a:rPr>
              <a:t>Setup</a:t>
            </a:r>
          </a:p>
        </p:txBody>
      </p:sp>
      <p:sp>
        <p:nvSpPr>
          <p:cNvPr id="4" name="#s5-head_latency"/>
          <p:cNvSpPr txBox="1"/>
          <p:nvPr/>
        </p:nvSpPr>
        <p:spPr>
          <a:xfrm>
            <a:off x="4896000" y="1134000"/>
            <a:ext cx="6263999" cy="306000"/>
          </a:xfrm>
          <a:prstGeom prst="rect">
            <a:avLst/>
          </a:prstGeom>
          <a:noFill/>
          <a:ln>
            <a:noFill/>
          </a:ln>
        </p:spPr>
        <p:txBody>
          <a:bodyPr wrap="square" lIns="108000" tIns="54000" rIns="108000" bIns="54000" anchor="ctr">
            <a:noAutofit/>
          </a:bodyPr>
          <a:lstStyle/>
          <a:p>
            <a:pPr algn="l"/>
            <a:r>
              <a:rPr sz="1800" b="1">
                <a:solidFill>
                  <a:srgbClr val="C9D6EA"/>
                </a:solidFill>
                <a:latin typeface="Segoe UI"/>
              </a:rPr>
              <a:t>Seconds per generated token  (lower is faster)</a:t>
            </a:r>
          </a:p>
        </p:txBody>
      </p:sp>
      <p:sp>
        <p:nvSpPr>
          <p:cNvPr id="5" name="#s5-row_1"/>
          <p:cNvSpPr/>
          <p:nvPr/>
        </p:nvSpPr>
        <p:spPr>
          <a:xfrm>
            <a:off x="864000" y="1475999"/>
            <a:ext cx="10465200" cy="10800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6" name="#s5-method_1"/>
          <p:cNvSpPr txBox="1"/>
          <p:nvPr/>
        </p:nvSpPr>
        <p:spPr>
          <a:xfrm>
            <a:off x="1044000" y="1475999"/>
            <a:ext cx="3744000" cy="1080000"/>
          </a:xfrm>
          <a:prstGeom prst="rect">
            <a:avLst/>
          </a:prstGeom>
          <a:noFill/>
          <a:ln>
            <a:noFill/>
          </a:ln>
        </p:spPr>
        <p:txBody>
          <a:bodyPr wrap="square" lIns="108000" tIns="54000" rIns="108000" bIns="54000" anchor="ctr">
            <a:noAutofit/>
          </a:bodyPr>
          <a:lstStyle/>
          <a:p>
            <a:pPr algn="l">
              <a:spcAft>
                <a:spcPts val="200"/>
              </a:spcAft>
            </a:pPr>
            <a:r>
              <a:rPr sz="2200" b="1">
                <a:solidFill>
                  <a:srgbClr val="14213D"/>
                </a:solidFill>
                <a:latin typeface="Segoe UI"/>
              </a:rPr>
              <a:t>AirLLM (16-bit)</a:t>
            </a:r>
          </a:p>
          <a:p>
            <a:pPr algn="l"/>
            <a:r>
              <a:rPr sz="1800" b="1">
                <a:solidFill>
                  <a:srgbClr val="137A5B"/>
                </a:solidFill>
                <a:latin typeface="Segoe UI"/>
              </a:rPr>
              <a:t>Zero VRAM/RAM barrier</a:t>
            </a:r>
          </a:p>
        </p:txBody>
      </p:sp>
      <p:sp>
        <p:nvSpPr>
          <p:cNvPr id="7" name="!!actor-layer_1"/>
          <p:cNvSpPr/>
          <p:nvPr/>
        </p:nvSpPr>
        <p:spPr>
          <a:xfrm>
            <a:off x="4896000" y="1818000"/>
            <a:ext cx="3744000" cy="396000"/>
          </a:xfrm>
          <a:prstGeom prst="roundRect">
            <a:avLst>
              <a:gd name="adj" fmla="val 16363"/>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endParaRPr/>
          </a:p>
        </p:txBody>
      </p:sp>
      <p:sp>
        <p:nvSpPr>
          <p:cNvPr id="8" name="#s5-value_1"/>
          <p:cNvSpPr txBox="1"/>
          <p:nvPr/>
        </p:nvSpPr>
        <p:spPr>
          <a:xfrm>
            <a:off x="8748000" y="1475999"/>
            <a:ext cx="2520000" cy="1080000"/>
          </a:xfrm>
          <a:prstGeom prst="rect">
            <a:avLst/>
          </a:prstGeom>
          <a:noFill/>
          <a:ln>
            <a:noFill/>
          </a:ln>
        </p:spPr>
        <p:txBody>
          <a:bodyPr wrap="square" lIns="108000" tIns="54000" rIns="108000" bIns="54000" anchor="ctr">
            <a:noAutofit/>
          </a:bodyPr>
          <a:lstStyle/>
          <a:p>
            <a:pPr algn="l"/>
            <a:r>
              <a:rPr sz="2600" b="1">
                <a:solidFill>
                  <a:srgbClr val="14213D"/>
                </a:solidFill>
                <a:latin typeface="Segoe UI"/>
              </a:rPr>
              <a:t>~121 s/token</a:t>
            </a:r>
          </a:p>
        </p:txBody>
      </p:sp>
      <p:sp>
        <p:nvSpPr>
          <p:cNvPr id="9" name="#s5-row_2"/>
          <p:cNvSpPr/>
          <p:nvPr/>
        </p:nvSpPr>
        <p:spPr>
          <a:xfrm>
            <a:off x="864000" y="2664000"/>
            <a:ext cx="10465200" cy="10800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0" name="#s5-method_2"/>
          <p:cNvSpPr txBox="1"/>
          <p:nvPr/>
        </p:nvSpPr>
        <p:spPr>
          <a:xfrm>
            <a:off x="1044000" y="2664000"/>
            <a:ext cx="3744000" cy="1080000"/>
          </a:xfrm>
          <a:prstGeom prst="rect">
            <a:avLst/>
          </a:prstGeom>
          <a:noFill/>
          <a:ln>
            <a:noFill/>
          </a:ln>
        </p:spPr>
        <p:txBody>
          <a:bodyPr wrap="square" lIns="108000" tIns="54000" rIns="108000" bIns="54000" anchor="ctr">
            <a:noAutofit/>
          </a:bodyPr>
          <a:lstStyle/>
          <a:p>
            <a:pPr algn="l">
              <a:spcAft>
                <a:spcPts val="200"/>
              </a:spcAft>
            </a:pPr>
            <a:r>
              <a:rPr sz="2200" b="1">
                <a:solidFill>
                  <a:srgbClr val="14213D"/>
                </a:solidFill>
                <a:latin typeface="Segoe UI"/>
              </a:rPr>
              <a:t>AirLLM (4-bit)</a:t>
            </a:r>
          </a:p>
          <a:p>
            <a:pPr algn="l"/>
            <a:r>
              <a:rPr sz="1800" b="1">
                <a:solidFill>
                  <a:srgbClr val="4A5568"/>
                </a:solidFill>
                <a:latin typeface="Segoe UI"/>
              </a:rPr>
              <a:t>Warm cache · same 4GB GPU</a:t>
            </a:r>
          </a:p>
        </p:txBody>
      </p:sp>
      <p:sp>
        <p:nvSpPr>
          <p:cNvPr id="11" name="!!actor-layer_2"/>
          <p:cNvSpPr/>
          <p:nvPr/>
        </p:nvSpPr>
        <p:spPr>
          <a:xfrm>
            <a:off x="4896000" y="3006000"/>
            <a:ext cx="773553" cy="396000"/>
          </a:xfrm>
          <a:prstGeom prst="roundRect">
            <a:avLst>
              <a:gd name="adj" fmla="val 16363"/>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endParaRPr/>
          </a:p>
        </p:txBody>
      </p:sp>
      <p:sp>
        <p:nvSpPr>
          <p:cNvPr id="12" name="#s5-value_2"/>
          <p:cNvSpPr txBox="1"/>
          <p:nvPr/>
        </p:nvSpPr>
        <p:spPr>
          <a:xfrm>
            <a:off x="5777553" y="2664000"/>
            <a:ext cx="2520000" cy="1080000"/>
          </a:xfrm>
          <a:prstGeom prst="rect">
            <a:avLst/>
          </a:prstGeom>
          <a:noFill/>
          <a:ln>
            <a:noFill/>
          </a:ln>
        </p:spPr>
        <p:txBody>
          <a:bodyPr wrap="square" lIns="108000" tIns="54000" rIns="108000" bIns="54000" anchor="ctr">
            <a:noAutofit/>
          </a:bodyPr>
          <a:lstStyle/>
          <a:p>
            <a:pPr algn="l"/>
            <a:r>
              <a:rPr sz="2600" b="1">
                <a:solidFill>
                  <a:srgbClr val="14213D"/>
                </a:solidFill>
                <a:latin typeface="Segoe UI"/>
              </a:rPr>
              <a:t>~25 s/token</a:t>
            </a:r>
          </a:p>
        </p:txBody>
      </p:sp>
      <p:sp>
        <p:nvSpPr>
          <p:cNvPr id="13" name="#s5-row_3"/>
          <p:cNvSpPr/>
          <p:nvPr/>
        </p:nvSpPr>
        <p:spPr>
          <a:xfrm>
            <a:off x="864000" y="3851999"/>
            <a:ext cx="10465200" cy="10800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54000" rIns="108000" bIns="54000" rtlCol="0" anchor="ctr">
            <a:noAutofit/>
          </a:bodyPr>
          <a:lstStyle/>
          <a:p>
            <a:pPr algn="ctr"/>
            <a:endParaRPr/>
          </a:p>
        </p:txBody>
      </p:sp>
      <p:sp>
        <p:nvSpPr>
          <p:cNvPr id="14" name="#s5-method_3"/>
          <p:cNvSpPr txBox="1"/>
          <p:nvPr/>
        </p:nvSpPr>
        <p:spPr>
          <a:xfrm>
            <a:off x="1044000" y="3851999"/>
            <a:ext cx="3744000" cy="1080000"/>
          </a:xfrm>
          <a:prstGeom prst="rect">
            <a:avLst/>
          </a:prstGeom>
          <a:noFill/>
          <a:ln>
            <a:noFill/>
          </a:ln>
        </p:spPr>
        <p:txBody>
          <a:bodyPr wrap="square" lIns="108000" tIns="54000" rIns="108000" bIns="54000" anchor="ctr">
            <a:noAutofit/>
          </a:bodyPr>
          <a:lstStyle/>
          <a:p>
            <a:pPr algn="l">
              <a:spcAft>
                <a:spcPts val="200"/>
              </a:spcAft>
            </a:pPr>
            <a:r>
              <a:rPr sz="2200" b="1">
                <a:solidFill>
                  <a:srgbClr val="14213D"/>
                </a:solidFill>
                <a:latin typeface="Segoe UI"/>
              </a:rPr>
              <a:t>Llama.cpp (Quantized)</a:t>
            </a:r>
          </a:p>
          <a:p>
            <a:pPr algn="l"/>
            <a:r>
              <a:rPr sz="1800" b="1">
                <a:solidFill>
                  <a:srgbClr val="C8102E"/>
                </a:solidFill>
                <a:latin typeface="Segoe UI"/>
              </a:rPr>
              <a:t>Requires 44GB RAM</a:t>
            </a:r>
          </a:p>
        </p:txBody>
      </p:sp>
      <p:sp>
        <p:nvSpPr>
          <p:cNvPr id="15" name="!!actor-layer_3"/>
          <p:cNvSpPr/>
          <p:nvPr/>
        </p:nvSpPr>
        <p:spPr>
          <a:xfrm>
            <a:off x="4896000" y="4193999"/>
            <a:ext cx="105203" cy="396000"/>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endParaRPr/>
          </a:p>
        </p:txBody>
      </p:sp>
      <p:sp>
        <p:nvSpPr>
          <p:cNvPr id="16" name="#s5-value_3"/>
          <p:cNvSpPr txBox="1"/>
          <p:nvPr/>
        </p:nvSpPr>
        <p:spPr>
          <a:xfrm>
            <a:off x="5109203" y="3851999"/>
            <a:ext cx="2520000" cy="1080000"/>
          </a:xfrm>
          <a:prstGeom prst="rect">
            <a:avLst/>
          </a:prstGeom>
          <a:noFill/>
          <a:ln>
            <a:noFill/>
          </a:ln>
        </p:spPr>
        <p:txBody>
          <a:bodyPr wrap="square" lIns="108000" tIns="54000" rIns="108000" bIns="54000" anchor="ctr">
            <a:noAutofit/>
          </a:bodyPr>
          <a:lstStyle/>
          <a:p>
            <a:pPr algn="l"/>
            <a:r>
              <a:rPr sz="2600" b="1">
                <a:solidFill>
                  <a:srgbClr val="14213D"/>
                </a:solidFill>
                <a:latin typeface="Segoe UI"/>
              </a:rPr>
              <a:t>~3.4 s/token</a:t>
            </a:r>
          </a:p>
        </p:txBody>
      </p:sp>
      <p:sp>
        <p:nvSpPr>
          <p:cNvPr id="17" name="!!actor-layer_4"/>
          <p:cNvSpPr/>
          <p:nvPr/>
        </p:nvSpPr>
        <p:spPr>
          <a:xfrm>
            <a:off x="12960000" y="4878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E4</a:t>
            </a:r>
          </a:p>
        </p:txBody>
      </p:sp>
      <p:sp>
        <p:nvSpPr>
          <p:cNvPr id="18" name="!!actor-layer_5"/>
          <p:cNvSpPr/>
          <p:nvPr/>
        </p:nvSpPr>
        <p:spPr>
          <a:xfrm>
            <a:off x="12960000" y="4878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E5</a:t>
            </a:r>
          </a:p>
        </p:txBody>
      </p:sp>
      <p:sp>
        <p:nvSpPr>
          <p:cNvPr id="19" name="!!actor-layer_6"/>
          <p:cNvSpPr/>
          <p:nvPr/>
        </p:nvSpPr>
        <p:spPr>
          <a:xfrm>
            <a:off x="12960000" y="4878000"/>
            <a:ext cx="1591600" cy="486000"/>
          </a:xfrm>
          <a:prstGeom prst="roundRect">
            <a:avLst>
              <a:gd name="adj" fmla="val 13333"/>
            </a:avLst>
          </a:prstGeom>
          <a:solidFill>
            <a:srgbClr val="D9E0E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18000" rIns="36000" bIns="18000" rtlCol="0" anchor="ctr">
            <a:noAutofit/>
          </a:bodyPr>
          <a:lstStyle/>
          <a:p>
            <a:pPr algn="ctr"/>
            <a:r>
              <a:rPr sz="1800" b="1">
                <a:solidFill>
                  <a:srgbClr val="14213D"/>
                </a:solidFill>
                <a:latin typeface="Segoe UI"/>
              </a:rPr>
              <a:t>E6</a:t>
            </a:r>
          </a:p>
        </p:txBody>
      </p:sp>
      <p:sp>
        <p:nvSpPr>
          <p:cNvPr id="20" name="!!subtitle"/>
          <p:cNvSpPr txBox="1"/>
          <p:nvPr/>
        </p:nvSpPr>
        <p:spPr>
          <a:xfrm>
            <a:off x="864000" y="5094000"/>
            <a:ext cx="10465200" cy="827999"/>
          </a:xfrm>
          <a:prstGeom prst="rect">
            <a:avLst/>
          </a:prstGeom>
          <a:noFill/>
          <a:ln>
            <a:noFill/>
          </a:ln>
        </p:spPr>
        <p:txBody>
          <a:bodyPr wrap="square" lIns="108000" tIns="54000" rIns="108000" bIns="54000" anchor="ctr">
            <a:noAutofit/>
          </a:bodyPr>
          <a:lstStyle/>
          <a:p>
            <a:pPr algn="ctr">
              <a:spcAft>
                <a:spcPts val="200"/>
              </a:spcAft>
            </a:pPr>
            <a:r>
              <a:rPr sz="2400" b="1">
                <a:solidFill>
                  <a:srgbClr val="FFFFFF"/>
                </a:solidFill>
                <a:latin typeface="Segoe UI"/>
              </a:rPr>
              <a:t>AirLLM buys reach with latency.</a:t>
            </a:r>
          </a:p>
          <a:p>
            <a:pPr algn="ctr"/>
            <a:r>
              <a:rPr sz="2000" b="0">
                <a:solidFill>
                  <a:srgbClr val="C9D6EA"/>
                </a:solidFill>
                <a:latin typeface="Segoe UI"/>
              </a:rPr>
              <a:t>Best for offline or batch jobs on small GPUs, not interactive chat.</a:t>
            </a:r>
          </a:p>
        </p:txBody>
      </p:sp>
      <p:sp>
        <p:nvSpPr>
          <p:cNvPr id="21" name="#s5-footnote"/>
          <p:cNvSpPr txBox="1"/>
          <p:nvPr/>
        </p:nvSpPr>
        <p:spPr>
          <a:xfrm>
            <a:off x="864000" y="6030000"/>
            <a:ext cx="10465200" cy="324000"/>
          </a:xfrm>
          <a:prstGeom prst="rect">
            <a:avLst/>
          </a:prstGeom>
          <a:noFill/>
          <a:ln>
            <a:noFill/>
          </a:ln>
        </p:spPr>
        <p:txBody>
          <a:bodyPr wrap="square" lIns="108000" tIns="54000" rIns="108000" bIns="54000" anchor="ctr">
            <a:noAutofit/>
          </a:bodyPr>
          <a:lstStyle/>
          <a:p>
            <a:pPr algn="ctr"/>
            <a:r>
              <a:rPr sz="1400" b="0">
                <a:solidFill>
                  <a:srgbClr val="C9D6EA"/>
                </a:solidFill>
                <a:latin typeface="Segoe UI"/>
              </a:rPr>
              <a:t>Indicative figures for a 70B model; latency depends on disk bandwidth, RAM and GPU.</a:t>
            </a:r>
          </a:p>
        </p:txBody>
      </p:sp>
      <p:pic>
        <p:nvPicPr>
          <p:cNvPr id="24" name="Picture 23">
            <a:extLst>
              <a:ext uri="{FF2B5EF4-FFF2-40B4-BE49-F238E27FC236}">
                <a16:creationId xmlns:a16="http://schemas.microsoft.com/office/drawing/2014/main" id="{D8A73B40-0629-2C1D-E91C-CE3C067AC81C}"/>
              </a:ext>
            </a:extLst>
          </p:cNvPr>
          <p:cNvPicPr>
            <a:picLocks noChangeAspect="1"/>
          </p:cNvPicPr>
          <p:nvPr/>
        </p:nvPicPr>
        <p:blipFill>
          <a:blip r:embed="rId3"/>
          <a:stretch>
            <a:fillRect/>
          </a:stretch>
        </p:blipFill>
        <p:spPr>
          <a:xfrm>
            <a:off x="9794500" y="146164"/>
            <a:ext cx="2203628" cy="5558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p14="http://schemas.microsoft.com/office/powerpoint/2010/main"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908</Words>
  <Application>Microsoft Office PowerPoint</Application>
  <PresentationFormat>Widescreen</PresentationFormat>
  <Paragraphs>90</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BhavyaJustChill</cp:lastModifiedBy>
  <cp:revision>4</cp:revision>
  <dcterms:created xsi:type="dcterms:W3CDTF">2013-01-27T09:14:16Z</dcterms:created>
  <dcterms:modified xsi:type="dcterms:W3CDTF">2026-10-16T02:50:37Z</dcterms:modified>
  <cp:category/>
</cp:coreProperties>
</file>