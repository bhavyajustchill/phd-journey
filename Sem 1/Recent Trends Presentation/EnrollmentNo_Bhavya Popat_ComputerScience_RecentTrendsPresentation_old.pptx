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499" autoAdjust="0"/>
  </p:normalViewPr>
  <p:slideViewPr>
    <p:cSldViewPr snapToGrid="0" snapToObjects="1">
      <p:cViewPr varScale="1">
        <p:scale>
          <a:sx n="98" d="100"/>
          <a:sy n="98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06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Hello, I am </a:t>
            </a:r>
            <a:r>
              <a:rPr dirty="0" err="1"/>
              <a:t>Popat</a:t>
            </a:r>
            <a:r>
              <a:rPr dirty="0"/>
              <a:t> Bhavya </a:t>
            </a:r>
            <a:r>
              <a:rPr dirty="0" err="1"/>
              <a:t>Balkrishnabhai</a:t>
            </a:r>
            <a:r>
              <a:rPr dirty="0"/>
              <a:t>, enrollment number </a:t>
            </a:r>
            <a:r>
              <a:rPr lang="en-IN" sz="1200" b="0" dirty="0">
                <a:solidFill>
                  <a:srgbClr val="00FF88"/>
                </a:solidFill>
                <a:effectLst>
                  <a:glow rad="63500">
                    <a:srgbClr val="00FF88">
                      <a:alpha val="40000"/>
                    </a:srgbClr>
                  </a:glow>
                </a:effectLst>
                <a:latin typeface="Consolas"/>
              </a:rPr>
              <a:t>15616226003</a:t>
            </a:r>
            <a:r>
              <a:rPr dirty="0"/>
              <a:t>, PhD Semester 1. My recent-trends topic is </a:t>
            </a:r>
            <a:r>
              <a:rPr dirty="0" err="1"/>
              <a:t>AirLLM</a:t>
            </a:r>
            <a:r>
              <a:rPr dirty="0"/>
              <a:t>, an open-source library that runs very large language models on small GPUs by streaming them from disk one layer at a time. The progress bar under the title stands for the model's 80 decoder layers; watch it travel through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Eight modules: the memory problem, the key insight, the architecture, the inference loop, how it scales to mixture-of-experts models, the latency trade-off, related work, and the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 fp16</a:t>
            </a:r>
            <a:r>
              <a:rPr lang="en-IN" dirty="0"/>
              <a:t> </a:t>
            </a:r>
            <a:r>
              <a:rPr lang="en-GB" dirty="0"/>
              <a:t>(floating point 16 - a 16-bit computer number format used to represent real numbers in binary form)</a:t>
            </a:r>
            <a:r>
              <a:rPr dirty="0"/>
              <a:t> every parameter takes 2 bytes, so a 70B model needs about 140 GB for its weights alone. Consumer GPUs have 4 to 24 GB. Loading the checkpoint the traditional way therefore fails with a CUDA out-of-memory error before the first token is generated. This is spatial memory: every layer must be resident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key observation: a transformer's decoder layers run strictly in sequence. Layer N needs only its own weights and the hidden state coming out of layer N-1. So instead of holding every layer in space, </a:t>
            </a:r>
            <a:r>
              <a:rPr dirty="0" err="1"/>
              <a:t>AirLLM</a:t>
            </a:r>
            <a:r>
              <a:rPr dirty="0"/>
              <a:t> reuses the same small piece of VRAM over time. One 70B decoder layer has about 0.86 billion parameters, roughly 1.7 GB in fp16.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On first use </a:t>
            </a:r>
            <a:r>
              <a:rPr dirty="0" err="1"/>
              <a:t>AirLLM</a:t>
            </a:r>
            <a:r>
              <a:rPr dirty="0"/>
              <a:t> splits the checkpoint into one shard per layer on disk. During inference, shards move through three tiers: disk, a pinned CPU-RAM buffer used for prefetching, and the GPU, which only ever holds the active layer. From the outside it looks like a normal Hugging Face model: </a:t>
            </a:r>
            <a:r>
              <a:rPr dirty="0" err="1"/>
              <a:t>AutoModel.from_pretrained</a:t>
            </a:r>
            <a:r>
              <a:rPr dirty="0"/>
              <a:t>, then 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 every generated token </a:t>
            </a:r>
            <a:r>
              <a:rPr dirty="0" err="1"/>
              <a:t>AirLLM</a:t>
            </a:r>
            <a:r>
              <a:rPr dirty="0"/>
              <a:t> walks all 80 layers: compute layer N on the GPU, evict its weights, and bring in layer N+1. Since version 2.5, prefetching overlaps the disk read of layer N+1 with the compute of layer N; the README reports about a 10% speed-up. The cost is that every token re-reads the whole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same idea scales to frontier models when fewer bytes move per token. The </a:t>
            </a:r>
            <a:r>
              <a:rPr dirty="0" err="1"/>
              <a:t>AirLLM</a:t>
            </a:r>
            <a:r>
              <a:rPr dirty="0"/>
              <a:t> README reports Kimi K3, a 2.8-trillion-parameter mixture-of-experts model with 16 of 896 experts active per token, running in about 3.72 GB, and DeepSeek-V3 (671B) in about 12 GB; these are the author's own measurements. For Kimi K3 only the routed experts are streamed; other </a:t>
            </a:r>
            <a:r>
              <a:rPr dirty="0" err="1"/>
              <a:t>MoE</a:t>
            </a:r>
            <a:r>
              <a:rPr dirty="0"/>
              <a:t> models still stream whole layers. The optional 4-bit or 8-bit block-wise compression quantizes only the weights. The README claims up to a 3x speed-up, but GitHub issue #330 reports slowdowns because compression disables prefetching.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honest trade-off. At 16-bit, a 70B model takes on the order of two minutes per token; about 25 seconds with 4-bit shards and a warm OS page cache; a quantized llama.cpp build is around 3.4 seconds per token but needs about 44 GB of system RAM. These figures are indicative and depend heavily on disk bandwidth: every token streams all 80 layers again. </a:t>
            </a:r>
            <a:r>
              <a:rPr dirty="0" err="1"/>
              <a:t>AirLLM</a:t>
            </a:r>
            <a:r>
              <a:rPr dirty="0"/>
              <a:t> is for access, not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AirLLM</a:t>
            </a:r>
            <a:r>
              <a:rPr dirty="0"/>
              <a:t> belongs to a family of techniques for running big models on small hardware. </a:t>
            </a:r>
            <a:r>
              <a:rPr dirty="0" err="1"/>
              <a:t>FlexGen</a:t>
            </a:r>
            <a:r>
              <a:rPr dirty="0"/>
              <a:t> offloads weights and KV cache across GPU, CPU and disk and optimizes throughput for batch jobs. </a:t>
            </a:r>
            <a:r>
              <a:rPr dirty="0" err="1"/>
              <a:t>DeepSpeed</a:t>
            </a:r>
            <a:r>
              <a:rPr dirty="0"/>
              <a:t> </a:t>
            </a:r>
            <a:r>
              <a:rPr dirty="0" err="1"/>
              <a:t>ZeRO</a:t>
            </a:r>
            <a:r>
              <a:rPr dirty="0"/>
              <a:t>-Inference streams weights from CPU memory or </a:t>
            </a:r>
            <a:r>
              <a:rPr dirty="0" err="1"/>
              <a:t>NVMe</a:t>
            </a:r>
            <a:r>
              <a:rPr dirty="0"/>
              <a:t>. llama.cpp relies on quantization and memory-mapped GGUF files. </a:t>
            </a:r>
            <a:r>
              <a:rPr dirty="0" err="1"/>
              <a:t>PowerInfer</a:t>
            </a:r>
            <a:r>
              <a:rPr dirty="0"/>
              <a:t> keeps frequently activated 'hot' neurons on the GPU. Hugging Face Accelerate can offload layers that do not fit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Three takeaways. First, </a:t>
            </a:r>
            <a:r>
              <a:rPr dirty="0" err="1"/>
              <a:t>AirLLM</a:t>
            </a:r>
            <a:r>
              <a:rPr dirty="0"/>
              <a:t> cuts the VRAM requirement to roughly one layer instead of the whole model. Second, disk bandwidth becomes the new bottleneck. Third, it trades latency for accessibility, which makes it a research and batch tool rather than a chat server. Thank you; I am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>
            <a:off x="6678000" y="1241999"/>
            <a:ext cx="4860000" cy="486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>
            <a:off x="6240600" y="804599"/>
            <a:ext cx="5734800" cy="573480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>
            <a:off x="7163999" y="1727999"/>
            <a:ext cx="3888000" cy="3888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530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345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2559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34380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1440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</a:t>
            </a:r>
            <a:r>
              <a:rPr sz="1200" b="0">
                <a:solidFill>
                  <a:srgbClr val="5FA37E"/>
                </a:solidFill>
                <a:latin typeface="Consolas"/>
              </a:rPr>
              <a:t>»  </a:t>
            </a:r>
            <a:r>
              <a:rPr lang="en-IN" sz="1200" b="0">
                <a:solidFill>
                  <a:srgbClr val="5FA37E"/>
                </a:solidFill>
                <a:latin typeface="Consolas"/>
              </a:rPr>
              <a:t>15616226003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[ 01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880" y="251999"/>
            <a:ext cx="4680000" cy="1180465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1-tag"/>
          <p:cNvSpPr txBox="1"/>
          <p:nvPr/>
        </p:nvSpPr>
        <p:spPr>
          <a:xfrm>
            <a:off x="576000" y="1638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800" b="1">
                <a:solidFill>
                  <a:srgbClr val="FFB000"/>
                </a:solidFill>
                <a:latin typeface="Consolas"/>
              </a:rPr>
              <a:t>// RECENT TRENDS · PhD SEMESTER 1</a:t>
            </a:r>
          </a:p>
        </p:txBody>
      </p:sp>
      <p:sp>
        <p:nvSpPr>
          <p:cNvPr id="15" name="#s1-title"/>
          <p:cNvSpPr txBox="1"/>
          <p:nvPr/>
        </p:nvSpPr>
        <p:spPr>
          <a:xfrm>
            <a:off x="576000" y="1890000"/>
            <a:ext cx="5832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8000" b="0" spc="200">
                <a:solidFill>
                  <a:srgbClr val="00FF88"/>
                </a:solidFill>
                <a:effectLst>
                  <a:glow rad="127000">
                    <a:srgbClr val="00FF88">
                      <a:alpha val="50000"/>
                    </a:srgbClr>
                  </a:glow>
                </a:effectLst>
                <a:latin typeface="Bahnschrift SemiBold"/>
              </a:rPr>
              <a:t>AirLLM</a:t>
            </a:r>
          </a:p>
        </p:txBody>
      </p:sp>
      <p:sp>
        <p:nvSpPr>
          <p:cNvPr id="16" name="#s1-sub"/>
          <p:cNvSpPr txBox="1"/>
          <p:nvPr/>
        </p:nvSpPr>
        <p:spPr>
          <a:xfrm>
            <a:off x="576000" y="2988000"/>
            <a:ext cx="5832000" cy="827999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t">
            <a:noAutofit/>
          </a:bodyPr>
          <a:lstStyle/>
          <a:p>
            <a:pPr algn="l"/>
            <a:r>
              <a:rPr sz="2400" b="0">
                <a:solidFill>
                  <a:srgbClr val="C9FFE2"/>
                </a:solidFill>
                <a:latin typeface="Bahnschrift"/>
              </a:rPr>
              <a:t>Running 70B-parameter LLMs</a:t>
            </a:r>
          </a:p>
          <a:p>
            <a:pPr algn="l"/>
            <a:r>
              <a:rPr sz="2400" b="0">
                <a:solidFill>
                  <a:srgbClr val="C9FFE2"/>
                </a:solidFill>
                <a:latin typeface="Bahnschrift"/>
              </a:rPr>
              <a:t>on a 4 GB GPU, one layer at a time</a:t>
            </a:r>
          </a:p>
        </p:txBody>
      </p:sp>
      <p:sp>
        <p:nvSpPr>
          <p:cNvPr id="17" name="!!actor-layer_1"/>
          <p:cNvSpPr/>
          <p:nvPr/>
        </p:nvSpPr>
        <p:spPr>
          <a:xfrm>
            <a:off x="5760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!!actor-layer_2"/>
          <p:cNvSpPr/>
          <p:nvPr/>
        </p:nvSpPr>
        <p:spPr>
          <a:xfrm>
            <a:off x="12816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!!actor-layer_3"/>
          <p:cNvSpPr/>
          <p:nvPr/>
        </p:nvSpPr>
        <p:spPr>
          <a:xfrm>
            <a:off x="1987199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!!actor-layer_4"/>
          <p:cNvSpPr/>
          <p:nvPr/>
        </p:nvSpPr>
        <p:spPr>
          <a:xfrm>
            <a:off x="26928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!!actor-layer_5"/>
          <p:cNvSpPr/>
          <p:nvPr/>
        </p:nvSpPr>
        <p:spPr>
          <a:xfrm>
            <a:off x="33984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!!actor-layer_6"/>
          <p:cNvSpPr/>
          <p:nvPr/>
        </p:nvSpPr>
        <p:spPr>
          <a:xfrm>
            <a:off x="41040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!!actor-layer_7"/>
          <p:cNvSpPr/>
          <p:nvPr/>
        </p:nvSpPr>
        <p:spPr>
          <a:xfrm>
            <a:off x="4809600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!!actor-layer_8"/>
          <p:cNvSpPr/>
          <p:nvPr/>
        </p:nvSpPr>
        <p:spPr>
          <a:xfrm>
            <a:off x="5515199" y="3924000"/>
            <a:ext cx="619200" cy="251999"/>
          </a:xfrm>
          <a:prstGeom prst="roundRect">
            <a:avLst>
              <a:gd name="adj" fmla="val 21428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#s1-loading"/>
          <p:cNvSpPr txBox="1"/>
          <p:nvPr/>
        </p:nvSpPr>
        <p:spPr>
          <a:xfrm>
            <a:off x="576000" y="4230000"/>
            <a:ext cx="583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LOADING 70B MODEL </a:t>
            </a:r>
            <a:r>
              <a:rPr sz="1800" b="1">
                <a:solidFill>
                  <a:srgbClr val="00FF88"/>
                </a:solidFill>
                <a:latin typeface="Consolas"/>
              </a:rPr>
              <a:t>··· 62%</a:t>
            </a:r>
          </a:p>
        </p:txBody>
      </p:sp>
      <p:sp>
        <p:nvSpPr>
          <p:cNvPr id="26" name="#s1-stat_1"/>
          <p:cNvSpPr/>
          <p:nvPr/>
        </p:nvSpPr>
        <p:spPr>
          <a:xfrm>
            <a:off x="576000" y="4716000"/>
            <a:ext cx="1847999" cy="1007999"/>
          </a:xfrm>
          <a:prstGeom prst="roundRect">
            <a:avLst>
              <a:gd name="adj" fmla="val 1071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44000" rIns="72000" bIns="144000" rtlCol="0" anchor="ctr">
            <a:noAutofit/>
          </a:bodyPr>
          <a:lstStyle/>
          <a:p>
            <a:pPr algn="ctr"/>
            <a:r>
              <a:rPr sz="3200" b="0">
                <a:solidFill>
                  <a:srgbClr val="00FF88"/>
                </a:solidFill>
                <a:effectLst>
                  <a:glow rad="63500">
                    <a:srgbClr val="00FF88">
                      <a:alpha val="40000"/>
                    </a:srgbClr>
                  </a:glow>
                </a:effectLst>
                <a:latin typeface="Bahnschrift SemiBold"/>
              </a:rPr>
              <a:t>70B</a:t>
            </a:r>
          </a:p>
          <a:p>
            <a:pPr algn="ctr"/>
            <a:r>
              <a:rPr sz="1600" b="0">
                <a:solidFill>
                  <a:srgbClr val="5FA37E"/>
                </a:solidFill>
                <a:latin typeface="Consolas"/>
              </a:rPr>
              <a:t>parameters</a:t>
            </a:r>
          </a:p>
        </p:txBody>
      </p:sp>
      <p:sp>
        <p:nvSpPr>
          <p:cNvPr id="27" name="#s1-stat_2"/>
          <p:cNvSpPr/>
          <p:nvPr/>
        </p:nvSpPr>
        <p:spPr>
          <a:xfrm>
            <a:off x="2568000" y="4716000"/>
            <a:ext cx="1847999" cy="1007999"/>
          </a:xfrm>
          <a:prstGeom prst="roundRect">
            <a:avLst>
              <a:gd name="adj" fmla="val 1071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44000" rIns="72000" bIns="144000" rtlCol="0" anchor="ctr">
            <a:noAutofit/>
          </a:bodyPr>
          <a:lstStyle/>
          <a:p>
            <a:pPr algn="ctr"/>
            <a:r>
              <a:rPr sz="3200" b="0">
                <a:solidFill>
                  <a:srgbClr val="00FF88"/>
                </a:solidFill>
                <a:effectLst>
                  <a:glow rad="63500">
                    <a:srgbClr val="00FF88">
                      <a:alpha val="40000"/>
                    </a:srgbClr>
                  </a:glow>
                </a:effectLst>
                <a:latin typeface="Bahnschrift SemiBold"/>
              </a:rPr>
              <a:t>4 GB</a:t>
            </a:r>
          </a:p>
          <a:p>
            <a:pPr algn="ctr"/>
            <a:r>
              <a:rPr sz="1600" b="0">
                <a:solidFill>
                  <a:srgbClr val="5FA37E"/>
                </a:solidFill>
                <a:latin typeface="Consolas"/>
              </a:rPr>
              <a:t>GPU VRAM</a:t>
            </a:r>
          </a:p>
        </p:txBody>
      </p:sp>
      <p:sp>
        <p:nvSpPr>
          <p:cNvPr id="28" name="#s1-stat_3"/>
          <p:cNvSpPr/>
          <p:nvPr/>
        </p:nvSpPr>
        <p:spPr>
          <a:xfrm>
            <a:off x="4560000" y="4716000"/>
            <a:ext cx="1847999" cy="1007999"/>
          </a:xfrm>
          <a:prstGeom prst="roundRect">
            <a:avLst>
              <a:gd name="adj" fmla="val 1071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44000" rIns="72000" bIns="144000" rtlCol="0" anchor="ctr">
            <a:noAutofit/>
          </a:bodyPr>
          <a:lstStyle/>
          <a:p>
            <a:pPr algn="ctr"/>
            <a:r>
              <a:rPr sz="3200" b="0">
                <a:solidFill>
                  <a:srgbClr val="00FF88"/>
                </a:solidFill>
                <a:effectLst>
                  <a:glow rad="63500">
                    <a:srgbClr val="00FF88">
                      <a:alpha val="40000"/>
                    </a:srgbClr>
                  </a:glow>
                </a:effectLst>
                <a:latin typeface="Bahnschrift SemiBold"/>
              </a:rPr>
              <a:t>80</a:t>
            </a:r>
          </a:p>
          <a:p>
            <a:pPr algn="ctr"/>
            <a:r>
              <a:rPr sz="1600" b="0">
                <a:solidFill>
                  <a:srgbClr val="5FA37E"/>
                </a:solidFill>
                <a:latin typeface="Consolas"/>
              </a:rPr>
              <a:t>decoder layers</a:t>
            </a:r>
          </a:p>
        </p:txBody>
      </p:sp>
      <p:sp>
        <p:nvSpPr>
          <p:cNvPr id="29" name="!!actor-terminal"/>
          <p:cNvSpPr/>
          <p:nvPr/>
        </p:nvSpPr>
        <p:spPr>
          <a:xfrm>
            <a:off x="6623999" y="1638000"/>
            <a:ext cx="4992000" cy="4086000"/>
          </a:xfrm>
          <a:prstGeom prst="roundRect">
            <a:avLst>
              <a:gd name="adj" fmla="val 2643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 dirty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 dirty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 dirty="0">
                <a:solidFill>
                  <a:srgbClr val="5FA37E"/>
                </a:solidFill>
                <a:latin typeface="Consolas"/>
              </a:rPr>
              <a:t>  </a:t>
            </a:r>
            <a:r>
              <a:rPr sz="1400" b="0" dirty="0" err="1">
                <a:solidFill>
                  <a:srgbClr val="5FA37E"/>
                </a:solidFill>
                <a:latin typeface="Consolas"/>
              </a:rPr>
              <a:t>bhavya@phd</a:t>
            </a:r>
            <a:r>
              <a:rPr sz="1400" b="0" dirty="0">
                <a:solidFill>
                  <a:srgbClr val="5FA37E"/>
                </a:solidFill>
                <a:latin typeface="Consolas"/>
              </a:rPr>
              <a:t>:~/sem1</a:t>
            </a:r>
          </a:p>
          <a:p>
            <a:pPr algn="l">
              <a:spcAft>
                <a:spcPts val="200"/>
              </a:spcAft>
            </a:pPr>
            <a:r>
              <a:rPr sz="1800" b="1" dirty="0">
                <a:solidFill>
                  <a:srgbClr val="00FF88"/>
                </a:solidFill>
                <a:latin typeface="Consolas"/>
              </a:rPr>
              <a:t>$ </a:t>
            </a:r>
            <a:r>
              <a:rPr sz="1800" b="0" dirty="0" err="1">
                <a:solidFill>
                  <a:srgbClr val="5FA37E"/>
                </a:solidFill>
                <a:latin typeface="Consolas"/>
              </a:rPr>
              <a:t>whoami</a:t>
            </a:r>
            <a:endParaRPr sz="1800" b="0" dirty="0">
              <a:solidFill>
                <a:srgbClr val="5FA37E"/>
              </a:solidFill>
              <a:latin typeface="Consolas"/>
            </a:endParaRPr>
          </a:p>
          <a:p>
            <a:pPr algn="l">
              <a:spcAft>
                <a:spcPts val="1000"/>
              </a:spcAft>
            </a:pPr>
            <a:r>
              <a:rPr sz="2200" b="1" dirty="0" err="1">
                <a:solidFill>
                  <a:srgbClr val="C9FFE2"/>
                </a:solidFill>
                <a:latin typeface="Consolas"/>
              </a:rPr>
              <a:t>Popat</a:t>
            </a:r>
            <a:r>
              <a:rPr sz="2200" b="1" dirty="0">
                <a:solidFill>
                  <a:srgbClr val="C9FFE2"/>
                </a:solidFill>
                <a:latin typeface="Consolas"/>
              </a:rPr>
              <a:t> Bhavya </a:t>
            </a:r>
            <a:r>
              <a:rPr sz="2200" b="1" dirty="0" err="1">
                <a:solidFill>
                  <a:srgbClr val="C9FFE2"/>
                </a:solidFill>
                <a:latin typeface="Consolas"/>
              </a:rPr>
              <a:t>Balkrishnabhai</a:t>
            </a:r>
            <a:endParaRPr sz="2200" b="1" dirty="0">
              <a:solidFill>
                <a:srgbClr val="C9FFE2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800" b="1" dirty="0">
                <a:solidFill>
                  <a:srgbClr val="00FF88"/>
                </a:solidFill>
                <a:latin typeface="Consolas"/>
              </a:rPr>
              <a:t>$ </a:t>
            </a:r>
            <a:r>
              <a:rPr sz="1800" b="0" dirty="0">
                <a:solidFill>
                  <a:srgbClr val="5FA37E"/>
                </a:solidFill>
                <a:latin typeface="Consolas"/>
              </a:rPr>
              <a:t>cat enrollment.txt</a:t>
            </a:r>
          </a:p>
          <a:p>
            <a:pPr algn="l">
              <a:spcAft>
                <a:spcPts val="1000"/>
              </a:spcAft>
            </a:pPr>
            <a:r>
              <a:rPr lang="en-IN" sz="2200" b="1" dirty="0">
                <a:solidFill>
                  <a:srgbClr val="00FF88"/>
                </a:solidFill>
                <a:effectLst>
                  <a:glow rad="63500">
                    <a:srgbClr val="00FF88">
                      <a:alpha val="40000"/>
                    </a:srgbClr>
                  </a:glow>
                </a:effectLst>
                <a:latin typeface="Consolas"/>
              </a:rPr>
              <a:t>15616226003</a:t>
            </a:r>
            <a:endParaRPr sz="2200" b="1" dirty="0">
              <a:solidFill>
                <a:srgbClr val="00FF88"/>
              </a:solidFill>
              <a:effectLst>
                <a:glow rad="63500">
                  <a:srgbClr val="00FF88">
                    <a:alpha val="40000"/>
                  </a:srgbClr>
                </a:glow>
              </a:effectLst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800" b="1" dirty="0">
                <a:solidFill>
                  <a:srgbClr val="00FF88"/>
                </a:solidFill>
                <a:latin typeface="Consolas"/>
              </a:rPr>
              <a:t>$ </a:t>
            </a:r>
            <a:r>
              <a:rPr sz="1800" b="0" dirty="0">
                <a:solidFill>
                  <a:srgbClr val="5FA37E"/>
                </a:solidFill>
                <a:latin typeface="Consolas"/>
              </a:rPr>
              <a:t>echo $SEMESTER</a:t>
            </a:r>
          </a:p>
          <a:p>
            <a:pPr algn="l">
              <a:spcAft>
                <a:spcPts val="1000"/>
              </a:spcAft>
            </a:pPr>
            <a:r>
              <a:rPr sz="2200" b="1" dirty="0">
                <a:solidFill>
                  <a:srgbClr val="C9FFE2"/>
                </a:solidFill>
                <a:latin typeface="Consolas"/>
              </a:rPr>
              <a:t>PhD · Semester 1</a:t>
            </a:r>
          </a:p>
          <a:p>
            <a:pPr algn="l">
              <a:spcAft>
                <a:spcPts val="200"/>
              </a:spcAft>
            </a:pPr>
            <a:r>
              <a:rPr sz="1800" b="1" dirty="0">
                <a:solidFill>
                  <a:srgbClr val="00FF88"/>
                </a:solidFill>
                <a:latin typeface="Consolas"/>
              </a:rPr>
              <a:t>$ </a:t>
            </a:r>
            <a:r>
              <a:rPr sz="1800" b="0" dirty="0">
                <a:solidFill>
                  <a:srgbClr val="5FA37E"/>
                </a:solidFill>
                <a:latin typeface="Consolas"/>
              </a:rPr>
              <a:t>./present --topic "Recent Trends"</a:t>
            </a:r>
          </a:p>
          <a:p>
            <a:pPr algn="l"/>
            <a:r>
              <a:rPr sz="1800" b="0" dirty="0">
                <a:solidFill>
                  <a:srgbClr val="00FF88"/>
                </a:solidFill>
                <a:latin typeface="Consolas"/>
              </a:rPr>
              <a:t>&gt; booting </a:t>
            </a:r>
            <a:r>
              <a:rPr sz="1800" b="0" dirty="0" err="1">
                <a:solidFill>
                  <a:srgbClr val="00FF88"/>
                </a:solidFill>
                <a:latin typeface="Consolas"/>
              </a:rPr>
              <a:t>AirLLM</a:t>
            </a:r>
            <a:r>
              <a:rPr sz="1800" b="0" dirty="0">
                <a:solidFill>
                  <a:srgbClr val="00FF88"/>
                </a:solidFill>
                <a:latin typeface="Consolas"/>
              </a:rPr>
              <a:t> deck █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5400000">
            <a:off x="8388000" y="2268000"/>
            <a:ext cx="2880000" cy="288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8400000">
            <a:off x="8128800" y="2008800"/>
            <a:ext cx="3398400" cy="339840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15000000">
            <a:off x="8676000" y="2556000"/>
            <a:ext cx="2304000" cy="2304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6156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2311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885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421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1306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 </a:t>
            </a:r>
            <a:r>
              <a:rPr lang="en-IN" sz="1200" b="0" dirty="0">
                <a:solidFill>
                  <a:srgbClr val="5FA37E"/>
                </a:solidFill>
                <a:latin typeface="Consolas"/>
              </a:rPr>
              <a:t>15616226003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[ 02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2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BOOT SEQUENCE</a:t>
            </a:r>
          </a:p>
        </p:txBody>
      </p:sp>
      <p:sp>
        <p:nvSpPr>
          <p:cNvPr id="15" name="#s2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8 modules queued for this talk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576000" y="1314000"/>
            <a:ext cx="7343999" cy="4770000"/>
          </a:xfrm>
          <a:prstGeom prst="roundRect">
            <a:avLst>
              <a:gd name="adj" fmla="val 2264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boot.log — airllm/recent_trends</a:t>
            </a:r>
          </a:p>
        </p:txBody>
      </p:sp>
      <p:sp>
        <p:nvSpPr>
          <p:cNvPr id="17" name="!!actor-layer_1"/>
          <p:cNvSpPr/>
          <p:nvPr/>
        </p:nvSpPr>
        <p:spPr>
          <a:xfrm>
            <a:off x="827999" y="1800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18" name="#s2-item_1"/>
          <p:cNvSpPr txBox="1"/>
          <p:nvPr/>
        </p:nvSpPr>
        <p:spPr>
          <a:xfrm>
            <a:off x="1638000" y="1800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03  </a:t>
            </a:r>
            <a:r>
              <a:rPr sz="2000" b="0">
                <a:solidFill>
                  <a:srgbClr val="C9FFE2"/>
                </a:solidFill>
                <a:latin typeface="Consolas"/>
              </a:rPr>
              <a:t>The Memory Wall</a:t>
            </a:r>
          </a:p>
        </p:txBody>
      </p:sp>
      <p:sp>
        <p:nvSpPr>
          <p:cNvPr id="19" name="!!actor-layer_2"/>
          <p:cNvSpPr/>
          <p:nvPr/>
        </p:nvSpPr>
        <p:spPr>
          <a:xfrm>
            <a:off x="827999" y="2322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20" name="#s2-item_2"/>
          <p:cNvSpPr txBox="1"/>
          <p:nvPr/>
        </p:nvSpPr>
        <p:spPr>
          <a:xfrm>
            <a:off x="1638000" y="2322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04  </a:t>
            </a:r>
            <a:r>
              <a:rPr sz="2000" b="0">
                <a:solidFill>
                  <a:srgbClr val="C9FFE2"/>
                </a:solidFill>
                <a:latin typeface="Consolas"/>
              </a:rPr>
              <a:t>Key Insight: Spatial → Temporal</a:t>
            </a:r>
          </a:p>
        </p:txBody>
      </p:sp>
      <p:sp>
        <p:nvSpPr>
          <p:cNvPr id="21" name="!!actor-layer_3"/>
          <p:cNvSpPr/>
          <p:nvPr/>
        </p:nvSpPr>
        <p:spPr>
          <a:xfrm>
            <a:off x="827999" y="2844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22" name="#s2-item_3"/>
          <p:cNvSpPr txBox="1"/>
          <p:nvPr/>
        </p:nvSpPr>
        <p:spPr>
          <a:xfrm>
            <a:off x="1638000" y="2844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05  </a:t>
            </a:r>
            <a:r>
              <a:rPr sz="2000" b="0">
                <a:solidFill>
                  <a:srgbClr val="C9FFE2"/>
                </a:solidFill>
                <a:latin typeface="Consolas"/>
              </a:rPr>
              <a:t>Architecture: Split · Store · Stream</a:t>
            </a:r>
          </a:p>
        </p:txBody>
      </p:sp>
      <p:sp>
        <p:nvSpPr>
          <p:cNvPr id="23" name="!!actor-layer_4"/>
          <p:cNvSpPr/>
          <p:nvPr/>
        </p:nvSpPr>
        <p:spPr>
          <a:xfrm>
            <a:off x="827999" y="3366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24" name="#s2-item_4"/>
          <p:cNvSpPr txBox="1"/>
          <p:nvPr/>
        </p:nvSpPr>
        <p:spPr>
          <a:xfrm>
            <a:off x="1638000" y="3366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06  </a:t>
            </a:r>
            <a:r>
              <a:rPr sz="2000" b="0">
                <a:solidFill>
                  <a:srgbClr val="C9FFE2"/>
                </a:solidFill>
                <a:latin typeface="Consolas"/>
              </a:rPr>
              <a:t>The Inference Loop</a:t>
            </a:r>
          </a:p>
        </p:txBody>
      </p:sp>
      <p:sp>
        <p:nvSpPr>
          <p:cNvPr id="25" name="!!actor-layer_5"/>
          <p:cNvSpPr/>
          <p:nvPr/>
        </p:nvSpPr>
        <p:spPr>
          <a:xfrm>
            <a:off x="827999" y="3888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26" name="#s2-item_5"/>
          <p:cNvSpPr txBox="1"/>
          <p:nvPr/>
        </p:nvSpPr>
        <p:spPr>
          <a:xfrm>
            <a:off x="1638000" y="3888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07  </a:t>
            </a:r>
            <a:r>
              <a:rPr sz="2000" b="0">
                <a:solidFill>
                  <a:srgbClr val="C9FFE2"/>
                </a:solidFill>
                <a:latin typeface="Consolas"/>
              </a:rPr>
              <a:t>Scaling Up: MoE &amp; Compression</a:t>
            </a:r>
          </a:p>
        </p:txBody>
      </p:sp>
      <p:sp>
        <p:nvSpPr>
          <p:cNvPr id="27" name="!!actor-layer_6"/>
          <p:cNvSpPr/>
          <p:nvPr/>
        </p:nvSpPr>
        <p:spPr>
          <a:xfrm>
            <a:off x="827999" y="4410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28" name="#s2-item_6"/>
          <p:cNvSpPr txBox="1"/>
          <p:nvPr/>
        </p:nvSpPr>
        <p:spPr>
          <a:xfrm>
            <a:off x="1638000" y="4410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08  </a:t>
            </a:r>
            <a:r>
              <a:rPr sz="2000" b="0">
                <a:solidFill>
                  <a:srgbClr val="C9FFE2"/>
                </a:solidFill>
                <a:latin typeface="Consolas"/>
              </a:rPr>
              <a:t>Accessibility vs. Latency</a:t>
            </a:r>
          </a:p>
        </p:txBody>
      </p:sp>
      <p:sp>
        <p:nvSpPr>
          <p:cNvPr id="29" name="!!actor-layer_7"/>
          <p:cNvSpPr/>
          <p:nvPr/>
        </p:nvSpPr>
        <p:spPr>
          <a:xfrm>
            <a:off x="827999" y="4932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30" name="#s2-item_7"/>
          <p:cNvSpPr txBox="1"/>
          <p:nvPr/>
        </p:nvSpPr>
        <p:spPr>
          <a:xfrm>
            <a:off x="1638000" y="4932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09  </a:t>
            </a:r>
            <a:r>
              <a:rPr sz="2000" b="0">
                <a:solidFill>
                  <a:srgbClr val="C9FFE2"/>
                </a:solidFill>
                <a:latin typeface="Consolas"/>
              </a:rPr>
              <a:t>Related Trends</a:t>
            </a:r>
          </a:p>
        </p:txBody>
      </p:sp>
      <p:sp>
        <p:nvSpPr>
          <p:cNvPr id="31" name="!!actor-layer_8"/>
          <p:cNvSpPr/>
          <p:nvPr/>
        </p:nvSpPr>
        <p:spPr>
          <a:xfrm>
            <a:off x="827999" y="5454000"/>
            <a:ext cx="684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OK</a:t>
            </a:r>
          </a:p>
        </p:txBody>
      </p:sp>
      <p:sp>
        <p:nvSpPr>
          <p:cNvPr id="32" name="#s2-item_8"/>
          <p:cNvSpPr txBox="1"/>
          <p:nvPr/>
        </p:nvSpPr>
        <p:spPr>
          <a:xfrm>
            <a:off x="1638000" y="5454000"/>
            <a:ext cx="6083999" cy="34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10  </a:t>
            </a:r>
            <a:r>
              <a:rPr sz="2000" b="0">
                <a:solidFill>
                  <a:srgbClr val="C9FFE2"/>
                </a:solidFill>
                <a:latin typeface="Consolas"/>
              </a:rPr>
              <a:t>Takeaways &amp; Q&amp;A</a:t>
            </a:r>
          </a:p>
        </p:txBody>
      </p:sp>
      <p:sp>
        <p:nvSpPr>
          <p:cNvPr id="33" name="#s2-ready"/>
          <p:cNvSpPr txBox="1"/>
          <p:nvPr/>
        </p:nvSpPr>
        <p:spPr>
          <a:xfrm>
            <a:off x="8388000" y="3060000"/>
            <a:ext cx="2880000" cy="1296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3000" b="0" dirty="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SYSTEM</a:t>
            </a:r>
          </a:p>
          <a:p>
            <a:pPr algn="ctr">
              <a:spcAft>
                <a:spcPts val="400"/>
              </a:spcAft>
            </a:pPr>
            <a:r>
              <a:rPr sz="3000" b="0" dirty="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READY</a:t>
            </a:r>
          </a:p>
          <a:p>
            <a:pPr algn="ctr"/>
            <a:r>
              <a:rPr sz="1600" b="1" dirty="0">
                <a:solidFill>
                  <a:srgbClr val="5FA37E"/>
                </a:solidFill>
                <a:latin typeface="Consolas"/>
              </a:rPr>
              <a:t>8/8 LOADED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8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12000000">
            <a:off x="8820000" y="3960000"/>
            <a:ext cx="3960000" cy="396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5600000">
            <a:off x="8463600" y="3603600"/>
            <a:ext cx="4672799" cy="4672799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1800000">
            <a:off x="9216000" y="4356000"/>
            <a:ext cx="3168000" cy="3168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224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889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2951999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2509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3243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</a:t>
            </a:r>
            <a:r>
              <a:rPr sz="1200" b="0">
                <a:solidFill>
                  <a:srgbClr val="5FA37E"/>
                </a:solidFill>
                <a:latin typeface="Consolas"/>
              </a:rPr>
              <a:t>»  </a:t>
            </a:r>
            <a:r>
              <a:rPr lang="en-IN" sz="1200" b="0">
                <a:solidFill>
                  <a:srgbClr val="5FA37E"/>
                </a:solidFill>
                <a:latin typeface="Consolas"/>
              </a:rPr>
              <a:t>15616226003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[ 03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3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THE MEMORY WALL</a:t>
            </a:r>
          </a:p>
        </p:txBody>
      </p:sp>
      <p:sp>
        <p:nvSpPr>
          <p:cNvPr id="15" name="#s3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model weights outgrow consumer GPUs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1314000"/>
            <a:ext cx="7343999" cy="4770000"/>
          </a:xfrm>
          <a:prstGeom prst="roundRect">
            <a:avLst>
              <a:gd name="adj" fmla="val 2264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!!actor-layer_1"/>
          <p:cNvSpPr/>
          <p:nvPr/>
        </p:nvSpPr>
        <p:spPr>
          <a:xfrm>
            <a:off x="576000" y="14040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L1</a:t>
            </a:r>
          </a:p>
        </p:txBody>
      </p:sp>
      <p:sp>
        <p:nvSpPr>
          <p:cNvPr id="18" name="!!actor-layer_2"/>
          <p:cNvSpPr/>
          <p:nvPr/>
        </p:nvSpPr>
        <p:spPr>
          <a:xfrm>
            <a:off x="576000" y="18612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L2</a:t>
            </a:r>
          </a:p>
        </p:txBody>
      </p:sp>
      <p:sp>
        <p:nvSpPr>
          <p:cNvPr id="19" name="!!actor-layer_3"/>
          <p:cNvSpPr/>
          <p:nvPr/>
        </p:nvSpPr>
        <p:spPr>
          <a:xfrm>
            <a:off x="576000" y="23184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L3</a:t>
            </a:r>
          </a:p>
        </p:txBody>
      </p:sp>
      <p:sp>
        <p:nvSpPr>
          <p:cNvPr id="20" name="!!actor-layer_4"/>
          <p:cNvSpPr/>
          <p:nvPr/>
        </p:nvSpPr>
        <p:spPr>
          <a:xfrm>
            <a:off x="576000" y="27756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L4</a:t>
            </a:r>
          </a:p>
        </p:txBody>
      </p:sp>
      <p:sp>
        <p:nvSpPr>
          <p:cNvPr id="21" name="!!actor-layer_5"/>
          <p:cNvSpPr/>
          <p:nvPr/>
        </p:nvSpPr>
        <p:spPr>
          <a:xfrm>
            <a:off x="576000" y="32328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…</a:t>
            </a:r>
          </a:p>
        </p:txBody>
      </p:sp>
      <p:sp>
        <p:nvSpPr>
          <p:cNvPr id="22" name="!!actor-layer_6"/>
          <p:cNvSpPr/>
          <p:nvPr/>
        </p:nvSpPr>
        <p:spPr>
          <a:xfrm>
            <a:off x="576000" y="36900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L78</a:t>
            </a:r>
          </a:p>
        </p:txBody>
      </p:sp>
      <p:sp>
        <p:nvSpPr>
          <p:cNvPr id="23" name="!!actor-layer_7"/>
          <p:cNvSpPr/>
          <p:nvPr/>
        </p:nvSpPr>
        <p:spPr>
          <a:xfrm>
            <a:off x="576000" y="41472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L79</a:t>
            </a:r>
          </a:p>
        </p:txBody>
      </p:sp>
      <p:sp>
        <p:nvSpPr>
          <p:cNvPr id="24" name="!!actor-layer_8"/>
          <p:cNvSpPr/>
          <p:nvPr/>
        </p:nvSpPr>
        <p:spPr>
          <a:xfrm>
            <a:off x="576000" y="4604400"/>
            <a:ext cx="2664000" cy="360000"/>
          </a:xfrm>
          <a:prstGeom prst="roundRect">
            <a:avLst>
              <a:gd name="adj" fmla="val 150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L80</a:t>
            </a:r>
          </a:p>
        </p:txBody>
      </p:sp>
      <p:sp>
        <p:nvSpPr>
          <p:cNvPr id="25" name="#s3-tower_label"/>
          <p:cNvSpPr txBox="1"/>
          <p:nvPr/>
        </p:nvSpPr>
        <p:spPr>
          <a:xfrm>
            <a:off x="576000" y="5112000"/>
            <a:ext cx="2664000" cy="576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1800" b="1">
                <a:solidFill>
                  <a:srgbClr val="C9FFE2"/>
                </a:solidFill>
                <a:latin typeface="Consolas"/>
              </a:rPr>
              <a:t>70B model</a:t>
            </a:r>
          </a:p>
          <a:p>
            <a:pPr algn="ctr"/>
            <a:r>
              <a:rPr sz="1800" b="1">
                <a:solidFill>
                  <a:srgbClr val="FFB000"/>
                </a:solidFill>
                <a:latin typeface="Consolas"/>
              </a:rPr>
              <a:t>≈ 140 GB in fp16</a:t>
            </a:r>
          </a:p>
        </p:txBody>
      </p:sp>
      <p:sp>
        <p:nvSpPr>
          <p:cNvPr id="26" name="#s3-arrow"/>
          <p:cNvSpPr/>
          <p:nvPr/>
        </p:nvSpPr>
        <p:spPr>
          <a:xfrm>
            <a:off x="3456000" y="2808000"/>
            <a:ext cx="864000" cy="468000"/>
          </a:xfrm>
          <a:prstGeom prst="rightArrow">
            <a:avLst/>
          </a:prstGeom>
          <a:solidFill>
            <a:srgbClr val="00FF88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#s3-oom"/>
          <p:cNvSpPr/>
          <p:nvPr/>
        </p:nvSpPr>
        <p:spPr>
          <a:xfrm>
            <a:off x="4536000" y="1404000"/>
            <a:ext cx="3456000" cy="2376000"/>
          </a:xfrm>
          <a:prstGeom prst="roundRect">
            <a:avLst>
              <a:gd name="adj" fmla="val 4545"/>
            </a:avLst>
          </a:prstGeom>
          <a:solidFill>
            <a:srgbClr val="1A0B0F"/>
          </a:solidFill>
          <a:ln w="25400">
            <a:solidFill>
              <a:srgbClr val="FF4D5E"/>
            </a:solidFill>
          </a:ln>
          <a:effectLst>
            <a:glow rad="101600">
              <a:srgbClr val="FF4D5E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62000" rIns="198000" bIns="162000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4D5E"/>
                </a:solidFill>
                <a:latin typeface="Consolas"/>
              </a:rPr>
              <a:t>RuntimeError: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FF4D5E"/>
                </a:solidFill>
                <a:latin typeface="Bahnschrift SemiBold"/>
              </a:rPr>
              <a:t>CUDA out of memory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Consolas"/>
              </a:rPr>
              <a:t>need   140 GB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Consolas"/>
              </a:rPr>
              <a:t>have     4 GB</a:t>
            </a:r>
          </a:p>
          <a:p>
            <a:pPr algn="l"/>
            <a:r>
              <a:rPr sz="1800" b="1">
                <a:solidFill>
                  <a:srgbClr val="FFB000"/>
                </a:solidFill>
                <a:latin typeface="Consolas"/>
              </a:rPr>
              <a:t>→ load aborted</a:t>
            </a:r>
          </a:p>
        </p:txBody>
      </p:sp>
      <p:sp>
        <p:nvSpPr>
          <p:cNvPr id="28" name="#s3-callout"/>
          <p:cNvSpPr txBox="1"/>
          <p:nvPr/>
        </p:nvSpPr>
        <p:spPr>
          <a:xfrm>
            <a:off x="4536000" y="3960000"/>
            <a:ext cx="3456000" cy="172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SPATIAL MEMORY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Traditional loading keeps every layer resident at the same time, so VRAM must hold the whole model.</a:t>
            </a:r>
          </a:p>
        </p:txBody>
      </p:sp>
      <p:sp>
        <p:nvSpPr>
          <p:cNvPr id="29" name="#s3-math"/>
          <p:cNvSpPr/>
          <p:nvPr/>
        </p:nvSpPr>
        <p:spPr>
          <a:xfrm>
            <a:off x="8280000" y="1404000"/>
            <a:ext cx="3335999" cy="4284000"/>
          </a:xfrm>
          <a:prstGeom prst="roundRect">
            <a:avLst>
              <a:gd name="adj" fmla="val 3237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WEIGHTS (fp16)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params × 2 bytes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9FFE2"/>
                </a:solidFill>
                <a:latin typeface="Consolas"/>
              </a:rPr>
              <a:t>   7B →  14 GB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9FFE2"/>
                </a:solidFill>
                <a:latin typeface="Consolas"/>
              </a:rPr>
              <a:t>  13B →  26 GB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FB000"/>
                </a:solidFill>
                <a:latin typeface="Consolas"/>
              </a:rPr>
              <a:t>  70B → 140 GB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C9FFE2"/>
                </a:solidFill>
                <a:latin typeface="Consolas"/>
              </a:rPr>
              <a:t> 405B → 810 GB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CONSUMER GPU</a:t>
            </a:r>
          </a:p>
          <a:p>
            <a:pPr algn="l"/>
            <a:r>
              <a:rPr sz="2000" b="1">
                <a:solidFill>
                  <a:srgbClr val="FFB000"/>
                </a:solidFill>
                <a:latin typeface="Consolas"/>
              </a:rPr>
              <a:t>4–24 GB VRAM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18000000">
            <a:off x="8820000" y="-900000"/>
            <a:ext cx="3240000" cy="324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200000">
            <a:off x="8528400" y="-1191599"/>
            <a:ext cx="3823199" cy="3823199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8400000">
            <a:off x="9144000" y="-576000"/>
            <a:ext cx="2592000" cy="2592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6156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3787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1249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799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1861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</a:t>
            </a:r>
            <a:r>
              <a:rPr sz="1200" b="0">
                <a:solidFill>
                  <a:srgbClr val="5FA37E"/>
                </a:solidFill>
                <a:latin typeface="Consolas"/>
              </a:rPr>
              <a:t>»  </a:t>
            </a:r>
            <a:r>
              <a:rPr lang="en-IN" sz="1200" b="0">
                <a:solidFill>
                  <a:srgbClr val="5FA37E"/>
                </a:solidFill>
                <a:latin typeface="Consolas"/>
              </a:rPr>
              <a:t>15616226003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[ 04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4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KEY INSIGHT</a:t>
            </a:r>
          </a:p>
        </p:txBody>
      </p:sp>
      <p:sp>
        <p:nvSpPr>
          <p:cNvPr id="15" name="#s4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layers execute one after another → reuse memory over time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1314000"/>
            <a:ext cx="7343999" cy="4770000"/>
          </a:xfrm>
          <a:prstGeom prst="roundRect">
            <a:avLst>
              <a:gd name="adj" fmla="val 2264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#s4-spatial"/>
          <p:cNvSpPr/>
          <p:nvPr/>
        </p:nvSpPr>
        <p:spPr>
          <a:xfrm>
            <a:off x="576000" y="1350000"/>
            <a:ext cx="11040000" cy="1188000"/>
          </a:xfrm>
          <a:prstGeom prst="roundRect">
            <a:avLst>
              <a:gd name="adj" fmla="val 909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144000" rIns="216000" bIns="144000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5FA37E"/>
                </a:solidFill>
                <a:latin typeface="Consolas"/>
              </a:rPr>
              <a:t>SPATIAL · traditional</a:t>
            </a:r>
          </a:p>
          <a:p>
            <a:pPr algn="l"/>
            <a:r>
              <a:rPr sz="2200" b="0">
                <a:solidFill>
                  <a:srgbClr val="C9FFE2"/>
                </a:solidFill>
                <a:latin typeface="Bahnschrift"/>
              </a:rPr>
              <a:t>Load all 80 layers, then compute.</a:t>
            </a:r>
          </a:p>
        </p:txBody>
      </p:sp>
      <p:sp>
        <p:nvSpPr>
          <p:cNvPr id="18" name="#s4-spatial_need"/>
          <p:cNvSpPr txBox="1"/>
          <p:nvPr/>
        </p:nvSpPr>
        <p:spPr>
          <a:xfrm>
            <a:off x="6840000" y="1350000"/>
            <a:ext cx="4608000" cy="11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2400" b="1">
                <a:solidFill>
                  <a:srgbClr val="FF4D5E"/>
                </a:solidFill>
                <a:latin typeface="Consolas"/>
              </a:rPr>
              <a:t>VRAM ≈ Σ layers ≈ 140 GB</a:t>
            </a:r>
          </a:p>
        </p:txBody>
      </p:sp>
      <p:sp>
        <p:nvSpPr>
          <p:cNvPr id="19" name="#s4-temporal"/>
          <p:cNvSpPr txBox="1"/>
          <p:nvPr/>
        </p:nvSpPr>
        <p:spPr>
          <a:xfrm>
            <a:off x="576000" y="2718000"/>
            <a:ext cx="648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216000" tIns="18000" rIns="216000" bIns="180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TEMPORAL · AirLLM</a:t>
            </a:r>
          </a:p>
          <a:p>
            <a:pPr algn="l"/>
            <a:r>
              <a:rPr sz="2200" b="0">
                <a:solidFill>
                  <a:srgbClr val="C9FFE2"/>
                </a:solidFill>
                <a:latin typeface="Bahnschrift"/>
              </a:rPr>
              <a:t>Stream a layer in, compute, evict, repeat.</a:t>
            </a:r>
          </a:p>
        </p:txBody>
      </p:sp>
      <p:sp>
        <p:nvSpPr>
          <p:cNvPr id="20" name="#s4-temporal_need"/>
          <p:cNvSpPr txBox="1"/>
          <p:nvPr/>
        </p:nvSpPr>
        <p:spPr>
          <a:xfrm>
            <a:off x="6840000" y="2718000"/>
            <a:ext cx="4608000" cy="7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2400" b="1">
                <a:solidFill>
                  <a:srgbClr val="00FF88"/>
                </a:solidFill>
                <a:effectLst>
                  <a:glow rad="63500">
                    <a:srgbClr val="00FF88">
                      <a:alpha val="35000"/>
                    </a:srgbClr>
                  </a:glow>
                </a:effectLst>
                <a:latin typeface="Consolas"/>
              </a:rPr>
              <a:t>VRAM ≈ 1 layer ≈ 1.7 GB*</a:t>
            </a:r>
          </a:p>
        </p:txBody>
      </p:sp>
      <p:sp>
        <p:nvSpPr>
          <p:cNvPr id="21" name="#s4-window_label"/>
          <p:cNvSpPr txBox="1"/>
          <p:nvPr/>
        </p:nvSpPr>
        <p:spPr>
          <a:xfrm>
            <a:off x="371999" y="3438000"/>
            <a:ext cx="1620000" cy="251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▼ in VRAM</a:t>
            </a:r>
          </a:p>
        </p:txBody>
      </p:sp>
      <p:sp>
        <p:nvSpPr>
          <p:cNvPr id="22" name="#s4-window"/>
          <p:cNvSpPr/>
          <p:nvPr/>
        </p:nvSpPr>
        <p:spPr>
          <a:xfrm>
            <a:off x="498000" y="3726000"/>
            <a:ext cx="1368000" cy="612000"/>
          </a:xfrm>
          <a:prstGeom prst="roundRect">
            <a:avLst>
              <a:gd name="adj" fmla="val 17647"/>
            </a:avLst>
          </a:prstGeom>
          <a:noFill/>
          <a:ln w="25400">
            <a:solidFill>
              <a:srgbClr val="00FF88"/>
            </a:solidFill>
            <a:prstDash val="dash"/>
          </a:ln>
          <a:effectLst>
            <a:glow rad="76200">
              <a:srgbClr val="00FF88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!!actor-layer_1"/>
          <p:cNvSpPr/>
          <p:nvPr/>
        </p:nvSpPr>
        <p:spPr>
          <a:xfrm>
            <a:off x="588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L1</a:t>
            </a:r>
          </a:p>
        </p:txBody>
      </p:sp>
      <p:sp>
        <p:nvSpPr>
          <p:cNvPr id="24" name="!!actor-layer_2"/>
          <p:cNvSpPr/>
          <p:nvPr/>
        </p:nvSpPr>
        <p:spPr>
          <a:xfrm>
            <a:off x="1992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L2</a:t>
            </a:r>
          </a:p>
        </p:txBody>
      </p:sp>
      <p:sp>
        <p:nvSpPr>
          <p:cNvPr id="25" name="!!actor-layer_3"/>
          <p:cNvSpPr/>
          <p:nvPr/>
        </p:nvSpPr>
        <p:spPr>
          <a:xfrm>
            <a:off x="3396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L3</a:t>
            </a:r>
          </a:p>
        </p:txBody>
      </p:sp>
      <p:sp>
        <p:nvSpPr>
          <p:cNvPr id="26" name="!!actor-layer_4"/>
          <p:cNvSpPr/>
          <p:nvPr/>
        </p:nvSpPr>
        <p:spPr>
          <a:xfrm>
            <a:off x="4800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L4</a:t>
            </a:r>
          </a:p>
        </p:txBody>
      </p:sp>
      <p:sp>
        <p:nvSpPr>
          <p:cNvPr id="27" name="!!actor-layer_5"/>
          <p:cNvSpPr/>
          <p:nvPr/>
        </p:nvSpPr>
        <p:spPr>
          <a:xfrm>
            <a:off x="6204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…</a:t>
            </a:r>
          </a:p>
        </p:txBody>
      </p:sp>
      <p:sp>
        <p:nvSpPr>
          <p:cNvPr id="28" name="!!actor-layer_6"/>
          <p:cNvSpPr/>
          <p:nvPr/>
        </p:nvSpPr>
        <p:spPr>
          <a:xfrm>
            <a:off x="7608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L78</a:t>
            </a:r>
          </a:p>
        </p:txBody>
      </p:sp>
      <p:sp>
        <p:nvSpPr>
          <p:cNvPr id="29" name="!!actor-layer_7"/>
          <p:cNvSpPr/>
          <p:nvPr/>
        </p:nvSpPr>
        <p:spPr>
          <a:xfrm>
            <a:off x="9012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L79</a:t>
            </a:r>
          </a:p>
        </p:txBody>
      </p:sp>
      <p:sp>
        <p:nvSpPr>
          <p:cNvPr id="30" name="!!actor-layer_8"/>
          <p:cNvSpPr/>
          <p:nvPr/>
        </p:nvSpPr>
        <p:spPr>
          <a:xfrm>
            <a:off x="10416000" y="3816000"/>
            <a:ext cx="1188000" cy="432000"/>
          </a:xfrm>
          <a:prstGeom prst="roundRect">
            <a:avLst>
              <a:gd name="adj" fmla="val 12500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L80</a:t>
            </a:r>
          </a:p>
        </p:txBody>
      </p:sp>
      <p:sp>
        <p:nvSpPr>
          <p:cNvPr id="31" name="#s4-time"/>
          <p:cNvSpPr/>
          <p:nvPr/>
        </p:nvSpPr>
        <p:spPr>
          <a:xfrm>
            <a:off x="576000" y="4536000"/>
            <a:ext cx="11040000" cy="198000"/>
          </a:xfrm>
          <a:prstGeom prst="rightArrow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#s4-time_label"/>
          <p:cNvSpPr txBox="1"/>
          <p:nvPr/>
        </p:nvSpPr>
        <p:spPr>
          <a:xfrm>
            <a:off x="576000" y="4788000"/>
            <a:ext cx="1104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1600" b="0">
                <a:solidFill>
                  <a:srgbClr val="5FA37E"/>
                </a:solidFill>
                <a:latin typeface="Consolas"/>
              </a:rPr>
              <a:t>time → one layer per step · 80 steps per generated token</a:t>
            </a:r>
          </a:p>
        </p:txBody>
      </p:sp>
      <p:sp>
        <p:nvSpPr>
          <p:cNvPr id="33" name="#s4-foot"/>
          <p:cNvSpPr txBox="1"/>
          <p:nvPr/>
        </p:nvSpPr>
        <p:spPr>
          <a:xfrm>
            <a:off x="576000" y="5616000"/>
            <a:ext cx="1104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400" b="0">
                <a:solidFill>
                  <a:srgbClr val="5FA37E"/>
                </a:solidFill>
                <a:latin typeface="Consolas"/>
              </a:rPr>
              <a:t>* fp16 weights of one 70B decoder layer (≈0.86B params × 2 bytes); activations, KV cache and CUDA context add overhead.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2400000">
            <a:off x="2134800" y="3780000"/>
            <a:ext cx="7920000" cy="792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7200000">
            <a:off x="1422000" y="3067200"/>
            <a:ext cx="9345599" cy="9345599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17400000">
            <a:off x="2926799" y="4572000"/>
            <a:ext cx="6336000" cy="6336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224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7920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4165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3585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3700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</a:t>
            </a:r>
            <a:r>
              <a:rPr sz="1200" b="0">
                <a:solidFill>
                  <a:srgbClr val="5FA37E"/>
                </a:solidFill>
                <a:latin typeface="Consolas"/>
              </a:rPr>
              <a:t>»  </a:t>
            </a:r>
            <a:r>
              <a:rPr lang="en-IN" sz="1200" b="0">
                <a:solidFill>
                  <a:srgbClr val="5FA37E"/>
                </a:solidFill>
                <a:latin typeface="Consolas"/>
              </a:rPr>
              <a:t>15616226003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[ 05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5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ARCHITECTURE</a:t>
            </a:r>
          </a:p>
        </p:txBody>
      </p:sp>
      <p:sp>
        <p:nvSpPr>
          <p:cNvPr id="15" name="#s5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split once, then stream shards through 3 memory tiers</a:t>
            </a:r>
          </a:p>
        </p:txBody>
      </p:sp>
      <p:sp>
        <p:nvSpPr>
          <p:cNvPr id="16" name="#s5-tier_disk"/>
          <p:cNvSpPr/>
          <p:nvPr/>
        </p:nvSpPr>
        <p:spPr>
          <a:xfrm>
            <a:off x="576000" y="1350000"/>
            <a:ext cx="3204000" cy="3348000"/>
          </a:xfrm>
          <a:prstGeom prst="roundRect">
            <a:avLst>
              <a:gd name="adj" fmla="val 337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DISK · NVMe / SSD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Bahnschrift"/>
              </a:rPr>
              <a:t>80 per-layer shards</a:t>
            </a:r>
          </a:p>
        </p:txBody>
      </p:sp>
      <p:sp>
        <p:nvSpPr>
          <p:cNvPr id="17" name="#s5-tier_ram"/>
          <p:cNvSpPr/>
          <p:nvPr/>
        </p:nvSpPr>
        <p:spPr>
          <a:xfrm>
            <a:off x="4500000" y="1350000"/>
            <a:ext cx="3204000" cy="3348000"/>
          </a:xfrm>
          <a:prstGeom prst="roundRect">
            <a:avLst>
              <a:gd name="adj" fmla="val 337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CPU RAM · pinned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Bahnschrift"/>
              </a:rPr>
              <a:t>prefetch buffer</a:t>
            </a:r>
          </a:p>
        </p:txBody>
      </p:sp>
      <p:sp>
        <p:nvSpPr>
          <p:cNvPr id="18" name="#s5-tier_vram"/>
          <p:cNvSpPr/>
          <p:nvPr/>
        </p:nvSpPr>
        <p:spPr>
          <a:xfrm>
            <a:off x="8412000" y="1350000"/>
            <a:ext cx="3204000" cy="3348000"/>
          </a:xfrm>
          <a:prstGeom prst="roundRect">
            <a:avLst>
              <a:gd name="adj" fmla="val 3370"/>
            </a:avLst>
          </a:prstGeom>
          <a:solidFill>
            <a:srgbClr val="0E1612"/>
          </a:solidFill>
          <a:ln w="12700">
            <a:solidFill>
              <a:srgbClr val="00FF88"/>
            </a:solidFill>
          </a:ln>
          <a:effectLst>
            <a:glow rad="101600">
              <a:srgbClr val="00FF88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GPU VRAM · 4 GB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Bahnschrift"/>
              </a:rPr>
              <a:t>one active layer</a:t>
            </a:r>
          </a:p>
        </p:txBody>
      </p:sp>
      <p:sp>
        <p:nvSpPr>
          <p:cNvPr id="19" name="!!actor-layer_3"/>
          <p:cNvSpPr/>
          <p:nvPr/>
        </p:nvSpPr>
        <p:spPr>
          <a:xfrm>
            <a:off x="864000" y="22140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L3</a:t>
            </a:r>
          </a:p>
        </p:txBody>
      </p:sp>
      <p:sp>
        <p:nvSpPr>
          <p:cNvPr id="20" name="!!actor-layer_4"/>
          <p:cNvSpPr/>
          <p:nvPr/>
        </p:nvSpPr>
        <p:spPr>
          <a:xfrm>
            <a:off x="864000" y="26172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L4</a:t>
            </a:r>
          </a:p>
        </p:txBody>
      </p:sp>
      <p:sp>
        <p:nvSpPr>
          <p:cNvPr id="21" name="!!actor-layer_5"/>
          <p:cNvSpPr/>
          <p:nvPr/>
        </p:nvSpPr>
        <p:spPr>
          <a:xfrm>
            <a:off x="864000" y="30204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…</a:t>
            </a:r>
          </a:p>
        </p:txBody>
      </p:sp>
      <p:sp>
        <p:nvSpPr>
          <p:cNvPr id="22" name="!!actor-layer_6"/>
          <p:cNvSpPr/>
          <p:nvPr/>
        </p:nvSpPr>
        <p:spPr>
          <a:xfrm>
            <a:off x="864000" y="34236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L78</a:t>
            </a:r>
          </a:p>
        </p:txBody>
      </p:sp>
      <p:sp>
        <p:nvSpPr>
          <p:cNvPr id="23" name="!!actor-layer_7"/>
          <p:cNvSpPr/>
          <p:nvPr/>
        </p:nvSpPr>
        <p:spPr>
          <a:xfrm>
            <a:off x="864000" y="38268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L79</a:t>
            </a:r>
          </a:p>
        </p:txBody>
      </p:sp>
      <p:sp>
        <p:nvSpPr>
          <p:cNvPr id="24" name="!!actor-layer_8"/>
          <p:cNvSpPr/>
          <p:nvPr/>
        </p:nvSpPr>
        <p:spPr>
          <a:xfrm>
            <a:off x="864000" y="4230000"/>
            <a:ext cx="2628000" cy="306000"/>
          </a:xfrm>
          <a:prstGeom prst="roundRect">
            <a:avLst>
              <a:gd name="adj" fmla="val 17647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L80</a:t>
            </a:r>
          </a:p>
        </p:txBody>
      </p:sp>
      <p:sp>
        <p:nvSpPr>
          <p:cNvPr id="25" name="!!actor-layer_2"/>
          <p:cNvSpPr/>
          <p:nvPr/>
        </p:nvSpPr>
        <p:spPr>
          <a:xfrm>
            <a:off x="4788000" y="2988000"/>
            <a:ext cx="2628000" cy="396000"/>
          </a:xfrm>
          <a:prstGeom prst="roundRect">
            <a:avLst>
              <a:gd name="adj" fmla="val 13636"/>
            </a:avLst>
          </a:prstGeom>
          <a:solidFill>
            <a:srgbClr val="1C1706"/>
          </a:solidFill>
          <a:ln w="15875">
            <a:solidFill>
              <a:srgbClr val="FFB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FFB000"/>
                </a:solidFill>
                <a:latin typeface="Consolas"/>
              </a:rPr>
              <a:t>L2 · prefetch</a:t>
            </a:r>
          </a:p>
        </p:txBody>
      </p:sp>
      <p:sp>
        <p:nvSpPr>
          <p:cNvPr id="26" name="!!actor-layer_1"/>
          <p:cNvSpPr/>
          <p:nvPr/>
        </p:nvSpPr>
        <p:spPr>
          <a:xfrm>
            <a:off x="8700000" y="2988000"/>
            <a:ext cx="2628000" cy="396000"/>
          </a:xfrm>
          <a:prstGeom prst="roundRect">
            <a:avLst>
              <a:gd name="adj" fmla="val 1363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L1 · compute</a:t>
            </a:r>
          </a:p>
        </p:txBody>
      </p:sp>
      <p:sp>
        <p:nvSpPr>
          <p:cNvPr id="27" name="#s5-ram_note"/>
          <p:cNvSpPr txBox="1"/>
          <p:nvPr/>
        </p:nvSpPr>
        <p:spPr>
          <a:xfrm>
            <a:off x="4608000" y="3564000"/>
            <a:ext cx="2988000" cy="7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algn="ctr"/>
            <a:r>
              <a:rPr sz="1800" b="0">
                <a:solidFill>
                  <a:srgbClr val="5FA37E"/>
                </a:solidFill>
                <a:latin typeface="Consolas"/>
              </a:rPr>
              <a:t>async read overlaps compute</a:t>
            </a:r>
          </a:p>
        </p:txBody>
      </p:sp>
      <p:sp>
        <p:nvSpPr>
          <p:cNvPr id="28" name="#s5-vram_note"/>
          <p:cNvSpPr txBox="1"/>
          <p:nvPr/>
        </p:nvSpPr>
        <p:spPr>
          <a:xfrm>
            <a:off x="8520000" y="3564000"/>
            <a:ext cx="2988000" cy="72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algn="ctr"/>
            <a:r>
              <a:rPr sz="1800" b="0">
                <a:solidFill>
                  <a:srgbClr val="5FA37E"/>
                </a:solidFill>
                <a:latin typeface="Consolas"/>
              </a:rPr>
              <a:t>weights evicted right after use</a:t>
            </a:r>
          </a:p>
        </p:txBody>
      </p:sp>
      <p:sp>
        <p:nvSpPr>
          <p:cNvPr id="29" name="#s5-arrow_1"/>
          <p:cNvSpPr/>
          <p:nvPr/>
        </p:nvSpPr>
        <p:spPr>
          <a:xfrm>
            <a:off x="3834000" y="2951999"/>
            <a:ext cx="612000" cy="468000"/>
          </a:xfrm>
          <a:prstGeom prst="rightArrow">
            <a:avLst/>
          </a:prstGeom>
          <a:solidFill>
            <a:srgbClr val="00FF8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#s5-arrow_2"/>
          <p:cNvSpPr/>
          <p:nvPr/>
        </p:nvSpPr>
        <p:spPr>
          <a:xfrm>
            <a:off x="7757999" y="2951999"/>
            <a:ext cx="612000" cy="468000"/>
          </a:xfrm>
          <a:prstGeom prst="rightArrow">
            <a:avLst/>
          </a:prstGeom>
          <a:solidFill>
            <a:srgbClr val="00FF8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!!actor-terminal"/>
          <p:cNvSpPr/>
          <p:nvPr/>
        </p:nvSpPr>
        <p:spPr>
          <a:xfrm>
            <a:off x="576000" y="4842000"/>
            <a:ext cx="11040000" cy="1332000"/>
          </a:xfrm>
          <a:prstGeom prst="roundRect">
            <a:avLst>
              <a:gd name="adj" fmla="val 8108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python — usage</a:t>
            </a:r>
          </a:p>
          <a:p>
            <a:pPr algn="l"/>
            <a:r>
              <a:rPr sz="1800" b="1">
                <a:solidFill>
                  <a:srgbClr val="00FF88"/>
                </a:solidFill>
                <a:latin typeface="Consolas"/>
              </a:rPr>
              <a:t>&gt;&gt;&gt; </a:t>
            </a:r>
            <a:r>
              <a:rPr sz="1800" b="0">
                <a:solidFill>
                  <a:srgbClr val="C9FFE2"/>
                </a:solidFill>
                <a:latin typeface="Consolas"/>
              </a:rPr>
              <a:t>from airllm import AutoModel</a:t>
            </a:r>
          </a:p>
          <a:p>
            <a:pPr algn="l"/>
            <a:r>
              <a:rPr sz="1800" b="1">
                <a:solidFill>
                  <a:srgbClr val="00FF88"/>
                </a:solidFill>
                <a:latin typeface="Consolas"/>
              </a:rPr>
              <a:t>&gt;&gt;&gt; </a:t>
            </a:r>
            <a:r>
              <a:rPr sz="1800" b="0">
                <a:solidFill>
                  <a:srgbClr val="C9FFE2"/>
                </a:solidFill>
                <a:latin typeface="Consolas"/>
              </a:rPr>
              <a:t>model = AutoModel.from_pretrained("meta-llama/Llama-2-70b-hf")</a:t>
            </a:r>
          </a:p>
          <a:p>
            <a:pPr algn="l"/>
            <a:r>
              <a:rPr sz="1800" b="1">
                <a:solidFill>
                  <a:srgbClr val="00FF88"/>
                </a:solidFill>
                <a:latin typeface="Consolas"/>
              </a:rPr>
              <a:t>&gt;&gt;&gt; </a:t>
            </a:r>
            <a:r>
              <a:rPr sz="1800" b="0">
                <a:solidFill>
                  <a:srgbClr val="C9FFE2"/>
                </a:solidFill>
                <a:latin typeface="Consolas"/>
              </a:rPr>
              <a:t>out = model.generate(ids.cuda(), max_new_tokens=20)</a:t>
            </a:r>
            <a:r>
              <a:rPr sz="1800" b="0">
                <a:solidFill>
                  <a:srgbClr val="5FA37E"/>
                </a:solidFill>
                <a:latin typeface="Consolas"/>
              </a:rPr>
              <a:t>  # streams per layer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9600000">
            <a:off x="1583999" y="1853999"/>
            <a:ext cx="3744000" cy="3744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3800000">
            <a:off x="1247039" y="1517039"/>
            <a:ext cx="4417920" cy="441792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4800000">
            <a:off x="1958399" y="2228400"/>
            <a:ext cx="2995200" cy="29952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6156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2919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20340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316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2559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</a:t>
            </a:r>
            <a:r>
              <a:rPr sz="1200" b="0">
                <a:solidFill>
                  <a:srgbClr val="5FA37E"/>
                </a:solidFill>
                <a:latin typeface="Consolas"/>
              </a:rPr>
              <a:t>»  </a:t>
            </a:r>
            <a:r>
              <a:rPr lang="en-IN" sz="1200" b="0">
                <a:solidFill>
                  <a:srgbClr val="5FA37E"/>
                </a:solidFill>
                <a:latin typeface="Consolas"/>
              </a:rPr>
              <a:t>15616226003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[ 06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6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THE INFERENCE LOOP</a:t>
            </a:r>
          </a:p>
        </p:txBody>
      </p:sp>
      <p:sp>
        <p:nvSpPr>
          <p:cNvPr id="15" name="#s6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per token, repeated across all 80 layers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4842000"/>
            <a:ext cx="11040000" cy="1332000"/>
          </a:xfrm>
          <a:prstGeom prst="roundRect">
            <a:avLst>
              <a:gd name="adj" fmla="val 8108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!!actor-layer_1"/>
          <p:cNvSpPr/>
          <p:nvPr/>
        </p:nvSpPr>
        <p:spPr>
          <a:xfrm>
            <a:off x="3006000" y="1691999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L1</a:t>
            </a:r>
          </a:p>
        </p:txBody>
      </p:sp>
      <p:sp>
        <p:nvSpPr>
          <p:cNvPr id="18" name="!!actor-layer_2"/>
          <p:cNvSpPr/>
          <p:nvPr/>
        </p:nvSpPr>
        <p:spPr>
          <a:xfrm rot="2700000">
            <a:off x="4329703" y="2240296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C1706"/>
          </a:solidFill>
          <a:ln w="15875">
            <a:solidFill>
              <a:srgbClr val="FFB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FFB000"/>
                </a:solidFill>
                <a:latin typeface="Consolas"/>
              </a:rPr>
              <a:t>L2</a:t>
            </a:r>
          </a:p>
        </p:txBody>
      </p:sp>
      <p:sp>
        <p:nvSpPr>
          <p:cNvPr id="19" name="!!actor-layer_3"/>
          <p:cNvSpPr/>
          <p:nvPr/>
        </p:nvSpPr>
        <p:spPr>
          <a:xfrm rot="5400000">
            <a:off x="4878000" y="3564000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L3</a:t>
            </a:r>
          </a:p>
        </p:txBody>
      </p:sp>
      <p:sp>
        <p:nvSpPr>
          <p:cNvPr id="20" name="!!actor-layer_4"/>
          <p:cNvSpPr/>
          <p:nvPr/>
        </p:nvSpPr>
        <p:spPr>
          <a:xfrm rot="18900000">
            <a:off x="4329703" y="4887703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L4</a:t>
            </a:r>
          </a:p>
        </p:txBody>
      </p:sp>
      <p:sp>
        <p:nvSpPr>
          <p:cNvPr id="21" name="!!actor-layer_5"/>
          <p:cNvSpPr/>
          <p:nvPr/>
        </p:nvSpPr>
        <p:spPr>
          <a:xfrm>
            <a:off x="3006000" y="5436000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…</a:t>
            </a:r>
          </a:p>
        </p:txBody>
      </p:sp>
      <p:sp>
        <p:nvSpPr>
          <p:cNvPr id="22" name="!!actor-layer_6"/>
          <p:cNvSpPr/>
          <p:nvPr/>
        </p:nvSpPr>
        <p:spPr>
          <a:xfrm rot="2700000">
            <a:off x="1682296" y="4887703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L78</a:t>
            </a:r>
          </a:p>
        </p:txBody>
      </p:sp>
      <p:sp>
        <p:nvSpPr>
          <p:cNvPr id="23" name="!!actor-layer_7"/>
          <p:cNvSpPr/>
          <p:nvPr/>
        </p:nvSpPr>
        <p:spPr>
          <a:xfrm rot="16200000">
            <a:off x="1133999" y="3564000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L79</a:t>
            </a:r>
          </a:p>
        </p:txBody>
      </p:sp>
      <p:sp>
        <p:nvSpPr>
          <p:cNvPr id="24" name="!!actor-layer_8"/>
          <p:cNvSpPr/>
          <p:nvPr/>
        </p:nvSpPr>
        <p:spPr>
          <a:xfrm rot="18900000">
            <a:off x="1682296" y="2240296"/>
            <a:ext cx="900000" cy="324000"/>
          </a:xfrm>
          <a:prstGeom prst="roundRect">
            <a:avLst>
              <a:gd name="adj" fmla="val 16666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0FF88"/>
                </a:solidFill>
                <a:latin typeface="Consolas"/>
              </a:rPr>
              <a:t>L80</a:t>
            </a:r>
          </a:p>
        </p:txBody>
      </p:sp>
      <p:sp>
        <p:nvSpPr>
          <p:cNvPr id="25" name="#s6-center"/>
          <p:cNvSpPr txBox="1"/>
          <p:nvPr/>
        </p:nvSpPr>
        <p:spPr>
          <a:xfrm>
            <a:off x="2376000" y="3150000"/>
            <a:ext cx="2160000" cy="1152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4400" b="0">
                <a:solidFill>
                  <a:srgbClr val="00FF88"/>
                </a:solidFill>
                <a:effectLst>
                  <a:glow rad="101600">
                    <a:srgbClr val="00FF88">
                      <a:alpha val="50000"/>
                    </a:srgbClr>
                  </a:glow>
                </a:effectLst>
                <a:latin typeface="Bahnschrift SemiBold"/>
              </a:rPr>
              <a:t>×80</a:t>
            </a:r>
          </a:p>
          <a:p>
            <a:pPr algn="ctr"/>
            <a:r>
              <a:rPr sz="1600" b="0">
                <a:solidFill>
                  <a:srgbClr val="5FA37E"/>
                </a:solidFill>
                <a:latin typeface="Consolas"/>
              </a:rPr>
              <a:t>layers / token</a:t>
            </a:r>
          </a:p>
        </p:txBody>
      </p:sp>
      <p:sp>
        <p:nvSpPr>
          <p:cNvPr id="26" name="#s6-step_1"/>
          <p:cNvSpPr/>
          <p:nvPr/>
        </p:nvSpPr>
        <p:spPr>
          <a:xfrm>
            <a:off x="6480000" y="1350000"/>
            <a:ext cx="5136000" cy="1404000"/>
          </a:xfrm>
          <a:prstGeom prst="roundRect">
            <a:avLst>
              <a:gd name="adj" fmla="val 7692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0FF88"/>
                </a:solidFill>
                <a:latin typeface="Consolas"/>
              </a:rPr>
              <a:t>01 // COMPUTE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Run layer N's attention and MLP on the GPU.</a:t>
            </a:r>
          </a:p>
        </p:txBody>
      </p:sp>
      <p:sp>
        <p:nvSpPr>
          <p:cNvPr id="27" name="#s6-step_2"/>
          <p:cNvSpPr/>
          <p:nvPr/>
        </p:nvSpPr>
        <p:spPr>
          <a:xfrm>
            <a:off x="6480000" y="2862000"/>
            <a:ext cx="5136000" cy="1404000"/>
          </a:xfrm>
          <a:prstGeom prst="roundRect">
            <a:avLst>
              <a:gd name="adj" fmla="val 7692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0FF88"/>
                </a:solidFill>
                <a:latin typeface="Consolas"/>
              </a:rPr>
              <a:t>02 // EVICT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Free layer N's weights so VRAM stays flat.</a:t>
            </a:r>
          </a:p>
        </p:txBody>
      </p:sp>
      <p:sp>
        <p:nvSpPr>
          <p:cNvPr id="28" name="#s6-step_3"/>
          <p:cNvSpPr/>
          <p:nvPr/>
        </p:nvSpPr>
        <p:spPr>
          <a:xfrm>
            <a:off x="6480000" y="4374000"/>
            <a:ext cx="5136000" cy="1404000"/>
          </a:xfrm>
          <a:prstGeom prst="roundRect">
            <a:avLst>
              <a:gd name="adj" fmla="val 7692"/>
            </a:avLst>
          </a:prstGeom>
          <a:solidFill>
            <a:srgbClr val="0E1612"/>
          </a:solidFill>
          <a:ln w="1270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B000"/>
                </a:solidFill>
                <a:latin typeface="Consolas"/>
              </a:rPr>
              <a:t>03 // PREFETCH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Read layer N+1 from disk while N computes (≈10% faster, v2.5).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8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15600000">
            <a:off x="3394800" y="5220000"/>
            <a:ext cx="5400000" cy="540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9800000">
            <a:off x="2908800" y="4734000"/>
            <a:ext cx="6372000" cy="637200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11400000">
            <a:off x="3934800" y="5760000"/>
            <a:ext cx="4320000" cy="4320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224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802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9324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3301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529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</a:t>
            </a:r>
            <a:r>
              <a:rPr sz="1200" b="0">
                <a:solidFill>
                  <a:srgbClr val="5FA37E"/>
                </a:solidFill>
                <a:latin typeface="Consolas"/>
              </a:rPr>
              <a:t>»  </a:t>
            </a:r>
            <a:r>
              <a:rPr lang="en-IN" sz="1200" b="0">
                <a:solidFill>
                  <a:srgbClr val="5FA37E"/>
                </a:solidFill>
                <a:latin typeface="Consolas"/>
              </a:rPr>
              <a:t>15616226003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[ 07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7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SCALING UP</a:t>
            </a:r>
          </a:p>
        </p:txBody>
      </p:sp>
      <p:sp>
        <p:nvSpPr>
          <p:cNvPr id="15" name="#s7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fewer bytes per token → bigger models · figures: AirLLM README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4842000"/>
            <a:ext cx="11040000" cy="1332000"/>
          </a:xfrm>
          <a:prstGeom prst="roundRect">
            <a:avLst>
              <a:gd name="adj" fmla="val 8108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#s7-metric_1"/>
          <p:cNvSpPr/>
          <p:nvPr/>
        </p:nvSpPr>
        <p:spPr>
          <a:xfrm>
            <a:off x="576000" y="1350000"/>
            <a:ext cx="3535999" cy="1260000"/>
          </a:xfrm>
          <a:prstGeom prst="roundRect">
            <a:avLst>
              <a:gd name="adj" fmla="val 8571"/>
            </a:avLst>
          </a:prstGeom>
          <a:solidFill>
            <a:srgbClr val="0E1612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ctr"/>
            <a:r>
              <a:rPr sz="4000" b="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2.8T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Consolas"/>
              </a:rPr>
              <a:t>Kimi K3 · ≈3.72 GB</a:t>
            </a:r>
          </a:p>
        </p:txBody>
      </p:sp>
      <p:sp>
        <p:nvSpPr>
          <p:cNvPr id="18" name="#s7-metric_2"/>
          <p:cNvSpPr/>
          <p:nvPr/>
        </p:nvSpPr>
        <p:spPr>
          <a:xfrm>
            <a:off x="4327999" y="1350000"/>
            <a:ext cx="3535999" cy="1260000"/>
          </a:xfrm>
          <a:prstGeom prst="roundRect">
            <a:avLst>
              <a:gd name="adj" fmla="val 8571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ctr"/>
            <a:r>
              <a:rPr sz="4000" b="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671B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Consolas"/>
              </a:rPr>
              <a:t>DeepSeek-V3 · ≈12 GB</a:t>
            </a:r>
          </a:p>
        </p:txBody>
      </p:sp>
      <p:sp>
        <p:nvSpPr>
          <p:cNvPr id="19" name="#s7-metric_3"/>
          <p:cNvSpPr/>
          <p:nvPr/>
        </p:nvSpPr>
        <p:spPr>
          <a:xfrm>
            <a:off x="8079999" y="1350000"/>
            <a:ext cx="3535999" cy="1260000"/>
          </a:xfrm>
          <a:prstGeom prst="roundRect">
            <a:avLst>
              <a:gd name="adj" fmla="val 8571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ctr">
            <a:noAutofit/>
          </a:bodyPr>
          <a:lstStyle/>
          <a:p>
            <a:pPr algn="ctr"/>
            <a:r>
              <a:rPr sz="4000" b="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70B</a:t>
            </a:r>
          </a:p>
          <a:p>
            <a:pPr algn="ctr"/>
            <a:r>
              <a:rPr sz="1800" b="0">
                <a:solidFill>
                  <a:srgbClr val="C9FFE2"/>
                </a:solidFill>
                <a:latin typeface="Consolas"/>
              </a:rPr>
              <a:t>Llama-class · ≈4 GB</a:t>
            </a:r>
          </a:p>
        </p:txBody>
      </p:sp>
      <p:sp>
        <p:nvSpPr>
          <p:cNvPr id="20" name="#s7-moe"/>
          <p:cNvSpPr/>
          <p:nvPr/>
        </p:nvSpPr>
        <p:spPr>
          <a:xfrm>
            <a:off x="576000" y="2826000"/>
            <a:ext cx="5411999" cy="3258000"/>
          </a:xfrm>
          <a:prstGeom prst="roundRect">
            <a:avLst>
              <a:gd name="adj" fmla="val 331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MoE EXPERT STREAMING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Kimi K3 routes each token to 16 of its 896 experts; AirLLM streams only those.</a:t>
            </a:r>
          </a:p>
        </p:txBody>
      </p:sp>
      <p:sp>
        <p:nvSpPr>
          <p:cNvPr id="21" name="!!actor-layer_1"/>
          <p:cNvSpPr/>
          <p:nvPr/>
        </p:nvSpPr>
        <p:spPr>
          <a:xfrm>
            <a:off x="774000" y="4392000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E1</a:t>
            </a:r>
          </a:p>
        </p:txBody>
      </p:sp>
      <p:sp>
        <p:nvSpPr>
          <p:cNvPr id="22" name="!!actor-layer_2"/>
          <p:cNvSpPr/>
          <p:nvPr/>
        </p:nvSpPr>
        <p:spPr>
          <a:xfrm>
            <a:off x="2059500" y="4392000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E2</a:t>
            </a:r>
          </a:p>
        </p:txBody>
      </p:sp>
      <p:sp>
        <p:nvSpPr>
          <p:cNvPr id="23" name="!!actor-layer_3"/>
          <p:cNvSpPr/>
          <p:nvPr/>
        </p:nvSpPr>
        <p:spPr>
          <a:xfrm>
            <a:off x="3345000" y="4392000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E3</a:t>
            </a:r>
          </a:p>
        </p:txBody>
      </p:sp>
      <p:sp>
        <p:nvSpPr>
          <p:cNvPr id="24" name="!!actor-layer_4"/>
          <p:cNvSpPr/>
          <p:nvPr/>
        </p:nvSpPr>
        <p:spPr>
          <a:xfrm>
            <a:off x="4630500" y="4392000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E4</a:t>
            </a:r>
          </a:p>
        </p:txBody>
      </p:sp>
      <p:sp>
        <p:nvSpPr>
          <p:cNvPr id="25" name="!!actor-layer_5"/>
          <p:cNvSpPr/>
          <p:nvPr/>
        </p:nvSpPr>
        <p:spPr>
          <a:xfrm>
            <a:off x="774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E5</a:t>
            </a:r>
          </a:p>
        </p:txBody>
      </p:sp>
      <p:sp>
        <p:nvSpPr>
          <p:cNvPr id="26" name="!!actor-layer_6"/>
          <p:cNvSpPr/>
          <p:nvPr/>
        </p:nvSpPr>
        <p:spPr>
          <a:xfrm>
            <a:off x="20595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E6</a:t>
            </a:r>
          </a:p>
        </p:txBody>
      </p:sp>
      <p:sp>
        <p:nvSpPr>
          <p:cNvPr id="27" name="!!actor-layer_7"/>
          <p:cNvSpPr/>
          <p:nvPr/>
        </p:nvSpPr>
        <p:spPr>
          <a:xfrm>
            <a:off x="3345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E7</a:t>
            </a:r>
          </a:p>
        </p:txBody>
      </p:sp>
      <p:sp>
        <p:nvSpPr>
          <p:cNvPr id="28" name="!!actor-layer_8"/>
          <p:cNvSpPr/>
          <p:nvPr/>
        </p:nvSpPr>
        <p:spPr>
          <a:xfrm>
            <a:off x="46305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r>
              <a:rPr sz="1600" b="1">
                <a:solidFill>
                  <a:srgbClr val="5FA37E"/>
                </a:solidFill>
                <a:latin typeface="Consolas"/>
              </a:rPr>
              <a:t>E8</a:t>
            </a:r>
          </a:p>
        </p:txBody>
      </p:sp>
      <p:sp>
        <p:nvSpPr>
          <p:cNvPr id="29" name="#s7-legend"/>
          <p:cNvSpPr txBox="1"/>
          <p:nvPr/>
        </p:nvSpPr>
        <p:spPr>
          <a:xfrm>
            <a:off x="774000" y="5472000"/>
            <a:ext cx="5015999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600" b="0">
                <a:solidFill>
                  <a:srgbClr val="00FF88"/>
                </a:solidFill>
                <a:latin typeface="Consolas"/>
              </a:rPr>
              <a:t>■ </a:t>
            </a:r>
            <a:r>
              <a:rPr sz="1600" b="0">
                <a:solidFill>
                  <a:srgbClr val="5FA37E"/>
                </a:solidFill>
                <a:latin typeface="Consolas"/>
              </a:rPr>
              <a:t>routed: streamed     </a:t>
            </a:r>
            <a:r>
              <a:rPr sz="1600" b="0">
                <a:solidFill>
                  <a:srgbClr val="2A5A40"/>
                </a:solidFill>
                <a:latin typeface="Consolas"/>
              </a:rPr>
              <a:t>■ </a:t>
            </a:r>
            <a:r>
              <a:rPr sz="1600" b="0">
                <a:solidFill>
                  <a:srgbClr val="5FA37E"/>
                </a:solidFill>
                <a:latin typeface="Consolas"/>
              </a:rPr>
              <a:t>idle: on disk</a:t>
            </a:r>
          </a:p>
        </p:txBody>
      </p:sp>
      <p:sp>
        <p:nvSpPr>
          <p:cNvPr id="30" name="#s7-comp"/>
          <p:cNvSpPr/>
          <p:nvPr/>
        </p:nvSpPr>
        <p:spPr>
          <a:xfrm>
            <a:off x="6204000" y="2826000"/>
            <a:ext cx="5411999" cy="3258000"/>
          </a:xfrm>
          <a:prstGeom prst="roundRect">
            <a:avLst>
              <a:gd name="adj" fmla="val 331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BLOCK-WISE COMPRESSION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Consolas"/>
              </a:rPr>
              <a:t>compression='4bit' | '8bit'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9FFE2"/>
                </a:solidFill>
                <a:latin typeface="Bahnschrift"/>
              </a:rPr>
              <a:t>quantizes the weights only.</a:t>
            </a:r>
          </a:p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Claimed up to 3× faster; issue #330 reports slowdowns.</a:t>
            </a:r>
          </a:p>
        </p:txBody>
      </p:sp>
      <p:sp>
        <p:nvSpPr>
          <p:cNvPr id="31" name="#s7-shard16"/>
          <p:cNvSpPr/>
          <p:nvPr/>
        </p:nvSpPr>
        <p:spPr>
          <a:xfrm>
            <a:off x="6420000" y="4716000"/>
            <a:ext cx="4980000" cy="378000"/>
          </a:xfrm>
          <a:prstGeom prst="roundRect">
            <a:avLst>
              <a:gd name="adj" fmla="val 14285"/>
            </a:avLst>
          </a:prstGeom>
          <a:solidFill>
            <a:srgbClr val="102419"/>
          </a:solidFill>
          <a:ln w="12700">
            <a:solidFill>
              <a:srgbClr val="00FF88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4000" rIns="144000" bIns="54000" rtlCol="0" anchor="ctr">
            <a:no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Consolas"/>
              </a:rPr>
              <a:t>16-bit shard</a:t>
            </a:r>
          </a:p>
        </p:txBody>
      </p:sp>
      <p:sp>
        <p:nvSpPr>
          <p:cNvPr id="32" name="#s7-shard4"/>
          <p:cNvSpPr/>
          <p:nvPr/>
        </p:nvSpPr>
        <p:spPr>
          <a:xfrm>
            <a:off x="6420000" y="5202000"/>
            <a:ext cx="1245000" cy="378000"/>
          </a:xfrm>
          <a:prstGeom prst="roundRect">
            <a:avLst>
              <a:gd name="adj" fmla="val 14285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r>
              <a:rPr sz="1600" b="1">
                <a:solidFill>
                  <a:srgbClr val="06140D"/>
                </a:solidFill>
                <a:latin typeface="Consolas"/>
              </a:rPr>
              <a:t>4-bit</a:t>
            </a:r>
          </a:p>
        </p:txBody>
      </p:sp>
      <p:sp>
        <p:nvSpPr>
          <p:cNvPr id="33" name="#s7-shard4_label"/>
          <p:cNvSpPr txBox="1"/>
          <p:nvPr/>
        </p:nvSpPr>
        <p:spPr>
          <a:xfrm>
            <a:off x="7791000" y="5202000"/>
            <a:ext cx="3609000" cy="37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800" b="0">
                <a:solidFill>
                  <a:srgbClr val="C9FFE2"/>
                </a:solidFill>
                <a:latin typeface="Consolas"/>
              </a:rPr>
              <a:t>≈ ¼ of the bytes per layer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1200000">
            <a:off x="9540000" y="3060000"/>
            <a:ext cx="3240000" cy="324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4200000">
            <a:off x="9248400" y="2768400"/>
            <a:ext cx="3823199" cy="3823199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18000000">
            <a:off x="9864000" y="3384000"/>
            <a:ext cx="2592000" cy="2592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6156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31104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4093199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298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36360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</a:t>
            </a:r>
            <a:r>
              <a:rPr sz="1200" b="0">
                <a:solidFill>
                  <a:srgbClr val="5FA37E"/>
                </a:solidFill>
                <a:latin typeface="Consolas"/>
              </a:rPr>
              <a:t>»  </a:t>
            </a:r>
            <a:r>
              <a:rPr lang="en-IN" sz="1200" b="0">
                <a:solidFill>
                  <a:srgbClr val="5FA37E"/>
                </a:solidFill>
                <a:latin typeface="Consolas"/>
              </a:rPr>
              <a:t>15616226003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[ 08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8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ACCESSIBILITY vs LATENCY</a:t>
            </a:r>
          </a:p>
        </p:txBody>
      </p:sp>
      <p:sp>
        <p:nvSpPr>
          <p:cNvPr id="15" name="#s8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seconds per generated token · 70B model · indicative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4842000"/>
            <a:ext cx="11040000" cy="1332000"/>
          </a:xfrm>
          <a:prstGeom prst="roundRect">
            <a:avLst>
              <a:gd name="adj" fmla="val 8108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#s8-row_1"/>
          <p:cNvSpPr/>
          <p:nvPr/>
        </p:nvSpPr>
        <p:spPr>
          <a:xfrm>
            <a:off x="576000" y="1350000"/>
            <a:ext cx="11040000" cy="917999"/>
          </a:xfrm>
          <a:prstGeom prst="roundRect">
            <a:avLst>
              <a:gd name="adj" fmla="val 1176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8" name="#s8-method_1"/>
          <p:cNvSpPr txBox="1"/>
          <p:nvPr/>
        </p:nvSpPr>
        <p:spPr>
          <a:xfrm>
            <a:off x="792000" y="1350000"/>
            <a:ext cx="36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C9FFE2"/>
                </a:solidFill>
                <a:latin typeface="Bahnschrift SemiBold"/>
              </a:rPr>
              <a:t>AirLLM · 16-bit</a:t>
            </a:r>
          </a:p>
          <a:p>
            <a:pPr algn="l"/>
            <a:r>
              <a:rPr sz="1600" b="1">
                <a:solidFill>
                  <a:srgbClr val="00FF88"/>
                </a:solidFill>
                <a:latin typeface="Consolas"/>
              </a:rPr>
              <a:t>ZERO VRAM/RAM BARRIER</a:t>
            </a:r>
          </a:p>
        </p:txBody>
      </p:sp>
      <p:sp>
        <p:nvSpPr>
          <p:cNvPr id="19" name="!!actor-layer_1"/>
          <p:cNvSpPr/>
          <p:nvPr/>
        </p:nvSpPr>
        <p:spPr>
          <a:xfrm>
            <a:off x="4536000" y="1638000"/>
            <a:ext cx="3960000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#s8-value_1"/>
          <p:cNvSpPr txBox="1"/>
          <p:nvPr/>
        </p:nvSpPr>
        <p:spPr>
          <a:xfrm>
            <a:off x="8622000" y="1350000"/>
            <a:ext cx="27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400" b="1">
                <a:solidFill>
                  <a:srgbClr val="C9FFE2"/>
                </a:solidFill>
                <a:latin typeface="Consolas"/>
              </a:rPr>
              <a:t>~121 s/token</a:t>
            </a:r>
          </a:p>
        </p:txBody>
      </p:sp>
      <p:sp>
        <p:nvSpPr>
          <p:cNvPr id="21" name="#s8-row_2"/>
          <p:cNvSpPr/>
          <p:nvPr/>
        </p:nvSpPr>
        <p:spPr>
          <a:xfrm>
            <a:off x="576000" y="2376000"/>
            <a:ext cx="11040000" cy="917999"/>
          </a:xfrm>
          <a:prstGeom prst="roundRect">
            <a:avLst>
              <a:gd name="adj" fmla="val 1176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2" name="#s8-method_2"/>
          <p:cNvSpPr txBox="1"/>
          <p:nvPr/>
        </p:nvSpPr>
        <p:spPr>
          <a:xfrm>
            <a:off x="792000" y="2376000"/>
            <a:ext cx="36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C9FFE2"/>
                </a:solidFill>
                <a:latin typeface="Bahnschrift SemiBold"/>
              </a:rPr>
              <a:t>AirLLM · 4-bit</a:t>
            </a:r>
          </a:p>
          <a:p>
            <a:pPr algn="l"/>
            <a:r>
              <a:rPr sz="1600" b="1">
                <a:solidFill>
                  <a:srgbClr val="5FA37E"/>
                </a:solidFill>
                <a:latin typeface="Consolas"/>
              </a:rPr>
              <a:t>WARM CACHE · 4 GB GPU</a:t>
            </a:r>
          </a:p>
        </p:txBody>
      </p:sp>
      <p:sp>
        <p:nvSpPr>
          <p:cNvPr id="23" name="!!actor-layer_2"/>
          <p:cNvSpPr/>
          <p:nvPr/>
        </p:nvSpPr>
        <p:spPr>
          <a:xfrm>
            <a:off x="4536000" y="2664000"/>
            <a:ext cx="818181" cy="342000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#s8-value_2"/>
          <p:cNvSpPr txBox="1"/>
          <p:nvPr/>
        </p:nvSpPr>
        <p:spPr>
          <a:xfrm>
            <a:off x="5480181" y="2376000"/>
            <a:ext cx="27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400" b="1">
                <a:solidFill>
                  <a:srgbClr val="C9FFE2"/>
                </a:solidFill>
                <a:latin typeface="Consolas"/>
              </a:rPr>
              <a:t>~25 s/token</a:t>
            </a:r>
          </a:p>
        </p:txBody>
      </p:sp>
      <p:sp>
        <p:nvSpPr>
          <p:cNvPr id="25" name="#s8-row_3"/>
          <p:cNvSpPr/>
          <p:nvPr/>
        </p:nvSpPr>
        <p:spPr>
          <a:xfrm>
            <a:off x="576000" y="3401999"/>
            <a:ext cx="11040000" cy="917999"/>
          </a:xfrm>
          <a:prstGeom prst="roundRect">
            <a:avLst>
              <a:gd name="adj" fmla="val 11764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6" name="#s8-method_3"/>
          <p:cNvSpPr txBox="1"/>
          <p:nvPr/>
        </p:nvSpPr>
        <p:spPr>
          <a:xfrm>
            <a:off x="792000" y="3401999"/>
            <a:ext cx="36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C9FFE2"/>
                </a:solidFill>
                <a:latin typeface="Bahnschrift SemiBold"/>
              </a:rPr>
              <a:t>llama.cpp · quantized</a:t>
            </a:r>
          </a:p>
          <a:p>
            <a:pPr algn="l"/>
            <a:r>
              <a:rPr sz="1600" b="1">
                <a:solidFill>
                  <a:srgbClr val="FF4D5E"/>
                </a:solidFill>
                <a:latin typeface="Consolas"/>
              </a:rPr>
              <a:t>REQUIRES 44 GB RAM</a:t>
            </a:r>
          </a:p>
        </p:txBody>
      </p:sp>
      <p:sp>
        <p:nvSpPr>
          <p:cNvPr id="27" name="!!actor-layer_3"/>
          <p:cNvSpPr/>
          <p:nvPr/>
        </p:nvSpPr>
        <p:spPr>
          <a:xfrm>
            <a:off x="4536000" y="3690000"/>
            <a:ext cx="111272" cy="342000"/>
          </a:xfrm>
          <a:prstGeom prst="roundRect">
            <a:avLst>
              <a:gd name="adj" fmla="val 48529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#s8-value_3"/>
          <p:cNvSpPr txBox="1"/>
          <p:nvPr/>
        </p:nvSpPr>
        <p:spPr>
          <a:xfrm>
            <a:off x="4773272" y="3401999"/>
            <a:ext cx="2700000" cy="917999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2400" b="1">
                <a:solidFill>
                  <a:srgbClr val="C9FFE2"/>
                </a:solidFill>
                <a:latin typeface="Consolas"/>
              </a:rPr>
              <a:t>~3.4 s/token</a:t>
            </a:r>
          </a:p>
        </p:txBody>
      </p:sp>
      <p:sp>
        <p:nvSpPr>
          <p:cNvPr id="29" name="!!actor-layer_4"/>
          <p:cNvSpPr/>
          <p:nvPr/>
        </p:nvSpPr>
        <p:spPr>
          <a:xfrm>
            <a:off x="12960000" y="4392000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!!actor-layer_5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!!actor-layer_6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!!actor-layer_7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!!actor-layer_8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#s8-use"/>
          <p:cNvSpPr/>
          <p:nvPr/>
        </p:nvSpPr>
        <p:spPr>
          <a:xfrm>
            <a:off x="576000" y="4536000"/>
            <a:ext cx="5411999" cy="1548000"/>
          </a:xfrm>
          <a:prstGeom prst="roundRect">
            <a:avLst>
              <a:gd name="adj" fmla="val 6976"/>
            </a:avLst>
          </a:prstGeom>
          <a:solidFill>
            <a:srgbClr val="0E1612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[+] USE IT FOR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Offline / batch generation, research on huge models, prototyping on laptops.</a:t>
            </a:r>
          </a:p>
        </p:txBody>
      </p:sp>
      <p:sp>
        <p:nvSpPr>
          <p:cNvPr id="35" name="#s8-avoid"/>
          <p:cNvSpPr/>
          <p:nvPr/>
        </p:nvSpPr>
        <p:spPr>
          <a:xfrm>
            <a:off x="6204000" y="4536000"/>
            <a:ext cx="5411999" cy="1548000"/>
          </a:xfrm>
          <a:prstGeom prst="roundRect">
            <a:avLst>
              <a:gd name="adj" fmla="val 6976"/>
            </a:avLst>
          </a:prstGeom>
          <a:solidFill>
            <a:srgbClr val="0E1612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8000" tIns="144000" rIns="198000" bIns="14400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4D5E"/>
                </a:solidFill>
                <a:latin typeface="Consolas"/>
              </a:rPr>
              <a:t>[-] AVOID FOR</a:t>
            </a:r>
          </a:p>
          <a:p>
            <a:pPr algn="l"/>
            <a:r>
              <a:rPr sz="2000" b="0">
                <a:solidFill>
                  <a:srgbClr val="C9FFE2"/>
                </a:solidFill>
                <a:latin typeface="Bahnschrift"/>
              </a:rPr>
              <a:t>Interactive chat and latency-critical serving: every token streams all 80 layers again.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7200000">
            <a:off x="2494800" y="1980000"/>
            <a:ext cx="7200000" cy="720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1400000">
            <a:off x="1846800" y="1332000"/>
            <a:ext cx="8496000" cy="849600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2400000">
            <a:off x="3214800" y="2700000"/>
            <a:ext cx="5760000" cy="5760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224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615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7884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1450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241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</a:t>
            </a:r>
            <a:r>
              <a:rPr sz="1200" b="0">
                <a:solidFill>
                  <a:srgbClr val="5FA37E"/>
                </a:solidFill>
                <a:latin typeface="Consolas"/>
              </a:rPr>
              <a:t>»  </a:t>
            </a:r>
            <a:r>
              <a:rPr lang="en-IN" sz="1200" b="0">
                <a:solidFill>
                  <a:srgbClr val="5FA37E"/>
                </a:solidFill>
                <a:latin typeface="Consolas"/>
              </a:rPr>
              <a:t>15616226003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[ 09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00" y="288000"/>
            <a:ext cx="2376000" cy="599313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9-title"/>
          <p:cNvSpPr txBox="1"/>
          <p:nvPr/>
        </p:nvSpPr>
        <p:spPr>
          <a:xfrm>
            <a:off x="576000" y="234000"/>
            <a:ext cx="8424000" cy="594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4000" b="0" spc="150">
                <a:solidFill>
                  <a:srgbClr val="00FF88"/>
                </a:solidFill>
                <a:effectLst>
                  <a:glow rad="76200">
                    <a:srgbClr val="00FF88">
                      <a:alpha val="45000"/>
                    </a:srgbClr>
                  </a:glow>
                </a:effectLst>
                <a:latin typeface="Bahnschrift SemiBold"/>
              </a:rPr>
              <a:t>RELATED TRENDS</a:t>
            </a:r>
          </a:p>
        </p:txBody>
      </p:sp>
      <p:sp>
        <p:nvSpPr>
          <p:cNvPr id="15" name="#s9-sub"/>
          <p:cNvSpPr txBox="1"/>
          <p:nvPr/>
        </p:nvSpPr>
        <p:spPr>
          <a:xfrm>
            <a:off x="576000" y="827999"/>
            <a:ext cx="8424000" cy="306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l"/>
            <a:r>
              <a:rPr sz="1800" b="0">
                <a:solidFill>
                  <a:srgbClr val="5FA37E"/>
                </a:solidFill>
                <a:latin typeface="Consolas"/>
              </a:rPr>
              <a:t>// other routes to big models on small hardware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12960000" y="4842000"/>
            <a:ext cx="11040000" cy="1332000"/>
          </a:xfrm>
          <a:prstGeom prst="roundRect">
            <a:avLst>
              <a:gd name="adj" fmla="val 8108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standby</a:t>
            </a:r>
          </a:p>
        </p:txBody>
      </p:sp>
      <p:sp>
        <p:nvSpPr>
          <p:cNvPr id="17" name="#s9-card_1"/>
          <p:cNvSpPr/>
          <p:nvPr/>
        </p:nvSpPr>
        <p:spPr>
          <a:xfrm>
            <a:off x="576000" y="1350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00FF88"/>
            </a:solidFill>
          </a:ln>
          <a:effectLst>
            <a:glow rad="101600">
              <a:srgbClr val="00FF88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AirLLM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layer-wise streaming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Streams one layer at a time from disk: minimal VRAM, high latency.</a:t>
            </a:r>
          </a:p>
        </p:txBody>
      </p:sp>
      <p:sp>
        <p:nvSpPr>
          <p:cNvPr id="18" name="!!actor-layer_1"/>
          <p:cNvSpPr/>
          <p:nvPr/>
        </p:nvSpPr>
        <p:spPr>
          <a:xfrm>
            <a:off x="702000" y="1530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#s9-card_2"/>
          <p:cNvSpPr/>
          <p:nvPr/>
        </p:nvSpPr>
        <p:spPr>
          <a:xfrm>
            <a:off x="4327999" y="1350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FlexGen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ICML 2023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Offloads weights and KV cache across GPU, CPU and disk for high-throughput batch inference.</a:t>
            </a:r>
          </a:p>
        </p:txBody>
      </p:sp>
      <p:sp>
        <p:nvSpPr>
          <p:cNvPr id="20" name="!!actor-layer_2"/>
          <p:cNvSpPr/>
          <p:nvPr/>
        </p:nvSpPr>
        <p:spPr>
          <a:xfrm>
            <a:off x="4453999" y="1530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5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#s9-card_3"/>
          <p:cNvSpPr/>
          <p:nvPr/>
        </p:nvSpPr>
        <p:spPr>
          <a:xfrm>
            <a:off x="8079999" y="1350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ZeRO-Inference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DeepSpeed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Keeps weights in CPU RAM or NVMe and streams them to the GPU on demand.</a:t>
            </a:r>
          </a:p>
        </p:txBody>
      </p:sp>
      <p:sp>
        <p:nvSpPr>
          <p:cNvPr id="22" name="!!actor-layer_3"/>
          <p:cNvSpPr/>
          <p:nvPr/>
        </p:nvSpPr>
        <p:spPr>
          <a:xfrm>
            <a:off x="8206000" y="1530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5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#s9-card_4"/>
          <p:cNvSpPr/>
          <p:nvPr/>
        </p:nvSpPr>
        <p:spPr>
          <a:xfrm>
            <a:off x="576000" y="3816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llama.cpp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GGUF · CPU + GPU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Quantized inference with memory-mapped weights on commodity hardware.</a:t>
            </a:r>
          </a:p>
        </p:txBody>
      </p:sp>
      <p:sp>
        <p:nvSpPr>
          <p:cNvPr id="24" name="!!actor-layer_4"/>
          <p:cNvSpPr/>
          <p:nvPr/>
        </p:nvSpPr>
        <p:spPr>
          <a:xfrm>
            <a:off x="702000" y="3996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5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#s9-card_5"/>
          <p:cNvSpPr/>
          <p:nvPr/>
        </p:nvSpPr>
        <p:spPr>
          <a:xfrm>
            <a:off x="4327999" y="3816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PowerInfer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SOSP 2024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Hot neurons stay on the GPU, cold ones on the CPU, exploiting activation sparsity.</a:t>
            </a:r>
          </a:p>
        </p:txBody>
      </p:sp>
      <p:sp>
        <p:nvSpPr>
          <p:cNvPr id="26" name="!!actor-layer_5"/>
          <p:cNvSpPr/>
          <p:nvPr/>
        </p:nvSpPr>
        <p:spPr>
          <a:xfrm>
            <a:off x="4453999" y="3996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5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#s9-card_6"/>
          <p:cNvSpPr/>
          <p:nvPr/>
        </p:nvSpPr>
        <p:spPr>
          <a:xfrm>
            <a:off x="8079999" y="3816000"/>
            <a:ext cx="3535999" cy="2250000"/>
          </a:xfrm>
          <a:prstGeom prst="roundRect">
            <a:avLst>
              <a:gd name="adj" fmla="val 4800"/>
            </a:avLst>
          </a:prstGeom>
          <a:solidFill>
            <a:srgbClr val="0E1612"/>
          </a:solidFill>
          <a:ln w="12700">
            <a:solidFill>
              <a:srgbClr val="1E4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000" tIns="144000" rIns="144000" bIns="144000" rtlCol="0" anchor="t">
            <a:noAutofit/>
          </a:bodyPr>
          <a:lstStyle/>
          <a:p>
            <a:pPr algn="l"/>
            <a:r>
              <a:rPr sz="2000" b="1">
                <a:solidFill>
                  <a:srgbClr val="00FF88"/>
                </a:solidFill>
                <a:latin typeface="Consolas"/>
              </a:rPr>
              <a:t>HF Accelerate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A37E"/>
                </a:solidFill>
                <a:latin typeface="Consolas"/>
              </a:rPr>
              <a:t>device_map="auto"</a:t>
            </a:r>
          </a:p>
          <a:p>
            <a:pPr algn="l"/>
            <a:r>
              <a:rPr sz="1800" b="0">
                <a:solidFill>
                  <a:srgbClr val="C9FFE2"/>
                </a:solidFill>
                <a:latin typeface="Bahnschrift"/>
              </a:rPr>
              <a:t>Spills layers that don't fit onto CPU RAM or disk automatically.</a:t>
            </a:r>
          </a:p>
        </p:txBody>
      </p:sp>
      <p:sp>
        <p:nvSpPr>
          <p:cNvPr id="28" name="!!actor-layer_6"/>
          <p:cNvSpPr/>
          <p:nvPr/>
        </p:nvSpPr>
        <p:spPr>
          <a:xfrm>
            <a:off x="8206000" y="3996000"/>
            <a:ext cx="79200" cy="1890000"/>
          </a:xfrm>
          <a:prstGeom prst="roundRect">
            <a:avLst>
              <a:gd name="adj" fmla="val 50000"/>
            </a:avLst>
          </a:prstGeom>
          <a:solidFill>
            <a:srgbClr val="5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!!actor-layer_7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!!actor-layer_8"/>
          <p:cNvSpPr/>
          <p:nvPr/>
        </p:nvSpPr>
        <p:spPr>
          <a:xfrm>
            <a:off x="12960000" y="4913999"/>
            <a:ext cx="1159500" cy="413999"/>
          </a:xfrm>
          <a:prstGeom prst="roundRect">
            <a:avLst>
              <a:gd name="adj" fmla="val 13043"/>
            </a:avLst>
          </a:prstGeom>
          <a:solidFill>
            <a:srgbClr val="0E1612"/>
          </a:solidFill>
          <a:ln w="12700">
            <a:solidFill>
              <a:srgbClr val="2A5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C16"/>
            </a:gs>
            <a:gs pos="100000">
              <a:srgbClr val="070A0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ene-ring_a"/>
          <p:cNvSpPr/>
          <p:nvPr/>
        </p:nvSpPr>
        <p:spPr>
          <a:xfrm rot="19800000">
            <a:off x="-25200" y="-2700000"/>
            <a:ext cx="12240000" cy="12240000"/>
          </a:xfrm>
          <a:prstGeom prst="ellipse">
            <a:avLst/>
          </a:prstGeom>
          <a:noFill/>
          <a:ln w="15875">
            <a:solidFill>
              <a:srgbClr val="00FF88">
                <a:alpha val="40000"/>
              </a:srgb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!!scene-ring_b"/>
          <p:cNvSpPr/>
          <p:nvPr/>
        </p:nvSpPr>
        <p:spPr>
          <a:xfrm rot="1800000">
            <a:off x="-1126799" y="-3801599"/>
            <a:ext cx="14443200" cy="14443200"/>
          </a:xfrm>
          <a:prstGeom prst="blockArc">
            <a:avLst>
              <a:gd name="adj1" fmla="val 9000000"/>
              <a:gd name="adj2" fmla="val 3600000"/>
              <a:gd name="adj3" fmla="val 3500"/>
            </a:avLst>
          </a:prstGeom>
          <a:solidFill>
            <a:srgbClr val="00FF8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!!scene-ring_c"/>
          <p:cNvSpPr/>
          <p:nvPr/>
        </p:nvSpPr>
        <p:spPr>
          <a:xfrm rot="9600000">
            <a:off x="1198799" y="-1476000"/>
            <a:ext cx="9792000" cy="9792000"/>
          </a:xfrm>
          <a:prstGeom prst="arc">
            <a:avLst>
              <a:gd name="adj1" fmla="val 12000000"/>
              <a:gd name="adj2" fmla="val 1200000"/>
            </a:avLst>
          </a:prstGeom>
          <a:noFill/>
          <a:ln w="31750">
            <a:solidFill>
              <a:srgbClr val="00FF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!!scene-scan"/>
          <p:cNvSpPr/>
          <p:nvPr/>
        </p:nvSpPr>
        <p:spPr>
          <a:xfrm>
            <a:off x="0" y="1512000"/>
            <a:ext cx="12192000" cy="18000"/>
          </a:xfrm>
          <a:prstGeom prst="rect">
            <a:avLst/>
          </a:prstGeom>
          <a:solidFill>
            <a:srgbClr val="00FF88">
              <a:alpha val="50000"/>
            </a:srgbClr>
          </a:solidFill>
          <a:ln>
            <a:noFill/>
          </a:ln>
          <a:effectLst>
            <a:glow rad="762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!!scene-rain_1"/>
          <p:cNvSpPr txBox="1"/>
          <p:nvPr/>
        </p:nvSpPr>
        <p:spPr>
          <a:xfrm>
            <a:off x="108000" y="20196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7" name="!!scene-rain_2"/>
          <p:cNvSpPr txBox="1"/>
          <p:nvPr/>
        </p:nvSpPr>
        <p:spPr>
          <a:xfrm>
            <a:off x="306000" y="34272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8" name="!!scene-rain_3"/>
          <p:cNvSpPr txBox="1"/>
          <p:nvPr/>
        </p:nvSpPr>
        <p:spPr>
          <a:xfrm>
            <a:off x="11754000" y="2764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22000"/>
                  </a:srgbClr>
                </a:solidFill>
                <a:latin typeface="Consolas"/>
              </a:rPr>
              <a:t>0</a:t>
            </a:r>
          </a:p>
        </p:txBody>
      </p:sp>
      <p:sp>
        <p:nvSpPr>
          <p:cNvPr id="9" name="!!scene-rain_4"/>
          <p:cNvSpPr txBox="1"/>
          <p:nvPr/>
        </p:nvSpPr>
        <p:spPr>
          <a:xfrm>
            <a:off x="11952000" y="3304800"/>
            <a:ext cx="162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200" b="0">
                <a:solidFill>
                  <a:srgbClr val="00FF88">
                    <a:alpha val="45000"/>
                  </a:srgbClr>
                </a:solidFill>
                <a:latin typeface="Consolas"/>
              </a:rPr>
              <a:t>1</a:t>
            </a:r>
          </a:p>
        </p:txBody>
      </p:sp>
      <p:sp>
        <p:nvSpPr>
          <p:cNvPr id="10" name="!!scene-status_line"/>
          <p:cNvSpPr/>
          <p:nvPr/>
        </p:nvSpPr>
        <p:spPr>
          <a:xfrm>
            <a:off x="576000" y="6263999"/>
            <a:ext cx="11040000" cy="10800"/>
          </a:xfrm>
          <a:prstGeom prst="rect">
            <a:avLst/>
          </a:prstGeom>
          <a:solidFill>
            <a:srgbClr val="2A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54000" rIns="108000" bIns="540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!!scene-status"/>
          <p:cNvSpPr txBox="1"/>
          <p:nvPr/>
        </p:nvSpPr>
        <p:spPr>
          <a:xfrm>
            <a:off x="576000" y="6300000"/>
            <a:ext cx="792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l"/>
            <a:r>
              <a:rPr sz="1200" b="0" dirty="0">
                <a:solidFill>
                  <a:srgbClr val="5FA37E"/>
                </a:solidFill>
                <a:latin typeface="Consolas"/>
              </a:rPr>
              <a:t>AIRLLM://RECENT_TRENDS  »  POPAT BHAVYA BALKRISHNABHAI  » </a:t>
            </a:r>
            <a:r>
              <a:rPr lang="en-IN" sz="1200" b="0" dirty="0">
                <a:solidFill>
                  <a:srgbClr val="5FA37E"/>
                </a:solidFill>
                <a:latin typeface="Consolas"/>
              </a:rPr>
              <a:t>15616226003</a:t>
            </a:r>
            <a:endParaRPr sz="1200" b="0" dirty="0">
              <a:solidFill>
                <a:srgbClr val="5FA37E"/>
              </a:solidFill>
              <a:latin typeface="Consolas"/>
            </a:endParaRPr>
          </a:p>
        </p:txBody>
      </p:sp>
      <p:sp>
        <p:nvSpPr>
          <p:cNvPr id="12" name="!!scene-page"/>
          <p:cNvSpPr txBox="1"/>
          <p:nvPr/>
        </p:nvSpPr>
        <p:spPr>
          <a:xfrm>
            <a:off x="9456000" y="6300000"/>
            <a:ext cx="216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r"/>
            <a:r>
              <a:rPr sz="1200" b="1">
                <a:solidFill>
                  <a:srgbClr val="00FF88"/>
                </a:solidFill>
                <a:latin typeface="Consolas"/>
              </a:rPr>
              <a:t>[ 10 / 10 ]</a:t>
            </a:r>
          </a:p>
        </p:txBody>
      </p:sp>
      <p:pic>
        <p:nvPicPr>
          <p:cNvPr id="13" name="!!logo" descr="atmiya_logo_updated with 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880" y="251999"/>
            <a:ext cx="4680000" cy="1180465"/>
          </a:xfrm>
          <a:prstGeom prst="roundRect">
            <a:avLst>
              <a:gd name="adj" fmla="val 18000"/>
            </a:avLst>
          </a:prstGeom>
          <a:ln w="19050">
            <a:solidFill>
              <a:srgbClr val="00FF88">
                <a:alpha val="80000"/>
              </a:srgbClr>
            </a:solidFill>
          </a:ln>
          <a:effectLst>
            <a:glow rad="127000">
              <a:srgbClr val="00FF88">
                <a:alpha val="35000"/>
              </a:srgbClr>
            </a:glow>
          </a:effectLst>
        </p:spPr>
      </p:pic>
      <p:sp>
        <p:nvSpPr>
          <p:cNvPr id="14" name="#s10-title"/>
          <p:cNvSpPr txBox="1"/>
          <p:nvPr/>
        </p:nvSpPr>
        <p:spPr>
          <a:xfrm>
            <a:off x="576000" y="1565999"/>
            <a:ext cx="1104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18000" anchor="ctr">
            <a:noAutofit/>
          </a:bodyPr>
          <a:lstStyle/>
          <a:p>
            <a:pPr algn="ctr"/>
            <a:r>
              <a:rPr sz="6600" b="0" spc="300">
                <a:solidFill>
                  <a:srgbClr val="00FF88"/>
                </a:solidFill>
                <a:effectLst>
                  <a:glow rad="127000">
                    <a:srgbClr val="00FF88">
                      <a:alpha val="50000"/>
                    </a:srgbClr>
                  </a:glow>
                </a:effectLst>
                <a:latin typeface="Bahnschrift SemiBold"/>
              </a:rPr>
              <a:t>THANK YOU</a:t>
            </a:r>
          </a:p>
        </p:txBody>
      </p:sp>
      <p:sp>
        <p:nvSpPr>
          <p:cNvPr id="15" name="#s10-sub"/>
          <p:cNvSpPr txBox="1"/>
          <p:nvPr/>
        </p:nvSpPr>
        <p:spPr>
          <a:xfrm>
            <a:off x="576000" y="2466000"/>
            <a:ext cx="1104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2200" b="0">
                <a:solidFill>
                  <a:srgbClr val="5FA37E"/>
                </a:solidFill>
                <a:latin typeface="Consolas"/>
              </a:rPr>
              <a:t>// questions &amp; discussion</a:t>
            </a:r>
          </a:p>
        </p:txBody>
      </p:sp>
      <p:sp>
        <p:nvSpPr>
          <p:cNvPr id="16" name="!!actor-terminal"/>
          <p:cNvSpPr/>
          <p:nvPr/>
        </p:nvSpPr>
        <p:spPr>
          <a:xfrm>
            <a:off x="2304000" y="2880000"/>
            <a:ext cx="7584000" cy="2124000"/>
          </a:xfrm>
          <a:prstGeom prst="roundRect">
            <a:avLst>
              <a:gd name="adj" fmla="val 5084"/>
            </a:avLst>
          </a:prstGeom>
          <a:solidFill>
            <a:srgbClr val="0B130F"/>
          </a:solidFill>
          <a:ln w="15875">
            <a:solidFill>
              <a:srgbClr val="00FF88">
                <a:alpha val="70000"/>
              </a:srgbClr>
            </a:solidFill>
          </a:ln>
          <a:effectLst>
            <a:glow rad="76200">
              <a:srgbClr val="00FF88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2000" tIns="108000" rIns="162000" bIns="10800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4D5E"/>
                </a:solidFill>
                <a:latin typeface="Consolas"/>
              </a:rPr>
              <a:t>● </a:t>
            </a:r>
            <a:r>
              <a:rPr sz="1400" b="0">
                <a:solidFill>
                  <a:srgbClr val="FFB000"/>
                </a:solidFill>
                <a:latin typeface="Consolas"/>
              </a:rPr>
              <a:t>● </a:t>
            </a:r>
            <a:r>
              <a:rPr sz="1400" b="0">
                <a:solidFill>
                  <a:srgbClr val="00FF88"/>
                </a:solidFill>
                <a:latin typeface="Consolas"/>
              </a:rPr>
              <a:t>● </a:t>
            </a:r>
            <a:r>
              <a:rPr sz="1400" b="0">
                <a:solidFill>
                  <a:srgbClr val="5FA37E"/>
                </a:solidFill>
                <a:latin typeface="Consolas"/>
              </a:rPr>
              <a:t>  summary.log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[1] </a:t>
            </a:r>
            <a:r>
              <a:rPr sz="1800" b="0">
                <a:solidFill>
                  <a:srgbClr val="C9FFE2"/>
                </a:solidFill>
                <a:latin typeface="Consolas"/>
              </a:rPr>
              <a:t>VRAM need ≈ one layer, not the whole model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[2] </a:t>
            </a:r>
            <a:r>
              <a:rPr sz="1800" b="0">
                <a:solidFill>
                  <a:srgbClr val="C9FFE2"/>
                </a:solidFill>
                <a:latin typeface="Consolas"/>
              </a:rPr>
              <a:t>Disk bandwidth becomes the new bottleneck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FF88"/>
                </a:solidFill>
                <a:latin typeface="Consolas"/>
              </a:rPr>
              <a:t>[3] </a:t>
            </a:r>
            <a:r>
              <a:rPr sz="1800" b="0">
                <a:solidFill>
                  <a:srgbClr val="C9FFE2"/>
                </a:solidFill>
                <a:latin typeface="Consolas"/>
              </a:rPr>
              <a:t>Trades latency for accessibility</a:t>
            </a:r>
          </a:p>
          <a:p>
            <a:pPr algn="l"/>
            <a:r>
              <a:rPr sz="1800" b="1">
                <a:solidFill>
                  <a:srgbClr val="00FF88"/>
                </a:solidFill>
                <a:latin typeface="Consolas"/>
              </a:rPr>
              <a:t>$ </a:t>
            </a:r>
            <a:r>
              <a:rPr sz="1800" b="0">
                <a:solidFill>
                  <a:srgbClr val="C9FFE2"/>
                </a:solidFill>
                <a:latin typeface="Consolas"/>
              </a:rPr>
              <a:t>exit 0 </a:t>
            </a:r>
            <a:r>
              <a:rPr sz="1800" b="0">
                <a:solidFill>
                  <a:srgbClr val="00FF88"/>
                </a:solidFill>
                <a:latin typeface="Consolas"/>
              </a:rPr>
              <a:t>█</a:t>
            </a:r>
          </a:p>
        </p:txBody>
      </p:sp>
      <p:sp>
        <p:nvSpPr>
          <p:cNvPr id="17" name="!!actor-layer_1"/>
          <p:cNvSpPr/>
          <p:nvPr/>
        </p:nvSpPr>
        <p:spPr>
          <a:xfrm>
            <a:off x="2325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!!actor-layer_2"/>
          <p:cNvSpPr/>
          <p:nvPr/>
        </p:nvSpPr>
        <p:spPr>
          <a:xfrm>
            <a:off x="3279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!!actor-layer_3"/>
          <p:cNvSpPr/>
          <p:nvPr/>
        </p:nvSpPr>
        <p:spPr>
          <a:xfrm>
            <a:off x="4233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!!actor-layer_4"/>
          <p:cNvSpPr/>
          <p:nvPr/>
        </p:nvSpPr>
        <p:spPr>
          <a:xfrm>
            <a:off x="5187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!!actor-layer_5"/>
          <p:cNvSpPr/>
          <p:nvPr/>
        </p:nvSpPr>
        <p:spPr>
          <a:xfrm>
            <a:off x="6141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!!actor-layer_6"/>
          <p:cNvSpPr/>
          <p:nvPr/>
        </p:nvSpPr>
        <p:spPr>
          <a:xfrm>
            <a:off x="7095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!!actor-layer_7"/>
          <p:cNvSpPr/>
          <p:nvPr/>
        </p:nvSpPr>
        <p:spPr>
          <a:xfrm>
            <a:off x="8049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!!actor-layer_8"/>
          <p:cNvSpPr/>
          <p:nvPr/>
        </p:nvSpPr>
        <p:spPr>
          <a:xfrm>
            <a:off x="9003000" y="5184000"/>
            <a:ext cx="864000" cy="234000"/>
          </a:xfrm>
          <a:prstGeom prst="roundRect">
            <a:avLst>
              <a:gd name="adj" fmla="val 23076"/>
            </a:avLst>
          </a:prstGeom>
          <a:solidFill>
            <a:srgbClr val="00FF88"/>
          </a:solidFill>
          <a:ln>
            <a:noFill/>
          </a:ln>
          <a:effectLst>
            <a:glow rad="101600">
              <a:srgbClr val="00FF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7200" rIns="18000" bIns="720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#s10-done"/>
          <p:cNvSpPr txBox="1"/>
          <p:nvPr/>
        </p:nvSpPr>
        <p:spPr>
          <a:xfrm>
            <a:off x="576000" y="5472000"/>
            <a:ext cx="1104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1800" b="1">
                <a:solidFill>
                  <a:srgbClr val="00FF88"/>
                </a:solidFill>
                <a:latin typeface="Consolas"/>
              </a:rPr>
              <a:t>DECK COMPLETE ··· 100%</a:t>
            </a:r>
          </a:p>
        </p:txBody>
      </p:sp>
      <p:sp>
        <p:nvSpPr>
          <p:cNvPr id="26" name="#s10-presenter"/>
          <p:cNvSpPr txBox="1"/>
          <p:nvPr/>
        </p:nvSpPr>
        <p:spPr>
          <a:xfrm>
            <a:off x="576000" y="5760000"/>
            <a:ext cx="11040000" cy="306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/>
            <a:r>
              <a:rPr sz="1800" b="0" dirty="0" err="1">
                <a:solidFill>
                  <a:srgbClr val="C9FFE2"/>
                </a:solidFill>
                <a:latin typeface="Consolas"/>
              </a:rPr>
              <a:t>Popat</a:t>
            </a:r>
            <a:r>
              <a:rPr sz="1800" b="0" dirty="0">
                <a:solidFill>
                  <a:srgbClr val="C9FFE2"/>
                </a:solidFill>
                <a:latin typeface="Consolas"/>
              </a:rPr>
              <a:t> Bhavya </a:t>
            </a:r>
            <a:r>
              <a:rPr sz="1800" b="0" dirty="0" err="1">
                <a:solidFill>
                  <a:srgbClr val="C9FFE2"/>
                </a:solidFill>
                <a:latin typeface="Consolas"/>
              </a:rPr>
              <a:t>Balkrishnabhai</a:t>
            </a:r>
            <a:r>
              <a:rPr sz="1800" b="0" dirty="0">
                <a:solidFill>
                  <a:srgbClr val="C9FFE2"/>
                </a:solidFill>
                <a:latin typeface="Consolas"/>
              </a:rPr>
              <a:t>  · </a:t>
            </a:r>
            <a:r>
              <a:rPr lang="en-IN" sz="1800" b="0" dirty="0">
                <a:solidFill>
                  <a:srgbClr val="C9FFE2"/>
                </a:solidFill>
                <a:latin typeface="Consolas"/>
              </a:rPr>
              <a:t>15616226003</a:t>
            </a:r>
            <a:r>
              <a:rPr sz="1800" b="0" dirty="0">
                <a:solidFill>
                  <a:srgbClr val="C9FFE2"/>
                </a:solidFill>
                <a:latin typeface="Consolas"/>
              </a:rPr>
              <a:t>  ·  PhD Semester 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:p14="http://schemas.microsoft.com/office/powerpoint/2010/main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2283</Words>
  <Application>Microsoft Office PowerPoint</Application>
  <PresentationFormat>Widescreen</PresentationFormat>
  <Paragraphs>714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Bahnschrift</vt:lpstr>
      <vt:lpstr>Bahnschrift SemiBold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BhavyaJustChill</cp:lastModifiedBy>
  <cp:revision>8</cp:revision>
  <dcterms:created xsi:type="dcterms:W3CDTF">2013-01-27T09:14:16Z</dcterms:created>
  <dcterms:modified xsi:type="dcterms:W3CDTF">2026-10-16T03:49:41Z</dcterms:modified>
  <cp:category/>
</cp:coreProperties>
</file>