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5327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12036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44583758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8342528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343364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745423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881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0595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7304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94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716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26277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50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0844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4787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114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03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0728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484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8821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3468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65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385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337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699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694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88657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188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4459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0119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463686" name="Shape 0"/>
          <p:cNvSpPr/>
          <p:nvPr/>
        </p:nvSpPr>
        <p:spPr bwMode="auto">
          <a:xfrm>
            <a:off x="9509760" y="1005840"/>
            <a:ext cx="1188720" cy="73152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1780783294" name="Shape 1"/>
          <p:cNvSpPr/>
          <p:nvPr/>
        </p:nvSpPr>
        <p:spPr bwMode="auto">
          <a:xfrm>
            <a:off x="9509760" y="1005840"/>
            <a:ext cx="0" cy="109728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66764" name="Shape 2"/>
          <p:cNvSpPr/>
          <p:nvPr/>
        </p:nvSpPr>
        <p:spPr bwMode="auto">
          <a:xfrm>
            <a:off x="10698480" y="1737360"/>
            <a:ext cx="640080" cy="118872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2050369928" name="Shape 3"/>
          <p:cNvSpPr/>
          <p:nvPr/>
        </p:nvSpPr>
        <p:spPr bwMode="auto">
          <a:xfrm>
            <a:off x="8778240" y="2103120"/>
            <a:ext cx="914400" cy="118872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514027678" name="Shape 4"/>
          <p:cNvSpPr/>
          <p:nvPr/>
        </p:nvSpPr>
        <p:spPr bwMode="auto">
          <a:xfrm>
            <a:off x="10698480" y="1737360"/>
            <a:ext cx="0" cy="155448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1432905133" name="Shape 5"/>
          <p:cNvSpPr/>
          <p:nvPr/>
        </p:nvSpPr>
        <p:spPr bwMode="auto">
          <a:xfrm>
            <a:off x="9692640" y="3291840"/>
            <a:ext cx="0" cy="73152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503242134" name="Shape 6"/>
          <p:cNvSpPr/>
          <p:nvPr/>
        </p:nvSpPr>
        <p:spPr bwMode="auto">
          <a:xfrm>
            <a:off x="9692640" y="3291840"/>
            <a:ext cx="914400" cy="118872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2003823224" name="Shape 7"/>
          <p:cNvSpPr/>
          <p:nvPr/>
        </p:nvSpPr>
        <p:spPr bwMode="auto">
          <a:xfrm>
            <a:off x="11338560" y="2926080"/>
            <a:ext cx="0" cy="155448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2008882354" name="Shape 8"/>
          <p:cNvSpPr/>
          <p:nvPr/>
        </p:nvSpPr>
        <p:spPr bwMode="auto">
          <a:xfrm>
            <a:off x="8412480" y="4023360"/>
            <a:ext cx="914400" cy="109728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665399411" name="Shape 9"/>
          <p:cNvSpPr/>
          <p:nvPr/>
        </p:nvSpPr>
        <p:spPr bwMode="auto">
          <a:xfrm>
            <a:off x="10607040" y="4480560"/>
            <a:ext cx="640080" cy="73152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996905933" name="Shape 10"/>
          <p:cNvSpPr/>
          <p:nvPr/>
        </p:nvSpPr>
        <p:spPr bwMode="auto">
          <a:xfrm>
            <a:off x="9326880" y="5120640"/>
            <a:ext cx="1920240" cy="9144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981339945" name="Shape 11"/>
          <p:cNvSpPr/>
          <p:nvPr/>
        </p:nvSpPr>
        <p:spPr bwMode="auto">
          <a:xfrm>
            <a:off x="10607040" y="4480560"/>
            <a:ext cx="0" cy="640080"/>
          </a:xfrm>
          <a:prstGeom prst="line">
            <a:avLst/>
          </a:prstGeom>
          <a:noFill/>
          <a:ln w="15875">
            <a:solidFill>
              <a:srgbClr val="3A4482"/>
            </a:solidFill>
            <a:prstDash val="solid"/>
          </a:ln>
        </p:spPr>
      </p:sp>
      <p:sp>
        <p:nvSpPr>
          <p:cNvPr id="1190873145" name="Shape 12"/>
          <p:cNvSpPr/>
          <p:nvPr/>
        </p:nvSpPr>
        <p:spPr bwMode="auto">
          <a:xfrm>
            <a:off x="9363456" y="859536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6972720" name="Shape 13"/>
          <p:cNvSpPr/>
          <p:nvPr/>
        </p:nvSpPr>
        <p:spPr bwMode="auto">
          <a:xfrm>
            <a:off x="10607040" y="164592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76822211" name="Shape 14"/>
          <p:cNvSpPr/>
          <p:nvPr/>
        </p:nvSpPr>
        <p:spPr bwMode="auto">
          <a:xfrm>
            <a:off x="8686800" y="201168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52749246" name="Shape 15"/>
          <p:cNvSpPr/>
          <p:nvPr/>
        </p:nvSpPr>
        <p:spPr bwMode="auto">
          <a:xfrm>
            <a:off x="11192256" y="277977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96296873" name="Shape 16"/>
          <p:cNvSpPr/>
          <p:nvPr/>
        </p:nvSpPr>
        <p:spPr bwMode="auto">
          <a:xfrm>
            <a:off x="9601200" y="3200400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84615595" name="Shape 17"/>
          <p:cNvSpPr/>
          <p:nvPr/>
        </p:nvSpPr>
        <p:spPr bwMode="auto">
          <a:xfrm>
            <a:off x="8321039" y="393192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82223286" name="Shape 18"/>
          <p:cNvSpPr/>
          <p:nvPr/>
        </p:nvSpPr>
        <p:spPr bwMode="auto">
          <a:xfrm>
            <a:off x="10460736" y="433425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68521786" name="Shape 19"/>
          <p:cNvSpPr/>
          <p:nvPr/>
        </p:nvSpPr>
        <p:spPr bwMode="auto">
          <a:xfrm>
            <a:off x="9235440" y="502920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17558537" name="Shape 20"/>
          <p:cNvSpPr/>
          <p:nvPr/>
        </p:nvSpPr>
        <p:spPr bwMode="auto">
          <a:xfrm>
            <a:off x="11155680" y="5120640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73767418" name="Text 21"/>
          <p:cNvSpPr/>
          <p:nvPr/>
        </p:nvSpPr>
        <p:spPr bwMode="auto"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300">
                <a:solidFill>
                  <a:srgbClr val="00C2A8"/>
                </a:solidFill>
                <a:latin typeface="Calibri"/>
                <a:ea typeface="Calibri"/>
                <a:cs typeface="Calibri"/>
              </a:rPr>
              <a:t>DOCTORAL RESEARCH PROPOSAL</a:t>
            </a:r>
            <a:endParaRPr lang="en-US" sz="1400"/>
          </a:p>
        </p:txBody>
      </p:sp>
      <p:sp>
        <p:nvSpPr>
          <p:cNvPr id="1060486190" name="Text 22"/>
          <p:cNvSpPr/>
          <p:nvPr/>
        </p:nvSpPr>
        <p:spPr bwMode="auto">
          <a:xfrm>
            <a:off x="822960" y="237744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Multi-Agent Large Language Model Framework for Enterprise Decision Support</a:t>
            </a:r>
            <a:endParaRPr lang="en-US" sz="3800"/>
          </a:p>
        </p:txBody>
      </p:sp>
      <p:sp>
        <p:nvSpPr>
          <p:cNvPr id="1437557127" name="Text 23"/>
          <p:cNvSpPr/>
          <p:nvPr/>
        </p:nvSpPr>
        <p:spPr bwMode="auto">
          <a:xfrm>
            <a:off x="82296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Presented by: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Bhavya Popat</a:t>
            </a:r>
            <a:endParaRPr lang="en-US" sz="1400"/>
          </a:p>
        </p:txBody>
      </p:sp>
      <p:sp>
        <p:nvSpPr>
          <p:cNvPr id="749478227" name="Text 24"/>
          <p:cNvSpPr/>
          <p:nvPr/>
        </p:nvSpPr>
        <p:spPr bwMode="auto">
          <a:xfrm>
            <a:off x="822960" y="486460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Department / University: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Computer Science  / Atmiya University</a:t>
            </a:r>
            <a:endParaRPr lang="en-US" sz="1400"/>
          </a:p>
        </p:txBody>
      </p:sp>
      <p:sp>
        <p:nvSpPr>
          <p:cNvPr id="18130320" name="Text 26"/>
          <p:cNvSpPr/>
          <p:nvPr/>
        </p:nvSpPr>
        <p:spPr bwMode="auto">
          <a:xfrm>
            <a:off x="822960" y="518464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Date: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11th July, 2026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437992" name="Text 0"/>
          <p:cNvSpPr/>
          <p:nvPr/>
        </p:nvSpPr>
        <p:spPr bwMode="auto"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Background &amp; Problem Domain</a:t>
            </a:r>
            <a:endParaRPr lang="en-US" sz="3000"/>
          </a:p>
        </p:txBody>
      </p:sp>
      <p:sp>
        <p:nvSpPr>
          <p:cNvPr id="772090730" name="Text 1"/>
          <p:cNvSpPr/>
          <p:nvPr/>
        </p:nvSpPr>
        <p:spPr bwMode="auto">
          <a:xfrm>
            <a:off x="548640" y="10515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  <a:defRPr/>
            </a:pPr>
            <a:r>
              <a:rPr lang="en-US" sz="1400" i="1">
                <a:solidFill>
                  <a:srgbClr val="5B6690"/>
                </a:solidFill>
                <a:latin typeface="Calibri"/>
                <a:ea typeface="Calibri"/>
                <a:cs typeface="Calibri"/>
              </a:rPr>
              <a:t>Enterprises now generate vast volumes of structured and unstructured data, and decision makers need timely, reliable, explainable insight — yet AI adoption remains siloed across business functions.</a:t>
            </a:r>
            <a:endParaRPr lang="en-US" sz="1400"/>
          </a:p>
        </p:txBody>
      </p:sp>
      <p:sp>
        <p:nvSpPr>
          <p:cNvPr id="155569293" name="Shape 2"/>
          <p:cNvSpPr/>
          <p:nvPr/>
        </p:nvSpPr>
        <p:spPr bwMode="auto">
          <a:xfrm>
            <a:off x="548640" y="178308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EDF1FA"/>
          </a:solidFill>
          <a:ln/>
          <a:effectLst>
            <a:outerShdw blurRad="101600" dist="38100" dir="5400000" sx="100000" sy="100000" kx="0" ky="0" algn="bl" rotWithShape="0">
              <a:srgbClr val="1E2761">
                <a:alpha val="12000"/>
              </a:srgbClr>
            </a:outerShdw>
          </a:effectLst>
        </p:spPr>
      </p:sp>
      <p:sp>
        <p:nvSpPr>
          <p:cNvPr id="518417180" name="Shape 3"/>
          <p:cNvSpPr/>
          <p:nvPr/>
        </p:nvSpPr>
        <p:spPr bwMode="auto">
          <a:xfrm>
            <a:off x="82296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44242566" name="Image 0" descr="icons/gavel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4634" y="2189074"/>
            <a:ext cx="285293" cy="285293"/>
          </a:xfrm>
          <a:prstGeom prst="rect">
            <a:avLst/>
          </a:prstGeom>
        </p:spPr>
      </p:pic>
      <p:sp>
        <p:nvSpPr>
          <p:cNvPr id="2015419617" name="Text 4"/>
          <p:cNvSpPr/>
          <p:nvPr/>
        </p:nvSpPr>
        <p:spPr bwMode="auto">
          <a:xfrm>
            <a:off x="1554480" y="2057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Traditional Decision Support Systems</a:t>
            </a:r>
            <a:endParaRPr lang="en-US" sz="1600"/>
          </a:p>
        </p:txBody>
      </p:sp>
      <p:sp>
        <p:nvSpPr>
          <p:cNvPr id="1412646773" name="Text 5"/>
          <p:cNvSpPr/>
          <p:nvPr/>
        </p:nvSpPr>
        <p:spPr bwMode="auto">
          <a:xfrm>
            <a:off x="868680" y="2743200"/>
            <a:ext cx="4480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Rule-based and static</a:t>
            </a:r>
            <a:endParaRPr lang="en-US" sz="1400"/>
          </a:p>
          <a:p>
            <a:pPr marL="342900" indent="-342900">
              <a:spcAft>
                <a:spcPts val="12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Limited contextual reasoning</a:t>
            </a:r>
            <a:endParaRPr lang="en-US" sz="1400"/>
          </a:p>
          <a:p>
            <a:pPr marL="342900" indent="-342900">
              <a:spcAft>
                <a:spcPts val="12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Poor adaptability</a:t>
            </a:r>
            <a:endParaRPr lang="en-US" sz="1400"/>
          </a:p>
          <a:p>
            <a:pPr marL="342900" indent="-342900">
              <a:spcAft>
                <a:spcPts val="12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Weak collaboration across business functions</a:t>
            </a:r>
            <a:endParaRPr lang="en-US" sz="1400"/>
          </a:p>
        </p:txBody>
      </p:sp>
      <p:sp>
        <p:nvSpPr>
          <p:cNvPr id="1024016268" name="Shape 6"/>
          <p:cNvSpPr/>
          <p:nvPr/>
        </p:nvSpPr>
        <p:spPr bwMode="auto">
          <a:xfrm>
            <a:off x="6217920" y="178308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  <a:effectLst>
            <a:outerShdw blurRad="101600" dist="381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681697268" name="Shape 7"/>
          <p:cNvSpPr/>
          <p:nvPr/>
        </p:nvSpPr>
        <p:spPr bwMode="auto">
          <a:xfrm>
            <a:off x="6492240" y="205740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57110124" name="Image 1" descr="icons/robot_1E2761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23913" y="2189074"/>
            <a:ext cx="285293" cy="285293"/>
          </a:xfrm>
          <a:prstGeom prst="rect">
            <a:avLst/>
          </a:prstGeom>
        </p:spPr>
      </p:pic>
      <p:sp>
        <p:nvSpPr>
          <p:cNvPr id="1784294455" name="Text 8"/>
          <p:cNvSpPr/>
          <p:nvPr/>
        </p:nvSpPr>
        <p:spPr bwMode="auto">
          <a:xfrm>
            <a:off x="7223760" y="2057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Single LLM Limitations</a:t>
            </a:r>
            <a:endParaRPr lang="en-US" sz="1600"/>
          </a:p>
        </p:txBody>
      </p:sp>
      <p:sp>
        <p:nvSpPr>
          <p:cNvPr id="1452099744" name="Text 9"/>
          <p:cNvSpPr/>
          <p:nvPr/>
        </p:nvSpPr>
        <p:spPr bwMode="auto">
          <a:xfrm>
            <a:off x="6537960" y="2743200"/>
            <a:ext cx="4480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Hallucinations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Limited specialization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No collaborative reasoning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Difficult to verify outputs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Limited explainability</a:t>
            </a:r>
            <a:endParaRPr lang="en-US" sz="1400"/>
          </a:p>
        </p:txBody>
      </p:sp>
      <p:sp>
        <p:nvSpPr>
          <p:cNvPr id="392629088" name="Shape 10"/>
          <p:cNvSpPr/>
          <p:nvPr/>
        </p:nvSpPr>
        <p:spPr bwMode="auto">
          <a:xfrm>
            <a:off x="548640" y="4892039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1777746117" name="Shape 11"/>
          <p:cNvSpPr/>
          <p:nvPr/>
        </p:nvSpPr>
        <p:spPr bwMode="auto">
          <a:xfrm>
            <a:off x="822960" y="50749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099390490" name="Image 2" descr="icons/bulb_1E2761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43660" y="5195620"/>
            <a:ext cx="261518" cy="261518"/>
          </a:xfrm>
          <a:prstGeom prst="rect">
            <a:avLst/>
          </a:prstGeom>
        </p:spPr>
      </p:pic>
      <p:sp>
        <p:nvSpPr>
          <p:cNvPr id="969216912" name="Text 12"/>
          <p:cNvSpPr/>
          <p:nvPr/>
        </p:nvSpPr>
        <p:spPr bwMode="auto">
          <a:xfrm>
            <a:off x="1508759" y="50017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Research Gap:  </a:t>
            </a:r>
            <a:r>
              <a:rPr lang="en-US" sz="13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 comprehensive enterprise framework exists that coordinates multiple specialized LLM agents for reliable, explainable, and scalable decision support.</a:t>
            </a:r>
            <a:endParaRPr lang="en-US" sz="1350"/>
          </a:p>
        </p:txBody>
      </p:sp>
      <p:sp>
        <p:nvSpPr>
          <p:cNvPr id="212023601" name="Text 13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A9B2CE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441116" name="Text 0"/>
          <p:cNvSpPr/>
          <p:nvPr/>
        </p:nvSpPr>
        <p:spPr bwMode="auto"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Research Objectives</a:t>
            </a:r>
            <a:endParaRPr lang="en-US" sz="3000"/>
          </a:p>
        </p:txBody>
      </p:sp>
      <p:sp>
        <p:nvSpPr>
          <p:cNvPr id="2025805268" name="Shape 1"/>
          <p:cNvSpPr/>
          <p:nvPr/>
        </p:nvSpPr>
        <p:spPr bwMode="auto">
          <a:xfrm>
            <a:off x="548640" y="109728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101600" dist="381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22420907" name="Shape 2"/>
          <p:cNvSpPr/>
          <p:nvPr/>
        </p:nvSpPr>
        <p:spPr bwMode="auto">
          <a:xfrm>
            <a:off x="868680" y="137160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52995032" name="Image 0" descr="icons/target_1E276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0354" y="1503274"/>
            <a:ext cx="285293" cy="285293"/>
          </a:xfrm>
          <a:prstGeom prst="rect">
            <a:avLst/>
          </a:prstGeom>
        </p:spPr>
      </p:pic>
      <p:sp>
        <p:nvSpPr>
          <p:cNvPr id="1870477980" name="Text 3"/>
          <p:cNvSpPr/>
          <p:nvPr/>
        </p:nvSpPr>
        <p:spPr bwMode="auto">
          <a:xfrm>
            <a:off x="1600200" y="1207008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C2A8"/>
                </a:solidFill>
                <a:latin typeface="Calibri"/>
                <a:ea typeface="Calibri"/>
                <a:cs typeface="Calibri"/>
              </a:rPr>
              <a:t>Primary Objective</a:t>
            </a:r>
            <a:br>
              <a:rPr lang="en-US" sz="1200" b="1">
                <a:solidFill>
                  <a:srgbClr val="00C2A8"/>
                </a:solidFill>
                <a:latin typeface="Calibri"/>
                <a:ea typeface="Calibri"/>
                <a:cs typeface="Calibri"/>
              </a:rPr>
            </a:br>
            <a:endParaRPr lang="en-US" sz="1200"/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and develop a Multi-Agent LLM Framework for Enterprise Decision Support that improves decision quality, explainability, and reliability.</a:t>
            </a:r>
            <a:endParaRPr lang="en-US" sz="1200"/>
          </a:p>
        </p:txBody>
      </p:sp>
      <p:sp>
        <p:nvSpPr>
          <p:cNvPr id="1684116587" name="Shape 4"/>
          <p:cNvSpPr/>
          <p:nvPr/>
        </p:nvSpPr>
        <p:spPr bwMode="auto">
          <a:xfrm>
            <a:off x="548640" y="2423160"/>
            <a:ext cx="5257800" cy="1115568"/>
          </a:xfrm>
          <a:prstGeom prst="roundRect">
            <a:avLst>
              <a:gd name="adj" fmla="val 5738"/>
            </a:avLst>
          </a:prstGeom>
          <a:solidFill>
            <a:srgbClr val="EDF1FA"/>
          </a:solidFill>
          <a:ln/>
        </p:spPr>
      </p:sp>
      <p:sp>
        <p:nvSpPr>
          <p:cNvPr id="2081252177" name="Shape 5"/>
          <p:cNvSpPr/>
          <p:nvPr/>
        </p:nvSpPr>
        <p:spPr bwMode="auto">
          <a:xfrm>
            <a:off x="777240" y="2724911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6421398" name="Image 1" descr="icons/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00135" y="2847807"/>
            <a:ext cx="266273" cy="266273"/>
          </a:xfrm>
          <a:prstGeom prst="rect">
            <a:avLst/>
          </a:prstGeom>
        </p:spPr>
      </p:pic>
      <p:sp>
        <p:nvSpPr>
          <p:cNvPr id="1375238880" name="Text 6"/>
          <p:cNvSpPr/>
          <p:nvPr/>
        </p:nvSpPr>
        <p:spPr bwMode="auto">
          <a:xfrm>
            <a:off x="1463040" y="2514600"/>
            <a:ext cx="4114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Design specialized intelligent agents</a:t>
            </a:r>
            <a:endParaRPr lang="en-US" sz="1400"/>
          </a:p>
        </p:txBody>
      </p:sp>
      <p:sp>
        <p:nvSpPr>
          <p:cNvPr id="661657555" name="Shape 7"/>
          <p:cNvSpPr/>
          <p:nvPr/>
        </p:nvSpPr>
        <p:spPr bwMode="auto">
          <a:xfrm>
            <a:off x="6080760" y="2423160"/>
            <a:ext cx="5257800" cy="1115568"/>
          </a:xfrm>
          <a:prstGeom prst="roundRect">
            <a:avLst>
              <a:gd name="adj" fmla="val 5738"/>
            </a:avLst>
          </a:prstGeom>
          <a:solidFill>
            <a:srgbClr val="EDF1FA"/>
          </a:solidFill>
          <a:ln/>
        </p:spPr>
      </p:sp>
      <p:sp>
        <p:nvSpPr>
          <p:cNvPr id="667620841" name="Shape 8"/>
          <p:cNvSpPr/>
          <p:nvPr/>
        </p:nvSpPr>
        <p:spPr bwMode="auto">
          <a:xfrm>
            <a:off x="6309360" y="2724911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84149826" name="Image 2" descr="icons/exchange_FFFFFF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32255" y="2847807"/>
            <a:ext cx="266273" cy="266273"/>
          </a:xfrm>
          <a:prstGeom prst="rect">
            <a:avLst/>
          </a:prstGeom>
        </p:spPr>
      </p:pic>
      <p:sp>
        <p:nvSpPr>
          <p:cNvPr id="1819332898" name="Text 9"/>
          <p:cNvSpPr/>
          <p:nvPr/>
        </p:nvSpPr>
        <p:spPr bwMode="auto">
          <a:xfrm>
            <a:off x="6995160" y="2514600"/>
            <a:ext cx="4114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Enable collaborative reasoning among agents</a:t>
            </a:r>
            <a:endParaRPr lang="en-US" sz="1400"/>
          </a:p>
        </p:txBody>
      </p:sp>
      <p:sp>
        <p:nvSpPr>
          <p:cNvPr id="1033764563" name="Shape 10"/>
          <p:cNvSpPr/>
          <p:nvPr/>
        </p:nvSpPr>
        <p:spPr bwMode="auto">
          <a:xfrm>
            <a:off x="548640" y="3721608"/>
            <a:ext cx="5257800" cy="1115568"/>
          </a:xfrm>
          <a:prstGeom prst="roundRect">
            <a:avLst>
              <a:gd name="adj" fmla="val 5738"/>
            </a:avLst>
          </a:prstGeom>
          <a:solidFill>
            <a:srgbClr val="EDF1FA"/>
          </a:solidFill>
          <a:ln/>
        </p:spPr>
      </p:sp>
      <p:sp>
        <p:nvSpPr>
          <p:cNvPr id="1915546480" name="Shape 11"/>
          <p:cNvSpPr/>
          <p:nvPr/>
        </p:nvSpPr>
        <p:spPr bwMode="auto">
          <a:xfrm>
            <a:off x="777240" y="40233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9110960" name="Image 3" descr="icons/database_FFFFFF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00135" y="4146255"/>
            <a:ext cx="266273" cy="266273"/>
          </a:xfrm>
          <a:prstGeom prst="rect">
            <a:avLst/>
          </a:prstGeom>
        </p:spPr>
      </p:pic>
      <p:sp>
        <p:nvSpPr>
          <p:cNvPr id="2059764532" name="Text 12"/>
          <p:cNvSpPr/>
          <p:nvPr/>
        </p:nvSpPr>
        <p:spPr bwMode="auto">
          <a:xfrm>
            <a:off x="1463040" y="3813048"/>
            <a:ext cx="4114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Integrate Retrieval-Augmented Generation (RAG)</a:t>
            </a:r>
            <a:endParaRPr lang="en-US" sz="1400"/>
          </a:p>
        </p:txBody>
      </p:sp>
      <p:sp>
        <p:nvSpPr>
          <p:cNvPr id="900212541" name="Shape 13"/>
          <p:cNvSpPr/>
          <p:nvPr/>
        </p:nvSpPr>
        <p:spPr bwMode="auto">
          <a:xfrm>
            <a:off x="6080760" y="3721608"/>
            <a:ext cx="5257800" cy="1115568"/>
          </a:xfrm>
          <a:prstGeom prst="roundRect">
            <a:avLst>
              <a:gd name="adj" fmla="val 5738"/>
            </a:avLst>
          </a:prstGeom>
          <a:solidFill>
            <a:srgbClr val="EDF1FA"/>
          </a:solidFill>
          <a:ln/>
        </p:spPr>
      </p:sp>
      <p:sp>
        <p:nvSpPr>
          <p:cNvPr id="1042829465" name="Shape 14"/>
          <p:cNvSpPr/>
          <p:nvPr/>
        </p:nvSpPr>
        <p:spPr bwMode="auto">
          <a:xfrm>
            <a:off x="6309360" y="40233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4843476" name="Image 4" descr="icons/shield_FFFFFF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32255" y="4146255"/>
            <a:ext cx="266273" cy="266273"/>
          </a:xfrm>
          <a:prstGeom prst="rect">
            <a:avLst/>
          </a:prstGeom>
        </p:spPr>
      </p:pic>
      <p:sp>
        <p:nvSpPr>
          <p:cNvPr id="1438304766" name="Text 15"/>
          <p:cNvSpPr/>
          <p:nvPr/>
        </p:nvSpPr>
        <p:spPr bwMode="auto">
          <a:xfrm>
            <a:off x="6995160" y="3813048"/>
            <a:ext cx="4114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Reduce hallucinations using verification agents</a:t>
            </a:r>
            <a:endParaRPr lang="en-US" sz="1400"/>
          </a:p>
        </p:txBody>
      </p:sp>
      <p:sp>
        <p:nvSpPr>
          <p:cNvPr id="481451629" name="Shape 16"/>
          <p:cNvSpPr/>
          <p:nvPr/>
        </p:nvSpPr>
        <p:spPr bwMode="auto">
          <a:xfrm>
            <a:off x="548640" y="5020056"/>
            <a:ext cx="5257800" cy="1115568"/>
          </a:xfrm>
          <a:prstGeom prst="roundRect">
            <a:avLst>
              <a:gd name="adj" fmla="val 5738"/>
            </a:avLst>
          </a:prstGeom>
          <a:solidFill>
            <a:srgbClr val="EDF1FA"/>
          </a:solidFill>
          <a:ln/>
        </p:spPr>
      </p:sp>
      <p:sp>
        <p:nvSpPr>
          <p:cNvPr id="334661647" name="Shape 17"/>
          <p:cNvSpPr/>
          <p:nvPr/>
        </p:nvSpPr>
        <p:spPr bwMode="auto">
          <a:xfrm>
            <a:off x="777240" y="5321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23101575" name="Image 5" descr="icons/comment_FFFFFF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00135" y="5444703"/>
            <a:ext cx="266273" cy="266273"/>
          </a:xfrm>
          <a:prstGeom prst="rect">
            <a:avLst/>
          </a:prstGeom>
        </p:spPr>
      </p:pic>
      <p:sp>
        <p:nvSpPr>
          <p:cNvPr id="1549896059" name="Text 18"/>
          <p:cNvSpPr/>
          <p:nvPr/>
        </p:nvSpPr>
        <p:spPr bwMode="auto">
          <a:xfrm>
            <a:off x="1463040" y="5111496"/>
            <a:ext cx="4114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Improve transparency and explainability</a:t>
            </a:r>
            <a:endParaRPr lang="en-US" sz="1400"/>
          </a:p>
        </p:txBody>
      </p:sp>
      <p:sp>
        <p:nvSpPr>
          <p:cNvPr id="505105327" name="Shape 19"/>
          <p:cNvSpPr/>
          <p:nvPr/>
        </p:nvSpPr>
        <p:spPr bwMode="auto">
          <a:xfrm>
            <a:off x="6080760" y="5020056"/>
            <a:ext cx="5257800" cy="1115568"/>
          </a:xfrm>
          <a:prstGeom prst="roundRect">
            <a:avLst>
              <a:gd name="adj" fmla="val 5738"/>
            </a:avLst>
          </a:prstGeom>
          <a:solidFill>
            <a:srgbClr val="EDF1FA"/>
          </a:solidFill>
          <a:ln/>
        </p:spPr>
      </p:sp>
      <p:sp>
        <p:nvSpPr>
          <p:cNvPr id="1842073207" name="Shape 20"/>
          <p:cNvSpPr/>
          <p:nvPr/>
        </p:nvSpPr>
        <p:spPr bwMode="auto">
          <a:xfrm>
            <a:off x="6309360" y="5321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79226354" name="Image 6" descr="icons/expand_FFFFFF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432255" y="5444703"/>
            <a:ext cx="266273" cy="266273"/>
          </a:xfrm>
          <a:prstGeom prst="rect">
            <a:avLst/>
          </a:prstGeom>
        </p:spPr>
      </p:pic>
      <p:sp>
        <p:nvSpPr>
          <p:cNvPr id="820662431" name="Text 21"/>
          <p:cNvSpPr/>
          <p:nvPr/>
        </p:nvSpPr>
        <p:spPr bwMode="auto">
          <a:xfrm>
            <a:off x="6995160" y="5111496"/>
            <a:ext cx="4114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Evaluate scalability and enterprise applicability</a:t>
            </a:r>
            <a:endParaRPr lang="en-US" sz="1400"/>
          </a:p>
        </p:txBody>
      </p:sp>
      <p:sp>
        <p:nvSpPr>
          <p:cNvPr id="331605594" name="Text 22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A9B2CE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342213" name="Text 0"/>
          <p:cNvSpPr/>
          <p:nvPr/>
        </p:nvSpPr>
        <p:spPr bwMode="auto"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Proposed Framework Architecture</a:t>
            </a:r>
            <a:endParaRPr lang="en-US" sz="2800"/>
          </a:p>
        </p:txBody>
      </p:sp>
      <p:sp>
        <p:nvSpPr>
          <p:cNvPr id="565408082" name="Shape 1"/>
          <p:cNvSpPr/>
          <p:nvPr/>
        </p:nvSpPr>
        <p:spPr bwMode="auto">
          <a:xfrm>
            <a:off x="4718304" y="100584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/>
          <a:effectLst>
            <a:outerShdw blurRad="76200" dist="25400" dir="5400000" sx="100000" sy="100000" kx="0" ky="0" algn="bl" rotWithShape="0">
              <a:srgbClr val="1E2761">
                <a:alpha val="15000"/>
              </a:srgbClr>
            </a:outerShdw>
          </a:effectLst>
        </p:spPr>
      </p:sp>
      <p:sp>
        <p:nvSpPr>
          <p:cNvPr id="2005800637" name="Text 2"/>
          <p:cNvSpPr/>
          <p:nvPr/>
        </p:nvSpPr>
        <p:spPr bwMode="auto">
          <a:xfrm>
            <a:off x="4718304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Enterprise User</a:t>
            </a:r>
            <a:endParaRPr lang="en-US" sz="1250"/>
          </a:p>
        </p:txBody>
      </p:sp>
      <p:sp>
        <p:nvSpPr>
          <p:cNvPr id="1251135886" name="Shape 3"/>
          <p:cNvSpPr/>
          <p:nvPr/>
        </p:nvSpPr>
        <p:spPr bwMode="auto">
          <a:xfrm>
            <a:off x="6007607" y="1481328"/>
            <a:ext cx="164592" cy="2011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6690"/>
          </a:solidFill>
          <a:ln/>
        </p:spPr>
      </p:sp>
      <p:sp>
        <p:nvSpPr>
          <p:cNvPr id="1282657032" name="Shape 4"/>
          <p:cNvSpPr/>
          <p:nvPr/>
        </p:nvSpPr>
        <p:spPr bwMode="auto">
          <a:xfrm>
            <a:off x="4480560" y="173736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  <a:effectLst>
            <a:outerShdw blurRad="76200" dist="25400" dir="5400000" sx="100000" sy="100000" kx="0" ky="0" algn="bl" rotWithShape="0">
              <a:srgbClr val="1E2761">
                <a:alpha val="15000"/>
              </a:srgbClr>
            </a:outerShdw>
          </a:effectLst>
        </p:spPr>
      </p:sp>
      <p:sp>
        <p:nvSpPr>
          <p:cNvPr id="1727414296" name="Text 5"/>
          <p:cNvSpPr/>
          <p:nvPr/>
        </p:nvSpPr>
        <p:spPr bwMode="auto">
          <a:xfrm>
            <a:off x="448056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Planner Agent</a:t>
            </a:r>
            <a:endParaRPr lang="en-US" sz="1400"/>
          </a:p>
        </p:txBody>
      </p:sp>
      <p:sp>
        <p:nvSpPr>
          <p:cNvPr id="1561887907" name="Shape 6"/>
          <p:cNvSpPr/>
          <p:nvPr/>
        </p:nvSpPr>
        <p:spPr bwMode="auto">
          <a:xfrm>
            <a:off x="6089904" y="2240280"/>
            <a:ext cx="0" cy="548640"/>
          </a:xfrm>
          <a:prstGeom prst="line">
            <a:avLst/>
          </a:prstGeom>
          <a:noFill/>
          <a:ln w="19050">
            <a:solidFill>
              <a:srgbClr val="5B6690"/>
            </a:solidFill>
            <a:prstDash val="solid"/>
          </a:ln>
        </p:spPr>
      </p:sp>
      <p:sp>
        <p:nvSpPr>
          <p:cNvPr id="2025848692" name="Shape 7"/>
          <p:cNvSpPr/>
          <p:nvPr/>
        </p:nvSpPr>
        <p:spPr bwMode="auto">
          <a:xfrm>
            <a:off x="6089904" y="2240280"/>
            <a:ext cx="0" cy="548640"/>
          </a:xfrm>
          <a:prstGeom prst="line">
            <a:avLst/>
          </a:prstGeom>
          <a:noFill/>
          <a:ln w="19050">
            <a:solidFill>
              <a:srgbClr val="5B6690"/>
            </a:solidFill>
            <a:prstDash val="solid"/>
          </a:ln>
        </p:spPr>
      </p:sp>
      <p:sp>
        <p:nvSpPr>
          <p:cNvPr id="1122027111" name="Shape 8"/>
          <p:cNvSpPr/>
          <p:nvPr/>
        </p:nvSpPr>
        <p:spPr bwMode="auto">
          <a:xfrm>
            <a:off x="6089904" y="2240280"/>
            <a:ext cx="676656" cy="548640"/>
          </a:xfrm>
          <a:prstGeom prst="line">
            <a:avLst/>
          </a:prstGeom>
          <a:noFill/>
          <a:ln w="19050">
            <a:solidFill>
              <a:srgbClr val="5B6690"/>
            </a:solidFill>
            <a:prstDash val="solid"/>
          </a:ln>
        </p:spPr>
      </p:sp>
      <p:sp>
        <p:nvSpPr>
          <p:cNvPr id="784585830" name="Shape 9"/>
          <p:cNvSpPr/>
          <p:nvPr/>
        </p:nvSpPr>
        <p:spPr bwMode="auto">
          <a:xfrm>
            <a:off x="-411480" y="278892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3A4482"/>
          </a:solidFill>
          <a:ln/>
          <a:effectLst>
            <a:outerShdw blurRad="76200" dist="25400" dir="5400000" sx="100000" sy="100000" kx="0" ky="0" algn="bl" rotWithShape="0">
              <a:srgbClr val="1E2761">
                <a:alpha val="15000"/>
              </a:srgbClr>
            </a:outerShdw>
          </a:effectLst>
        </p:spPr>
      </p:sp>
      <p:sp>
        <p:nvSpPr>
          <p:cNvPr id="1659084612" name="Text 10"/>
          <p:cNvSpPr/>
          <p:nvPr/>
        </p:nvSpPr>
        <p:spPr bwMode="auto">
          <a:xfrm>
            <a:off x="-411480" y="2788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Agent</a:t>
            </a:r>
            <a:endParaRPr lang="en-US" sz="1250"/>
          </a:p>
        </p:txBody>
      </p:sp>
      <p:sp>
        <p:nvSpPr>
          <p:cNvPr id="1327536916" name="Shape 11"/>
          <p:cNvSpPr/>
          <p:nvPr/>
        </p:nvSpPr>
        <p:spPr bwMode="auto">
          <a:xfrm>
            <a:off x="2514600" y="278892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3A4482"/>
          </a:solidFill>
          <a:ln/>
          <a:effectLst>
            <a:outerShdw blurRad="76200" dist="25400" dir="5400000" sx="100000" sy="100000" kx="0" ky="0" algn="bl" rotWithShape="0">
              <a:srgbClr val="1E2761">
                <a:alpha val="15000"/>
              </a:srgbClr>
            </a:outerShdw>
          </a:effectLst>
        </p:spPr>
      </p:sp>
      <p:sp>
        <p:nvSpPr>
          <p:cNvPr id="1630286832" name="Text 12"/>
          <p:cNvSpPr/>
          <p:nvPr/>
        </p:nvSpPr>
        <p:spPr bwMode="auto">
          <a:xfrm>
            <a:off x="2514600" y="2788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Analysis Agent</a:t>
            </a:r>
            <a:endParaRPr lang="en-US" sz="1250"/>
          </a:p>
        </p:txBody>
      </p:sp>
      <p:sp>
        <p:nvSpPr>
          <p:cNvPr id="192159440" name="Shape 13"/>
          <p:cNvSpPr/>
          <p:nvPr/>
        </p:nvSpPr>
        <p:spPr bwMode="auto">
          <a:xfrm>
            <a:off x="5440680" y="278892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3A4482"/>
          </a:solidFill>
          <a:ln/>
          <a:effectLst>
            <a:outerShdw blurRad="76200" dist="25400" dir="5400000" sx="100000" sy="100000" kx="0" ky="0" algn="bl" rotWithShape="0">
              <a:srgbClr val="1E2761">
                <a:alpha val="15000"/>
              </a:srgbClr>
            </a:outerShdw>
          </a:effectLst>
        </p:spPr>
      </p:sp>
      <p:sp>
        <p:nvSpPr>
          <p:cNvPr id="1814285550" name="Text 14"/>
          <p:cNvSpPr/>
          <p:nvPr/>
        </p:nvSpPr>
        <p:spPr bwMode="auto">
          <a:xfrm>
            <a:off x="5440680" y="2788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Verification Agent</a:t>
            </a:r>
            <a:endParaRPr lang="en-US" sz="1250"/>
          </a:p>
        </p:txBody>
      </p:sp>
      <p:sp>
        <p:nvSpPr>
          <p:cNvPr id="314568427" name="Shape 15"/>
          <p:cNvSpPr/>
          <p:nvPr/>
        </p:nvSpPr>
        <p:spPr bwMode="auto">
          <a:xfrm>
            <a:off x="914400" y="3566160"/>
            <a:ext cx="5175504" cy="411480"/>
          </a:xfrm>
          <a:prstGeom prst="line">
            <a:avLst/>
          </a:prstGeom>
          <a:noFill/>
          <a:ln w="19050">
            <a:solidFill>
              <a:srgbClr val="5B6690"/>
            </a:solidFill>
            <a:prstDash val="solid"/>
          </a:ln>
        </p:spPr>
      </p:sp>
      <p:sp>
        <p:nvSpPr>
          <p:cNvPr id="1865741655" name="Shape 16"/>
          <p:cNvSpPr/>
          <p:nvPr/>
        </p:nvSpPr>
        <p:spPr bwMode="auto">
          <a:xfrm>
            <a:off x="3840480" y="3566160"/>
            <a:ext cx="2249424" cy="411480"/>
          </a:xfrm>
          <a:prstGeom prst="line">
            <a:avLst/>
          </a:prstGeom>
          <a:noFill/>
          <a:ln w="19050">
            <a:solidFill>
              <a:srgbClr val="5B6690"/>
            </a:solidFill>
            <a:prstDash val="solid"/>
          </a:ln>
        </p:spPr>
      </p:sp>
      <p:sp>
        <p:nvSpPr>
          <p:cNvPr id="628919287" name="Shape 17"/>
          <p:cNvSpPr/>
          <p:nvPr/>
        </p:nvSpPr>
        <p:spPr bwMode="auto">
          <a:xfrm>
            <a:off x="6766560" y="3566160"/>
            <a:ext cx="0" cy="411480"/>
          </a:xfrm>
          <a:prstGeom prst="line">
            <a:avLst/>
          </a:prstGeom>
          <a:noFill/>
          <a:ln w="19050">
            <a:solidFill>
              <a:srgbClr val="5B6690"/>
            </a:solidFill>
            <a:prstDash val="solid"/>
          </a:ln>
        </p:spPr>
      </p:sp>
      <p:sp>
        <p:nvSpPr>
          <p:cNvPr id="402033665" name="Shape 18"/>
          <p:cNvSpPr/>
          <p:nvPr/>
        </p:nvSpPr>
        <p:spPr bwMode="auto">
          <a:xfrm>
            <a:off x="4480560" y="397764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  <a:effectLst>
            <a:outerShdw blurRad="76200" dist="25400" dir="5400000" sx="100000" sy="100000" kx="0" ky="0" algn="bl" rotWithShape="0">
              <a:srgbClr val="1E2761">
                <a:alpha val="15000"/>
              </a:srgbClr>
            </a:outerShdw>
          </a:effectLst>
        </p:spPr>
      </p:sp>
      <p:sp>
        <p:nvSpPr>
          <p:cNvPr id="1882698159" name="Text 19"/>
          <p:cNvSpPr/>
          <p:nvPr/>
        </p:nvSpPr>
        <p:spPr bwMode="auto">
          <a:xfrm>
            <a:off x="4480560" y="3977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Decision Agent</a:t>
            </a:r>
            <a:endParaRPr lang="en-US" sz="1400"/>
          </a:p>
        </p:txBody>
      </p:sp>
      <p:sp>
        <p:nvSpPr>
          <p:cNvPr id="117222896" name="Shape 20"/>
          <p:cNvSpPr/>
          <p:nvPr/>
        </p:nvSpPr>
        <p:spPr bwMode="auto">
          <a:xfrm>
            <a:off x="6007607" y="4480560"/>
            <a:ext cx="164592" cy="2011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6690"/>
          </a:solidFill>
          <a:ln/>
        </p:spPr>
      </p:sp>
      <p:sp>
        <p:nvSpPr>
          <p:cNvPr id="1153873695" name="Shape 21"/>
          <p:cNvSpPr/>
          <p:nvPr/>
        </p:nvSpPr>
        <p:spPr bwMode="auto">
          <a:xfrm>
            <a:off x="3803904" y="4864607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00C2A8"/>
          </a:solidFill>
          <a:ln/>
          <a:effectLst>
            <a:outerShdw blurRad="76200" dist="25400" dir="5400000" sx="100000" sy="100000" kx="0" ky="0" algn="bl" rotWithShape="0">
              <a:srgbClr val="1E2761">
                <a:alpha val="15000"/>
              </a:srgbClr>
            </a:outerShdw>
          </a:effectLst>
        </p:spPr>
      </p:sp>
      <p:sp>
        <p:nvSpPr>
          <p:cNvPr id="1988585026" name="Text 22"/>
          <p:cNvSpPr/>
          <p:nvPr/>
        </p:nvSpPr>
        <p:spPr bwMode="auto">
          <a:xfrm>
            <a:off x="3803904" y="4864607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Enterprise Recommendation</a:t>
            </a:r>
            <a:endParaRPr lang="en-US" sz="1400"/>
          </a:p>
        </p:txBody>
      </p:sp>
      <p:sp>
        <p:nvSpPr>
          <p:cNvPr id="1190051100" name="Shape 23"/>
          <p:cNvSpPr/>
          <p:nvPr/>
        </p:nvSpPr>
        <p:spPr bwMode="auto">
          <a:xfrm>
            <a:off x="6007607" y="5367528"/>
            <a:ext cx="164592" cy="2011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6690"/>
          </a:solidFill>
          <a:ln/>
        </p:spPr>
      </p:sp>
      <p:sp>
        <p:nvSpPr>
          <p:cNvPr id="639665954" name="Shape 24"/>
          <p:cNvSpPr/>
          <p:nvPr/>
        </p:nvSpPr>
        <p:spPr bwMode="auto">
          <a:xfrm>
            <a:off x="3346704" y="5687568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3A4482"/>
          </a:solidFill>
          <a:ln/>
          <a:effectLst>
            <a:outerShdw blurRad="76200" dist="25400" dir="5400000" sx="100000" sy="100000" kx="0" ky="0" algn="bl" rotWithShape="0">
              <a:srgbClr val="1E2761">
                <a:alpha val="15000"/>
              </a:srgbClr>
            </a:outerShdw>
          </a:effectLst>
        </p:spPr>
      </p:sp>
      <p:sp>
        <p:nvSpPr>
          <p:cNvPr id="280636369" name="Text 25"/>
          <p:cNvSpPr/>
          <p:nvPr/>
        </p:nvSpPr>
        <p:spPr bwMode="auto">
          <a:xfrm>
            <a:off x="3346704" y="5687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Knowledge Base  (Vector DB + RAG)</a:t>
            </a:r>
            <a:endParaRPr lang="en-US" sz="1300"/>
          </a:p>
        </p:txBody>
      </p:sp>
      <p:sp>
        <p:nvSpPr>
          <p:cNvPr id="548257185" name="Shape 26"/>
          <p:cNvSpPr/>
          <p:nvPr/>
        </p:nvSpPr>
        <p:spPr bwMode="auto">
          <a:xfrm>
            <a:off x="9646920" y="1005840"/>
            <a:ext cx="2057400" cy="5230368"/>
          </a:xfrm>
          <a:prstGeom prst="roundRect">
            <a:avLst>
              <a:gd name="adj" fmla="val 3111"/>
            </a:avLst>
          </a:prstGeom>
          <a:solidFill>
            <a:srgbClr val="EDF1FA"/>
          </a:solidFill>
          <a:ln/>
        </p:spPr>
      </p:sp>
      <p:sp>
        <p:nvSpPr>
          <p:cNvPr id="411027287" name="Text 27"/>
          <p:cNvSpPr/>
          <p:nvPr/>
        </p:nvSpPr>
        <p:spPr bwMode="auto">
          <a:xfrm>
            <a:off x="9784079" y="11430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TECHNOLOGIES</a:t>
            </a:r>
            <a:endParaRPr lang="en-US" sz="1100"/>
          </a:p>
        </p:txBody>
      </p:sp>
      <p:sp>
        <p:nvSpPr>
          <p:cNvPr id="1857639583" name="Text 28"/>
          <p:cNvSpPr/>
          <p:nvPr/>
        </p:nvSpPr>
        <p:spPr bwMode="auto">
          <a:xfrm>
            <a:off x="9829800" y="1508759"/>
            <a:ext cx="1691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GPT / Llama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LangGraph / CrewAI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Vector Database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Knowledge Graphs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Enterprise APIs</a:t>
            </a:r>
            <a:endParaRPr lang="en-US" sz="1250"/>
          </a:p>
        </p:txBody>
      </p:sp>
      <p:sp>
        <p:nvSpPr>
          <p:cNvPr id="670770864" name="Shape 29"/>
          <p:cNvSpPr/>
          <p:nvPr/>
        </p:nvSpPr>
        <p:spPr bwMode="auto">
          <a:xfrm>
            <a:off x="9784079" y="3337560"/>
            <a:ext cx="1783080" cy="0"/>
          </a:xfrm>
          <a:prstGeom prst="line">
            <a:avLst/>
          </a:prstGeom>
          <a:noFill/>
          <a:ln w="12700">
            <a:solidFill>
              <a:srgbClr val="C7CFE8"/>
            </a:solidFill>
            <a:prstDash val="solid"/>
          </a:ln>
        </p:spPr>
      </p:sp>
      <p:sp>
        <p:nvSpPr>
          <p:cNvPr id="790702277" name="Text 30"/>
          <p:cNvSpPr/>
          <p:nvPr/>
        </p:nvSpPr>
        <p:spPr bwMode="auto">
          <a:xfrm>
            <a:off x="9784079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AGENT ROLES</a:t>
            </a:r>
            <a:endParaRPr lang="en-US" sz="1100"/>
          </a:p>
        </p:txBody>
      </p:sp>
      <p:sp>
        <p:nvSpPr>
          <p:cNvPr id="2007435889" name="Text 31"/>
          <p:cNvSpPr/>
          <p:nvPr/>
        </p:nvSpPr>
        <p:spPr bwMode="auto">
          <a:xfrm>
            <a:off x="9829800" y="384048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Planner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Research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Analysis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Verification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Decision</a:t>
            </a:r>
            <a:endParaRPr lang="en-US" sz="1250"/>
          </a:p>
        </p:txBody>
      </p:sp>
      <p:sp>
        <p:nvSpPr>
          <p:cNvPr id="1188298120" name="Text 32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A9B2CE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06373" name="Text 0"/>
          <p:cNvSpPr/>
          <p:nvPr/>
        </p:nvSpPr>
        <p:spPr bwMode="auto"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Research Methodology</a:t>
            </a:r>
            <a:endParaRPr lang="en-US" sz="3000"/>
          </a:p>
        </p:txBody>
      </p:sp>
      <p:sp>
        <p:nvSpPr>
          <p:cNvPr id="427999645" name="Shape 1"/>
          <p:cNvSpPr/>
          <p:nvPr/>
        </p:nvSpPr>
        <p:spPr bwMode="auto">
          <a:xfrm>
            <a:off x="548640" y="12344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1560040" name="Text 2"/>
          <p:cNvSpPr/>
          <p:nvPr/>
        </p:nvSpPr>
        <p:spPr bwMode="auto">
          <a:xfrm>
            <a:off x="548640" y="1234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200"/>
          </a:p>
        </p:txBody>
      </p:sp>
      <p:sp>
        <p:nvSpPr>
          <p:cNvPr id="153267025" name="Shape 3"/>
          <p:cNvSpPr/>
          <p:nvPr/>
        </p:nvSpPr>
        <p:spPr bwMode="auto">
          <a:xfrm>
            <a:off x="749808" y="1636776"/>
            <a:ext cx="0" cy="219456"/>
          </a:xfrm>
          <a:prstGeom prst="line">
            <a:avLst/>
          </a:prstGeom>
          <a:noFill/>
          <a:ln w="25400">
            <a:solidFill>
              <a:srgbClr val="C7CFE8"/>
            </a:solidFill>
            <a:prstDash val="solid"/>
          </a:ln>
        </p:spPr>
      </p:sp>
      <p:sp>
        <p:nvSpPr>
          <p:cNvPr id="1733629715" name="Text 4"/>
          <p:cNvSpPr/>
          <p:nvPr/>
        </p:nvSpPr>
        <p:spPr bwMode="auto">
          <a:xfrm>
            <a:off x="1179576" y="11795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Literature Review</a:t>
            </a:r>
            <a:endParaRPr lang="en-US" sz="1450"/>
          </a:p>
        </p:txBody>
      </p:sp>
      <p:sp>
        <p:nvSpPr>
          <p:cNvPr id="1307841857" name="Shape 5"/>
          <p:cNvSpPr/>
          <p:nvPr/>
        </p:nvSpPr>
        <p:spPr bwMode="auto">
          <a:xfrm>
            <a:off x="548640" y="1856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28641877" name="Text 6"/>
          <p:cNvSpPr/>
          <p:nvPr/>
        </p:nvSpPr>
        <p:spPr bwMode="auto">
          <a:xfrm>
            <a:off x="548640" y="1856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200"/>
          </a:p>
        </p:txBody>
      </p:sp>
      <p:sp>
        <p:nvSpPr>
          <p:cNvPr id="2093775093" name="Shape 7"/>
          <p:cNvSpPr/>
          <p:nvPr/>
        </p:nvSpPr>
        <p:spPr bwMode="auto">
          <a:xfrm>
            <a:off x="749808" y="2258568"/>
            <a:ext cx="0" cy="219456"/>
          </a:xfrm>
          <a:prstGeom prst="line">
            <a:avLst/>
          </a:prstGeom>
          <a:noFill/>
          <a:ln w="25400">
            <a:solidFill>
              <a:srgbClr val="C7CFE8"/>
            </a:solidFill>
            <a:prstDash val="solid"/>
          </a:ln>
        </p:spPr>
      </p:sp>
      <p:sp>
        <p:nvSpPr>
          <p:cNvPr id="1528496412" name="Text 8"/>
          <p:cNvSpPr/>
          <p:nvPr/>
        </p:nvSpPr>
        <p:spPr bwMode="auto">
          <a:xfrm>
            <a:off x="1179576" y="1801367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Requirement Analysis</a:t>
            </a:r>
            <a:endParaRPr lang="en-US" sz="1450"/>
          </a:p>
        </p:txBody>
      </p:sp>
      <p:sp>
        <p:nvSpPr>
          <p:cNvPr id="100591560" name="Shape 9"/>
          <p:cNvSpPr/>
          <p:nvPr/>
        </p:nvSpPr>
        <p:spPr bwMode="auto">
          <a:xfrm>
            <a:off x="548640" y="247802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6891000" name="Text 10"/>
          <p:cNvSpPr/>
          <p:nvPr/>
        </p:nvSpPr>
        <p:spPr bwMode="auto">
          <a:xfrm>
            <a:off x="548640" y="2478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200"/>
          </a:p>
        </p:txBody>
      </p:sp>
      <p:sp>
        <p:nvSpPr>
          <p:cNvPr id="1700617654" name="Shape 11"/>
          <p:cNvSpPr/>
          <p:nvPr/>
        </p:nvSpPr>
        <p:spPr bwMode="auto">
          <a:xfrm>
            <a:off x="749808" y="2880360"/>
            <a:ext cx="0" cy="219456"/>
          </a:xfrm>
          <a:prstGeom prst="line">
            <a:avLst/>
          </a:prstGeom>
          <a:noFill/>
          <a:ln w="25400">
            <a:solidFill>
              <a:srgbClr val="C7CFE8"/>
            </a:solidFill>
            <a:prstDash val="solid"/>
          </a:ln>
        </p:spPr>
      </p:sp>
      <p:sp>
        <p:nvSpPr>
          <p:cNvPr id="1401464717" name="Text 12"/>
          <p:cNvSpPr/>
          <p:nvPr/>
        </p:nvSpPr>
        <p:spPr bwMode="auto">
          <a:xfrm>
            <a:off x="1179576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Framework Design</a:t>
            </a:r>
            <a:endParaRPr lang="en-US" sz="1450"/>
          </a:p>
        </p:txBody>
      </p:sp>
      <p:sp>
        <p:nvSpPr>
          <p:cNvPr id="2076691395" name="Shape 13"/>
          <p:cNvSpPr/>
          <p:nvPr/>
        </p:nvSpPr>
        <p:spPr bwMode="auto">
          <a:xfrm>
            <a:off x="548640" y="30998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37088988" name="Text 14"/>
          <p:cNvSpPr/>
          <p:nvPr/>
        </p:nvSpPr>
        <p:spPr bwMode="auto">
          <a:xfrm>
            <a:off x="548640" y="30998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200"/>
          </a:p>
        </p:txBody>
      </p:sp>
      <p:sp>
        <p:nvSpPr>
          <p:cNvPr id="1080983618" name="Shape 15"/>
          <p:cNvSpPr/>
          <p:nvPr/>
        </p:nvSpPr>
        <p:spPr bwMode="auto">
          <a:xfrm>
            <a:off x="749808" y="3502152"/>
            <a:ext cx="0" cy="219456"/>
          </a:xfrm>
          <a:prstGeom prst="line">
            <a:avLst/>
          </a:prstGeom>
          <a:noFill/>
          <a:ln w="25400">
            <a:solidFill>
              <a:srgbClr val="C7CFE8"/>
            </a:solidFill>
            <a:prstDash val="solid"/>
          </a:ln>
        </p:spPr>
      </p:sp>
      <p:sp>
        <p:nvSpPr>
          <p:cNvPr id="1418479957" name="Text 16"/>
          <p:cNvSpPr/>
          <p:nvPr/>
        </p:nvSpPr>
        <p:spPr bwMode="auto">
          <a:xfrm>
            <a:off x="1179576" y="3044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Multi-Agent Development</a:t>
            </a:r>
            <a:endParaRPr lang="en-US" sz="1450"/>
          </a:p>
        </p:txBody>
      </p:sp>
      <p:sp>
        <p:nvSpPr>
          <p:cNvPr id="1139935199" name="Shape 17"/>
          <p:cNvSpPr/>
          <p:nvPr/>
        </p:nvSpPr>
        <p:spPr bwMode="auto">
          <a:xfrm>
            <a:off x="548640" y="37216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6220115" name="Text 18"/>
          <p:cNvSpPr/>
          <p:nvPr/>
        </p:nvSpPr>
        <p:spPr bwMode="auto">
          <a:xfrm>
            <a:off x="548640" y="3721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200"/>
          </a:p>
        </p:txBody>
      </p:sp>
      <p:sp>
        <p:nvSpPr>
          <p:cNvPr id="2106172517" name="Shape 19"/>
          <p:cNvSpPr/>
          <p:nvPr/>
        </p:nvSpPr>
        <p:spPr bwMode="auto">
          <a:xfrm>
            <a:off x="749808" y="4123944"/>
            <a:ext cx="0" cy="219456"/>
          </a:xfrm>
          <a:prstGeom prst="line">
            <a:avLst/>
          </a:prstGeom>
          <a:noFill/>
          <a:ln w="25400">
            <a:solidFill>
              <a:srgbClr val="C7CFE8"/>
            </a:solidFill>
            <a:prstDash val="solid"/>
          </a:ln>
        </p:spPr>
      </p:sp>
      <p:sp>
        <p:nvSpPr>
          <p:cNvPr id="1298762286" name="Text 20"/>
          <p:cNvSpPr/>
          <p:nvPr/>
        </p:nvSpPr>
        <p:spPr bwMode="auto">
          <a:xfrm>
            <a:off x="1179576" y="36667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Knowledge Integration using RAG</a:t>
            </a:r>
            <a:endParaRPr lang="en-US" sz="1450"/>
          </a:p>
        </p:txBody>
      </p:sp>
      <p:sp>
        <p:nvSpPr>
          <p:cNvPr id="1856412598" name="Shape 21"/>
          <p:cNvSpPr/>
          <p:nvPr/>
        </p:nvSpPr>
        <p:spPr bwMode="auto">
          <a:xfrm>
            <a:off x="548640" y="43434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30240994" name="Text 22"/>
          <p:cNvSpPr/>
          <p:nvPr/>
        </p:nvSpPr>
        <p:spPr bwMode="auto">
          <a:xfrm>
            <a:off x="548640" y="4343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200"/>
          </a:p>
        </p:txBody>
      </p:sp>
      <p:sp>
        <p:nvSpPr>
          <p:cNvPr id="1855812703" name="Shape 23"/>
          <p:cNvSpPr/>
          <p:nvPr/>
        </p:nvSpPr>
        <p:spPr bwMode="auto">
          <a:xfrm>
            <a:off x="749808" y="4745736"/>
            <a:ext cx="0" cy="219456"/>
          </a:xfrm>
          <a:prstGeom prst="line">
            <a:avLst/>
          </a:prstGeom>
          <a:noFill/>
          <a:ln w="25400">
            <a:solidFill>
              <a:srgbClr val="C7CFE8"/>
            </a:solidFill>
            <a:prstDash val="solid"/>
          </a:ln>
        </p:spPr>
      </p:sp>
      <p:sp>
        <p:nvSpPr>
          <p:cNvPr id="1165322247" name="Text 24"/>
          <p:cNvSpPr/>
          <p:nvPr/>
        </p:nvSpPr>
        <p:spPr bwMode="auto">
          <a:xfrm>
            <a:off x="1179576" y="42885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Experimental Evaluation</a:t>
            </a:r>
            <a:endParaRPr lang="en-US" sz="1450"/>
          </a:p>
        </p:txBody>
      </p:sp>
      <p:sp>
        <p:nvSpPr>
          <p:cNvPr id="1520409915" name="Shape 25"/>
          <p:cNvSpPr/>
          <p:nvPr/>
        </p:nvSpPr>
        <p:spPr bwMode="auto">
          <a:xfrm>
            <a:off x="548640" y="4965192"/>
            <a:ext cx="402336" cy="40233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09610141" name="Text 26"/>
          <p:cNvSpPr/>
          <p:nvPr/>
        </p:nvSpPr>
        <p:spPr bwMode="auto">
          <a:xfrm>
            <a:off x="548640" y="4965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200"/>
          </a:p>
        </p:txBody>
      </p:sp>
      <p:sp>
        <p:nvSpPr>
          <p:cNvPr id="1696652582" name="Text 27"/>
          <p:cNvSpPr/>
          <p:nvPr/>
        </p:nvSpPr>
        <p:spPr bwMode="auto">
          <a:xfrm>
            <a:off x="1179576" y="4910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Comparative Analysis</a:t>
            </a:r>
            <a:endParaRPr lang="en-US" sz="1450"/>
          </a:p>
        </p:txBody>
      </p:sp>
      <p:sp>
        <p:nvSpPr>
          <p:cNvPr id="532210452" name="Text 28"/>
          <p:cNvSpPr/>
          <p:nvPr/>
        </p:nvSpPr>
        <p:spPr bwMode="auto">
          <a:xfrm>
            <a:off x="644652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Evaluation Metrics</a:t>
            </a:r>
            <a:endParaRPr lang="en-US" sz="1700"/>
          </a:p>
        </p:txBody>
      </p:sp>
      <p:sp>
        <p:nvSpPr>
          <p:cNvPr id="111968699" name="Shape 29"/>
          <p:cNvSpPr/>
          <p:nvPr/>
        </p:nvSpPr>
        <p:spPr bwMode="auto">
          <a:xfrm>
            <a:off x="6446520" y="16916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DF1FA"/>
          </a:solidFill>
          <a:ln/>
        </p:spPr>
      </p:sp>
      <p:sp>
        <p:nvSpPr>
          <p:cNvPr id="1078267867" name="Shape 30"/>
          <p:cNvSpPr/>
          <p:nvPr/>
        </p:nvSpPr>
        <p:spPr bwMode="auto">
          <a:xfrm>
            <a:off x="6611112" y="18790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5152469" name="Image 0" descr="icons/target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07673" y="1975653"/>
            <a:ext cx="209215" cy="209215"/>
          </a:xfrm>
          <a:prstGeom prst="rect">
            <a:avLst/>
          </a:prstGeom>
        </p:spPr>
      </p:pic>
      <p:sp>
        <p:nvSpPr>
          <p:cNvPr id="611938702" name="Text 31"/>
          <p:cNvSpPr/>
          <p:nvPr/>
        </p:nvSpPr>
        <p:spPr bwMode="auto">
          <a:xfrm>
            <a:off x="7086600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Decision Accuracy</a:t>
            </a:r>
            <a:endParaRPr lang="en-US" sz="1250"/>
          </a:p>
        </p:txBody>
      </p:sp>
      <p:sp>
        <p:nvSpPr>
          <p:cNvPr id="1641327166" name="Shape 32"/>
          <p:cNvSpPr/>
          <p:nvPr/>
        </p:nvSpPr>
        <p:spPr bwMode="auto">
          <a:xfrm>
            <a:off x="9144000" y="16916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DF1FA"/>
          </a:solidFill>
          <a:ln/>
        </p:spPr>
      </p:sp>
      <p:sp>
        <p:nvSpPr>
          <p:cNvPr id="520028043" name="Shape 33"/>
          <p:cNvSpPr/>
          <p:nvPr/>
        </p:nvSpPr>
        <p:spPr bwMode="auto">
          <a:xfrm>
            <a:off x="9308592" y="18790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91940799" name="Image 1" descr="icons/balance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405153" y="1975653"/>
            <a:ext cx="209215" cy="209215"/>
          </a:xfrm>
          <a:prstGeom prst="rect">
            <a:avLst/>
          </a:prstGeom>
        </p:spPr>
      </p:pic>
      <p:sp>
        <p:nvSpPr>
          <p:cNvPr id="2030307637" name="Text 34"/>
          <p:cNvSpPr/>
          <p:nvPr/>
        </p:nvSpPr>
        <p:spPr bwMode="auto">
          <a:xfrm>
            <a:off x="9784079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Precision / Recall</a:t>
            </a:r>
            <a:endParaRPr lang="en-US" sz="1250"/>
          </a:p>
        </p:txBody>
      </p:sp>
      <p:sp>
        <p:nvSpPr>
          <p:cNvPr id="635337947" name="Shape 35"/>
          <p:cNvSpPr/>
          <p:nvPr/>
        </p:nvSpPr>
        <p:spPr bwMode="auto">
          <a:xfrm>
            <a:off x="6446520" y="26517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DF1FA"/>
          </a:solidFill>
          <a:ln/>
        </p:spPr>
      </p:sp>
      <p:sp>
        <p:nvSpPr>
          <p:cNvPr id="386812430" name="Shape 36"/>
          <p:cNvSpPr/>
          <p:nvPr/>
        </p:nvSpPr>
        <p:spPr bwMode="auto">
          <a:xfrm>
            <a:off x="6611112" y="28392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09414301" name="Image 2" descr="icons/shield_FFFFFF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707673" y="2935773"/>
            <a:ext cx="209215" cy="209215"/>
          </a:xfrm>
          <a:prstGeom prst="rect">
            <a:avLst/>
          </a:prstGeom>
        </p:spPr>
      </p:pic>
      <p:sp>
        <p:nvSpPr>
          <p:cNvPr id="1004562561" name="Text 37"/>
          <p:cNvSpPr/>
          <p:nvPr/>
        </p:nvSpPr>
        <p:spPr bwMode="auto">
          <a:xfrm>
            <a:off x="7086600" y="2651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Hallucination Rate</a:t>
            </a:r>
            <a:endParaRPr lang="en-US" sz="1250"/>
          </a:p>
        </p:txBody>
      </p:sp>
      <p:sp>
        <p:nvSpPr>
          <p:cNvPr id="1461702206" name="Shape 38"/>
          <p:cNvSpPr/>
          <p:nvPr/>
        </p:nvSpPr>
        <p:spPr bwMode="auto">
          <a:xfrm>
            <a:off x="9144000" y="26517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DF1FA"/>
          </a:solidFill>
          <a:ln/>
        </p:spPr>
      </p:sp>
      <p:sp>
        <p:nvSpPr>
          <p:cNvPr id="2139026985" name="Shape 39"/>
          <p:cNvSpPr/>
          <p:nvPr/>
        </p:nvSpPr>
        <p:spPr bwMode="auto">
          <a:xfrm>
            <a:off x="9308592" y="28392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52924359" name="Image 3" descr="icons/clock_FFFFFF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405153" y="2935773"/>
            <a:ext cx="209215" cy="209215"/>
          </a:xfrm>
          <a:prstGeom prst="rect">
            <a:avLst/>
          </a:prstGeom>
        </p:spPr>
      </p:pic>
      <p:sp>
        <p:nvSpPr>
          <p:cNvPr id="290939774" name="Text 40"/>
          <p:cNvSpPr/>
          <p:nvPr/>
        </p:nvSpPr>
        <p:spPr bwMode="auto">
          <a:xfrm>
            <a:off x="9784079" y="2651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Response Time</a:t>
            </a:r>
            <a:endParaRPr lang="en-US" sz="1250"/>
          </a:p>
        </p:txBody>
      </p:sp>
      <p:sp>
        <p:nvSpPr>
          <p:cNvPr id="587615923" name="Shape 41"/>
          <p:cNvSpPr/>
          <p:nvPr/>
        </p:nvSpPr>
        <p:spPr bwMode="auto">
          <a:xfrm>
            <a:off x="6446520" y="361188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DF1FA"/>
          </a:solidFill>
          <a:ln/>
        </p:spPr>
      </p:sp>
      <p:sp>
        <p:nvSpPr>
          <p:cNvPr id="1391220699" name="Shape 42"/>
          <p:cNvSpPr/>
          <p:nvPr/>
        </p:nvSpPr>
        <p:spPr bwMode="auto">
          <a:xfrm>
            <a:off x="6611112" y="37993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8048100" name="Image 4" descr="icons/comment_FFFFFF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707673" y="3895893"/>
            <a:ext cx="209215" cy="209215"/>
          </a:xfrm>
          <a:prstGeom prst="rect">
            <a:avLst/>
          </a:prstGeom>
        </p:spPr>
      </p:pic>
      <p:sp>
        <p:nvSpPr>
          <p:cNvPr id="1841304266" name="Text 43"/>
          <p:cNvSpPr/>
          <p:nvPr/>
        </p:nvSpPr>
        <p:spPr bwMode="auto">
          <a:xfrm>
            <a:off x="7086600" y="36118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Explainability</a:t>
            </a:r>
            <a:endParaRPr lang="en-US" sz="1250"/>
          </a:p>
        </p:txBody>
      </p:sp>
      <p:sp>
        <p:nvSpPr>
          <p:cNvPr id="200731990" name="Shape 44"/>
          <p:cNvSpPr/>
          <p:nvPr/>
        </p:nvSpPr>
        <p:spPr bwMode="auto">
          <a:xfrm>
            <a:off x="9144000" y="361188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DF1FA"/>
          </a:solidFill>
          <a:ln/>
        </p:spPr>
      </p:sp>
      <p:sp>
        <p:nvSpPr>
          <p:cNvPr id="127855762" name="Shape 45"/>
          <p:cNvSpPr/>
          <p:nvPr/>
        </p:nvSpPr>
        <p:spPr bwMode="auto">
          <a:xfrm>
            <a:off x="9308592" y="37993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5300679" name="Image 5" descr="icons/check_FFFFFF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405153" y="3895893"/>
            <a:ext cx="209215" cy="209215"/>
          </a:xfrm>
          <a:prstGeom prst="rect">
            <a:avLst/>
          </a:prstGeom>
        </p:spPr>
      </p:pic>
      <p:sp>
        <p:nvSpPr>
          <p:cNvPr id="449777116" name="Text 46"/>
          <p:cNvSpPr/>
          <p:nvPr/>
        </p:nvSpPr>
        <p:spPr bwMode="auto">
          <a:xfrm>
            <a:off x="9784079" y="36118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User Satisfaction</a:t>
            </a:r>
            <a:endParaRPr lang="en-US" sz="1250"/>
          </a:p>
        </p:txBody>
      </p:sp>
      <p:sp>
        <p:nvSpPr>
          <p:cNvPr id="532722930" name="Shape 47"/>
          <p:cNvSpPr/>
          <p:nvPr/>
        </p:nvSpPr>
        <p:spPr bwMode="auto">
          <a:xfrm>
            <a:off x="6446520" y="457200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DF1FA"/>
          </a:solidFill>
          <a:ln/>
        </p:spPr>
      </p:sp>
      <p:sp>
        <p:nvSpPr>
          <p:cNvPr id="664229162" name="Shape 48"/>
          <p:cNvSpPr/>
          <p:nvPr/>
        </p:nvSpPr>
        <p:spPr bwMode="auto">
          <a:xfrm>
            <a:off x="6611112" y="47594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30808276" name="Image 6" descr="icons/expand_FFFFFF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707673" y="4856013"/>
            <a:ext cx="209215" cy="209215"/>
          </a:xfrm>
          <a:prstGeom prst="rect">
            <a:avLst/>
          </a:prstGeom>
        </p:spPr>
      </p:pic>
      <p:sp>
        <p:nvSpPr>
          <p:cNvPr id="795984094" name="Text 49"/>
          <p:cNvSpPr/>
          <p:nvPr/>
        </p:nvSpPr>
        <p:spPr bwMode="auto">
          <a:xfrm>
            <a:off x="7086600" y="4572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Scalability</a:t>
            </a:r>
            <a:endParaRPr lang="en-US" sz="1250"/>
          </a:p>
        </p:txBody>
      </p:sp>
      <p:sp>
        <p:nvSpPr>
          <p:cNvPr id="281267429" name="Text 50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A9B2CE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4153" name="Text 0"/>
          <p:cNvSpPr/>
          <p:nvPr/>
        </p:nvSpPr>
        <p:spPr bwMode="auto"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Expected Outcomes</a:t>
            </a:r>
            <a:endParaRPr lang="en-US" sz="3000"/>
          </a:p>
        </p:txBody>
      </p:sp>
      <p:sp>
        <p:nvSpPr>
          <p:cNvPr id="1324576405" name="Shape 1"/>
          <p:cNvSpPr/>
          <p:nvPr/>
        </p:nvSpPr>
        <p:spPr bwMode="auto">
          <a:xfrm>
            <a:off x="548640" y="1188720"/>
            <a:ext cx="2587752" cy="105156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/>
        </p:spPr>
      </p:sp>
      <p:sp>
        <p:nvSpPr>
          <p:cNvPr id="838271062" name="Shape 2"/>
          <p:cNvSpPr/>
          <p:nvPr/>
        </p:nvSpPr>
        <p:spPr bwMode="auto">
          <a:xfrm>
            <a:off x="1604772" y="13350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97593304" name="Image 0" descr="icons/project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18889" y="1449141"/>
            <a:ext cx="247254" cy="247254"/>
          </a:xfrm>
          <a:prstGeom prst="rect">
            <a:avLst/>
          </a:prstGeom>
        </p:spPr>
      </p:pic>
      <p:sp>
        <p:nvSpPr>
          <p:cNvPr id="1816060807" name="Text 3"/>
          <p:cNvSpPr/>
          <p:nvPr/>
        </p:nvSpPr>
        <p:spPr bwMode="auto">
          <a:xfrm>
            <a:off x="658368" y="1847088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Novel Multi-Agent LLM framework</a:t>
            </a:r>
            <a:endParaRPr lang="en-US" sz="1150"/>
          </a:p>
        </p:txBody>
      </p:sp>
      <p:sp>
        <p:nvSpPr>
          <p:cNvPr id="1970026442" name="Shape 4"/>
          <p:cNvSpPr/>
          <p:nvPr/>
        </p:nvSpPr>
        <p:spPr bwMode="auto">
          <a:xfrm>
            <a:off x="3300984" y="1188720"/>
            <a:ext cx="2587752" cy="105156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/>
        </p:spPr>
      </p:sp>
      <p:sp>
        <p:nvSpPr>
          <p:cNvPr id="1273687016" name="Shape 5"/>
          <p:cNvSpPr/>
          <p:nvPr/>
        </p:nvSpPr>
        <p:spPr bwMode="auto">
          <a:xfrm>
            <a:off x="4357116" y="13350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22737032" name="Image 1" descr="icons/target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71233" y="1449141"/>
            <a:ext cx="247254" cy="247254"/>
          </a:xfrm>
          <a:prstGeom prst="rect">
            <a:avLst/>
          </a:prstGeom>
        </p:spPr>
      </p:pic>
      <p:sp>
        <p:nvSpPr>
          <p:cNvPr id="515797490" name="Text 6"/>
          <p:cNvSpPr/>
          <p:nvPr/>
        </p:nvSpPr>
        <p:spPr bwMode="auto">
          <a:xfrm>
            <a:off x="3410712" y="1847088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Higher decision accuracy</a:t>
            </a:r>
            <a:endParaRPr lang="en-US" sz="1150"/>
          </a:p>
        </p:txBody>
      </p:sp>
      <p:sp>
        <p:nvSpPr>
          <p:cNvPr id="695814861" name="Shape 7"/>
          <p:cNvSpPr/>
          <p:nvPr/>
        </p:nvSpPr>
        <p:spPr bwMode="auto">
          <a:xfrm>
            <a:off x="6053328" y="1188720"/>
            <a:ext cx="2587752" cy="105156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/>
        </p:spPr>
      </p:sp>
      <p:sp>
        <p:nvSpPr>
          <p:cNvPr id="580966203" name="Shape 8"/>
          <p:cNvSpPr/>
          <p:nvPr/>
        </p:nvSpPr>
        <p:spPr bwMode="auto">
          <a:xfrm>
            <a:off x="7109460" y="13350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6754596" name="Image 2" descr="icons/shield_FFFFFF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23577" y="1449141"/>
            <a:ext cx="247254" cy="247254"/>
          </a:xfrm>
          <a:prstGeom prst="rect">
            <a:avLst/>
          </a:prstGeom>
        </p:spPr>
      </p:pic>
      <p:sp>
        <p:nvSpPr>
          <p:cNvPr id="375196742" name="Text 9"/>
          <p:cNvSpPr/>
          <p:nvPr/>
        </p:nvSpPr>
        <p:spPr bwMode="auto">
          <a:xfrm>
            <a:off x="6163056" y="1847088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Reduced hallucinations</a:t>
            </a:r>
            <a:endParaRPr lang="en-US" sz="1150"/>
          </a:p>
        </p:txBody>
      </p:sp>
      <p:sp>
        <p:nvSpPr>
          <p:cNvPr id="531934011" name="Shape 10"/>
          <p:cNvSpPr/>
          <p:nvPr/>
        </p:nvSpPr>
        <p:spPr bwMode="auto">
          <a:xfrm>
            <a:off x="8805672" y="1188720"/>
            <a:ext cx="2587752" cy="105156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/>
        </p:spPr>
      </p:sp>
      <p:sp>
        <p:nvSpPr>
          <p:cNvPr id="2023792425" name="Shape 11"/>
          <p:cNvSpPr/>
          <p:nvPr/>
        </p:nvSpPr>
        <p:spPr bwMode="auto">
          <a:xfrm>
            <a:off x="9861804" y="13350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74781930" name="Image 3" descr="icons/comment_FFFFFF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975921" y="1449141"/>
            <a:ext cx="247254" cy="247254"/>
          </a:xfrm>
          <a:prstGeom prst="rect">
            <a:avLst/>
          </a:prstGeom>
        </p:spPr>
      </p:pic>
      <p:sp>
        <p:nvSpPr>
          <p:cNvPr id="1874072529" name="Text 12"/>
          <p:cNvSpPr/>
          <p:nvPr/>
        </p:nvSpPr>
        <p:spPr bwMode="auto">
          <a:xfrm>
            <a:off x="8915400" y="1847088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Explainable AI recommendations</a:t>
            </a:r>
            <a:endParaRPr lang="en-US" sz="1150"/>
          </a:p>
        </p:txBody>
      </p:sp>
      <p:sp>
        <p:nvSpPr>
          <p:cNvPr id="332895230" name="Shape 13"/>
          <p:cNvSpPr/>
          <p:nvPr/>
        </p:nvSpPr>
        <p:spPr bwMode="auto">
          <a:xfrm>
            <a:off x="548640" y="2423160"/>
            <a:ext cx="2587752" cy="105156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/>
        </p:spPr>
      </p:sp>
      <p:sp>
        <p:nvSpPr>
          <p:cNvPr id="1901029467" name="Shape 14"/>
          <p:cNvSpPr/>
          <p:nvPr/>
        </p:nvSpPr>
        <p:spPr bwMode="auto">
          <a:xfrm>
            <a:off x="1604772" y="25694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12900040" name="Image 4" descr="icons/cogs_FFFFFF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718889" y="2683581"/>
            <a:ext cx="247254" cy="247254"/>
          </a:xfrm>
          <a:prstGeom prst="rect">
            <a:avLst/>
          </a:prstGeom>
        </p:spPr>
      </p:pic>
      <p:sp>
        <p:nvSpPr>
          <p:cNvPr id="1715876942" name="Text 15"/>
          <p:cNvSpPr/>
          <p:nvPr/>
        </p:nvSpPr>
        <p:spPr bwMode="auto">
          <a:xfrm>
            <a:off x="658368" y="3081528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Enterprise-ready architecture</a:t>
            </a:r>
            <a:endParaRPr lang="en-US" sz="1150"/>
          </a:p>
        </p:txBody>
      </p:sp>
      <p:sp>
        <p:nvSpPr>
          <p:cNvPr id="1482823582" name="Shape 16"/>
          <p:cNvSpPr/>
          <p:nvPr/>
        </p:nvSpPr>
        <p:spPr bwMode="auto">
          <a:xfrm>
            <a:off x="3300984" y="2423160"/>
            <a:ext cx="2587752" cy="105156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/>
        </p:spPr>
      </p:sp>
      <p:sp>
        <p:nvSpPr>
          <p:cNvPr id="1133540259" name="Shape 17"/>
          <p:cNvSpPr/>
          <p:nvPr/>
        </p:nvSpPr>
        <p:spPr bwMode="auto">
          <a:xfrm>
            <a:off x="4357116" y="25694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7582962" name="Image 5" descr="icons/gauge_FFFFFF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471233" y="2683581"/>
            <a:ext cx="247254" cy="247254"/>
          </a:xfrm>
          <a:prstGeom prst="rect">
            <a:avLst/>
          </a:prstGeom>
        </p:spPr>
      </p:pic>
      <p:sp>
        <p:nvSpPr>
          <p:cNvPr id="475456406" name="Text 18"/>
          <p:cNvSpPr/>
          <p:nvPr/>
        </p:nvSpPr>
        <p:spPr bwMode="auto">
          <a:xfrm>
            <a:off x="3410712" y="3081528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Improved operational efficiency</a:t>
            </a:r>
            <a:endParaRPr lang="en-US" sz="1150"/>
          </a:p>
        </p:txBody>
      </p:sp>
      <p:sp>
        <p:nvSpPr>
          <p:cNvPr id="202259491" name="Shape 19"/>
          <p:cNvSpPr/>
          <p:nvPr/>
        </p:nvSpPr>
        <p:spPr bwMode="auto">
          <a:xfrm>
            <a:off x="6053328" y="2423160"/>
            <a:ext cx="2587752" cy="105156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/>
        </p:spPr>
      </p:sp>
      <p:sp>
        <p:nvSpPr>
          <p:cNvPr id="445102654" name="Shape 20"/>
          <p:cNvSpPr/>
          <p:nvPr/>
        </p:nvSpPr>
        <p:spPr bwMode="auto">
          <a:xfrm>
            <a:off x="7109460" y="25694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63127397" name="Image 6" descr="icons/book_FFFFFF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223577" y="2683581"/>
            <a:ext cx="247254" cy="247254"/>
          </a:xfrm>
          <a:prstGeom prst="rect">
            <a:avLst/>
          </a:prstGeom>
        </p:spPr>
      </p:pic>
      <p:sp>
        <p:nvSpPr>
          <p:cNvPr id="964074401" name="Text 21"/>
          <p:cNvSpPr/>
          <p:nvPr/>
        </p:nvSpPr>
        <p:spPr bwMode="auto">
          <a:xfrm>
            <a:off x="6163056" y="3081528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Academic publications</a:t>
            </a:r>
            <a:endParaRPr lang="en-US" sz="1150"/>
          </a:p>
        </p:txBody>
      </p:sp>
      <p:sp>
        <p:nvSpPr>
          <p:cNvPr id="598014081" name="Shape 22"/>
          <p:cNvSpPr/>
          <p:nvPr/>
        </p:nvSpPr>
        <p:spPr bwMode="auto">
          <a:xfrm>
            <a:off x="8805672" y="2423160"/>
            <a:ext cx="2587752" cy="105156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/>
        </p:spPr>
      </p:sp>
      <p:sp>
        <p:nvSpPr>
          <p:cNvPr id="462132208" name="Shape 23"/>
          <p:cNvSpPr/>
          <p:nvPr/>
        </p:nvSpPr>
        <p:spPr bwMode="auto">
          <a:xfrm>
            <a:off x="9861804" y="25694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65550444" name="Image 7" descr="icons/flask_FFFFFF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9975921" y="2683581"/>
            <a:ext cx="247254" cy="247254"/>
          </a:xfrm>
          <a:prstGeom prst="rect">
            <a:avLst/>
          </a:prstGeom>
        </p:spPr>
      </p:pic>
      <p:sp>
        <p:nvSpPr>
          <p:cNvPr id="67088060" name="Text 24"/>
          <p:cNvSpPr/>
          <p:nvPr/>
        </p:nvSpPr>
        <p:spPr bwMode="auto">
          <a:xfrm>
            <a:off x="8915400" y="3081528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Prototype implementation</a:t>
            </a:r>
            <a:endParaRPr lang="en-US" sz="1150"/>
          </a:p>
        </p:txBody>
      </p:sp>
      <p:sp>
        <p:nvSpPr>
          <p:cNvPr id="452245460" name="Text 25"/>
          <p:cNvSpPr/>
          <p:nvPr/>
        </p:nvSpPr>
        <p:spPr bwMode="auto"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Potential Application Domains</a:t>
            </a:r>
            <a:endParaRPr lang="en-US" sz="1600"/>
          </a:p>
        </p:txBody>
      </p:sp>
      <p:sp>
        <p:nvSpPr>
          <p:cNvPr id="1255367419" name="Shape 26"/>
          <p:cNvSpPr/>
          <p:nvPr/>
        </p:nvSpPr>
        <p:spPr bwMode="auto">
          <a:xfrm>
            <a:off x="59436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37971382" name="Image 8" descr="icons/health_FFFFFF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715061" y="4372661"/>
            <a:ext cx="261518" cy="261518"/>
          </a:xfrm>
          <a:prstGeom prst="rect">
            <a:avLst/>
          </a:prstGeom>
        </p:spPr>
      </p:pic>
      <p:sp>
        <p:nvSpPr>
          <p:cNvPr id="1217515842" name="Text 27"/>
          <p:cNvSpPr/>
          <p:nvPr/>
        </p:nvSpPr>
        <p:spPr bwMode="auto">
          <a:xfrm>
            <a:off x="118872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Healthcare</a:t>
            </a:r>
            <a:endParaRPr lang="en-US" sz="1300"/>
          </a:p>
        </p:txBody>
      </p:sp>
      <p:sp>
        <p:nvSpPr>
          <p:cNvPr id="1704303827" name="Shape 28"/>
          <p:cNvSpPr/>
          <p:nvPr/>
        </p:nvSpPr>
        <p:spPr bwMode="auto">
          <a:xfrm>
            <a:off x="269748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66958097" name="Image 9" descr="icons/finance_FFFFFF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2818181" y="4372661"/>
            <a:ext cx="261518" cy="261518"/>
          </a:xfrm>
          <a:prstGeom prst="rect">
            <a:avLst/>
          </a:prstGeom>
        </p:spPr>
      </p:pic>
      <p:sp>
        <p:nvSpPr>
          <p:cNvPr id="1636067927" name="Text 29"/>
          <p:cNvSpPr/>
          <p:nvPr/>
        </p:nvSpPr>
        <p:spPr bwMode="auto">
          <a:xfrm>
            <a:off x="329184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Finance</a:t>
            </a:r>
            <a:endParaRPr lang="en-US" sz="1300"/>
          </a:p>
        </p:txBody>
      </p:sp>
      <p:sp>
        <p:nvSpPr>
          <p:cNvPr id="1205450178" name="Shape 30"/>
          <p:cNvSpPr/>
          <p:nvPr/>
        </p:nvSpPr>
        <p:spPr bwMode="auto">
          <a:xfrm>
            <a:off x="480060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74174296" name="Image 10" descr="icons/manufacturing_FFFFFF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4921301" y="4372661"/>
            <a:ext cx="261518" cy="261518"/>
          </a:xfrm>
          <a:prstGeom prst="rect">
            <a:avLst/>
          </a:prstGeom>
        </p:spPr>
      </p:pic>
      <p:sp>
        <p:nvSpPr>
          <p:cNvPr id="1854027241" name="Text 31"/>
          <p:cNvSpPr/>
          <p:nvPr/>
        </p:nvSpPr>
        <p:spPr bwMode="auto">
          <a:xfrm>
            <a:off x="539496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Manufacturing</a:t>
            </a:r>
            <a:endParaRPr lang="en-US" sz="1300"/>
          </a:p>
        </p:txBody>
      </p:sp>
      <p:sp>
        <p:nvSpPr>
          <p:cNvPr id="1068141471" name="Shape 32"/>
          <p:cNvSpPr/>
          <p:nvPr/>
        </p:nvSpPr>
        <p:spPr bwMode="auto">
          <a:xfrm>
            <a:off x="690372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74149738" name="Image 11" descr="icons/supply_FFFFFF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7024421" y="4372661"/>
            <a:ext cx="261518" cy="261518"/>
          </a:xfrm>
          <a:prstGeom prst="rect">
            <a:avLst/>
          </a:prstGeom>
        </p:spPr>
      </p:pic>
      <p:sp>
        <p:nvSpPr>
          <p:cNvPr id="96014171" name="Text 33"/>
          <p:cNvSpPr/>
          <p:nvPr/>
        </p:nvSpPr>
        <p:spPr bwMode="auto">
          <a:xfrm>
            <a:off x="749808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Supply Chain</a:t>
            </a:r>
            <a:endParaRPr lang="en-US" sz="1300"/>
          </a:p>
        </p:txBody>
      </p:sp>
      <p:sp>
        <p:nvSpPr>
          <p:cNvPr id="363324166" name="Shape 34"/>
          <p:cNvSpPr/>
          <p:nvPr/>
        </p:nvSpPr>
        <p:spPr bwMode="auto">
          <a:xfrm>
            <a:off x="900684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91075941" name="Image 12" descr="icons/governance_FFFFFF.png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9127541" y="4372661"/>
            <a:ext cx="261518" cy="261518"/>
          </a:xfrm>
          <a:prstGeom prst="rect">
            <a:avLst/>
          </a:prstGeom>
        </p:spPr>
      </p:pic>
      <p:sp>
        <p:nvSpPr>
          <p:cNvPr id="1052727642" name="Text 35"/>
          <p:cNvSpPr/>
          <p:nvPr/>
        </p:nvSpPr>
        <p:spPr bwMode="auto">
          <a:xfrm>
            <a:off x="9601200" y="4251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Smart Governance</a:t>
            </a:r>
            <a:endParaRPr lang="en-US" sz="1300"/>
          </a:p>
        </p:txBody>
      </p:sp>
      <p:sp>
        <p:nvSpPr>
          <p:cNvPr id="1597402294" name="Text 36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A9B2CE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141126" name="Text 0"/>
          <p:cNvSpPr/>
          <p:nvPr/>
        </p:nvSpPr>
        <p:spPr bwMode="auto"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Future Scope &amp; Conclusion</a:t>
            </a:r>
            <a:endParaRPr lang="en-US" sz="3000"/>
          </a:p>
        </p:txBody>
      </p:sp>
      <p:sp>
        <p:nvSpPr>
          <p:cNvPr id="2019682619" name="Text 1"/>
          <p:cNvSpPr/>
          <p:nvPr/>
        </p:nvSpPr>
        <p:spPr bwMode="auto">
          <a:xfrm>
            <a:off x="54864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00C2A8"/>
                </a:solidFill>
                <a:latin typeface="Calibri"/>
                <a:ea typeface="Calibri"/>
                <a:cs typeface="Calibri"/>
              </a:rPr>
              <a:t>FUTURE SCOPE</a:t>
            </a:r>
            <a:endParaRPr lang="en-US" sz="1300"/>
          </a:p>
        </p:txBody>
      </p:sp>
      <p:sp>
        <p:nvSpPr>
          <p:cNvPr id="178633594" name="Shape 2"/>
          <p:cNvSpPr/>
          <p:nvPr/>
        </p:nvSpPr>
        <p:spPr bwMode="auto">
          <a:xfrm>
            <a:off x="548640" y="1737360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11824724" name="Image 0" descr="icons/network_1E276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9590" y="1838310"/>
            <a:ext cx="218724" cy="218724"/>
          </a:xfrm>
          <a:prstGeom prst="rect">
            <a:avLst/>
          </a:prstGeom>
        </p:spPr>
      </p:pic>
      <p:sp>
        <p:nvSpPr>
          <p:cNvPr id="1564952884" name="Text 3"/>
          <p:cNvSpPr/>
          <p:nvPr/>
        </p:nvSpPr>
        <p:spPr bwMode="auto">
          <a:xfrm>
            <a:off x="1143000" y="173736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ERP and CRM integration</a:t>
            </a:r>
            <a:endParaRPr lang="en-US" sz="1400"/>
          </a:p>
        </p:txBody>
      </p:sp>
      <p:sp>
        <p:nvSpPr>
          <p:cNvPr id="1869718574" name="Shape 4"/>
          <p:cNvSpPr/>
          <p:nvPr/>
        </p:nvSpPr>
        <p:spPr bwMode="auto">
          <a:xfrm>
            <a:off x="548640" y="2359152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26342810" name="Image 1" descr="icons/cogs_1E2761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9590" y="2460102"/>
            <a:ext cx="218724" cy="218724"/>
          </a:xfrm>
          <a:prstGeom prst="rect">
            <a:avLst/>
          </a:prstGeom>
        </p:spPr>
      </p:pic>
      <p:sp>
        <p:nvSpPr>
          <p:cNvPr id="339753957" name="Text 5"/>
          <p:cNvSpPr/>
          <p:nvPr/>
        </p:nvSpPr>
        <p:spPr bwMode="auto">
          <a:xfrm>
            <a:off x="1143000" y="235915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Autonomous workflow optimization</a:t>
            </a:r>
            <a:endParaRPr lang="en-US" sz="1400"/>
          </a:p>
        </p:txBody>
      </p:sp>
      <p:sp>
        <p:nvSpPr>
          <p:cNvPr id="1149919370" name="Shape 6"/>
          <p:cNvSpPr/>
          <p:nvPr/>
        </p:nvSpPr>
        <p:spPr bwMode="auto">
          <a:xfrm>
            <a:off x="548640" y="2980944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07095545" name="Image 2" descr="icons/users_1E2761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9590" y="3081894"/>
            <a:ext cx="218724" cy="218724"/>
          </a:xfrm>
          <a:prstGeom prst="rect">
            <a:avLst/>
          </a:prstGeom>
        </p:spPr>
      </p:pic>
      <p:sp>
        <p:nvSpPr>
          <p:cNvPr id="337837187" name="Text 7"/>
          <p:cNvSpPr/>
          <p:nvPr/>
        </p:nvSpPr>
        <p:spPr bwMode="auto">
          <a:xfrm>
            <a:off x="1143000" y="298094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Federated Multi-Agent AI</a:t>
            </a:r>
            <a:endParaRPr lang="en-US" sz="1400"/>
          </a:p>
        </p:txBody>
      </p:sp>
      <p:sp>
        <p:nvSpPr>
          <p:cNvPr id="463142865" name="Shape 8"/>
          <p:cNvSpPr/>
          <p:nvPr/>
        </p:nvSpPr>
        <p:spPr bwMode="auto">
          <a:xfrm>
            <a:off x="548640" y="3602735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48791597" name="Image 3" descr="icons/comment_1E2761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9590" y="3703686"/>
            <a:ext cx="218724" cy="218724"/>
          </a:xfrm>
          <a:prstGeom prst="rect">
            <a:avLst/>
          </a:prstGeom>
        </p:spPr>
      </p:pic>
      <p:sp>
        <p:nvSpPr>
          <p:cNvPr id="1858508811" name="Text 9"/>
          <p:cNvSpPr/>
          <p:nvPr/>
        </p:nvSpPr>
        <p:spPr bwMode="auto">
          <a:xfrm>
            <a:off x="1143000" y="3602735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Human-AI collaborative decision making</a:t>
            </a:r>
            <a:endParaRPr lang="en-US" sz="1400"/>
          </a:p>
        </p:txBody>
      </p:sp>
      <p:sp>
        <p:nvSpPr>
          <p:cNvPr id="1056919120" name="Shape 10"/>
          <p:cNvSpPr/>
          <p:nvPr/>
        </p:nvSpPr>
        <p:spPr bwMode="auto">
          <a:xfrm>
            <a:off x="548640" y="4224528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08736379" name="Image 4" descr="icons/chart_1E2761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9590" y="4325478"/>
            <a:ext cx="218724" cy="218724"/>
          </a:xfrm>
          <a:prstGeom prst="rect">
            <a:avLst/>
          </a:prstGeom>
        </p:spPr>
      </p:pic>
      <p:sp>
        <p:nvSpPr>
          <p:cNvPr id="936079572" name="Text 11"/>
          <p:cNvSpPr/>
          <p:nvPr/>
        </p:nvSpPr>
        <p:spPr bwMode="auto">
          <a:xfrm>
            <a:off x="1143000" y="422452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Real-time enterprise analytics</a:t>
            </a:r>
            <a:endParaRPr lang="en-US" sz="1400"/>
          </a:p>
        </p:txBody>
      </p:sp>
      <p:sp>
        <p:nvSpPr>
          <p:cNvPr id="374629235" name="Shape 12"/>
          <p:cNvSpPr/>
          <p:nvPr/>
        </p:nvSpPr>
        <p:spPr bwMode="auto">
          <a:xfrm>
            <a:off x="6035039" y="1325880"/>
            <a:ext cx="5623560" cy="4892039"/>
          </a:xfrm>
          <a:prstGeom prst="roundRect">
            <a:avLst>
              <a:gd name="adj" fmla="val 1495"/>
            </a:avLst>
          </a:prstGeom>
          <a:solidFill>
            <a:srgbClr val="141B47"/>
          </a:solidFill>
          <a:ln/>
        </p:spPr>
      </p:sp>
      <p:sp>
        <p:nvSpPr>
          <p:cNvPr id="138854048" name="Shape 13"/>
          <p:cNvSpPr/>
          <p:nvPr/>
        </p:nvSpPr>
        <p:spPr bwMode="auto">
          <a:xfrm>
            <a:off x="6355080" y="164592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585004577" name="Image 5" descr="icons/grad_1E2761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486754" y="1777593"/>
            <a:ext cx="285293" cy="285293"/>
          </a:xfrm>
          <a:prstGeom prst="rect">
            <a:avLst/>
          </a:prstGeom>
        </p:spPr>
      </p:pic>
      <p:sp>
        <p:nvSpPr>
          <p:cNvPr id="312358702" name="Text 14"/>
          <p:cNvSpPr/>
          <p:nvPr/>
        </p:nvSpPr>
        <p:spPr bwMode="auto">
          <a:xfrm>
            <a:off x="7086600" y="1645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00C2A8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1300"/>
          </a:p>
        </p:txBody>
      </p:sp>
      <p:sp>
        <p:nvSpPr>
          <p:cNvPr id="584465058" name="Text 15"/>
          <p:cNvSpPr/>
          <p:nvPr/>
        </p:nvSpPr>
        <p:spPr bwMode="auto">
          <a:xfrm>
            <a:off x="6355080" y="24231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  <a:defRPr/>
            </a:pP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proposed research addresses the limitations of single LLM systems by introducing a collaborative Multi-Agent framework capable of providing accurate, explainable, and scalable enterprise decision support.</a:t>
            </a:r>
            <a:endParaRPr lang="en-US" sz="1800"/>
          </a:p>
        </p:txBody>
      </p:sp>
      <p:sp>
        <p:nvSpPr>
          <p:cNvPr id="659035780" name="Text 16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891C4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  <p:sp>
        <p:nvSpPr>
          <p:cNvPr id="1092175434" name="Shape 12"/>
          <p:cNvSpPr/>
          <p:nvPr/>
        </p:nvSpPr>
        <p:spPr bwMode="auto">
          <a:xfrm flipH="0" flipV="0">
            <a:off x="411480" y="5082530"/>
            <a:ext cx="5257800" cy="1501148"/>
          </a:xfrm>
          <a:prstGeom prst="roundRect">
            <a:avLst>
              <a:gd name="adj" fmla="val 1495"/>
            </a:avLst>
          </a:prstGeom>
          <a:solidFill>
            <a:srgbClr val="141B47"/>
          </a:solidFill>
          <a:ln/>
        </p:spPr>
      </p:sp>
      <p:sp>
        <p:nvSpPr>
          <p:cNvPr id="1282073973" name="Shape 13"/>
          <p:cNvSpPr/>
          <p:nvPr/>
        </p:nvSpPr>
        <p:spPr bwMode="auto">
          <a:xfrm>
            <a:off x="462768" y="5187021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89178613" name="Text 14"/>
          <p:cNvSpPr/>
          <p:nvPr/>
        </p:nvSpPr>
        <p:spPr bwMode="auto">
          <a:xfrm>
            <a:off x="1011408" y="5187021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199">
                <a:solidFill>
                  <a:srgbClr val="00C2A8"/>
                </a:solidFill>
                <a:latin typeface="Calibri"/>
                <a:ea typeface="Calibri"/>
                <a:cs typeface="Calibri"/>
              </a:rPr>
              <a:t>TRIVIA</a:t>
            </a:r>
            <a:endParaRPr lang="en-US" sz="1300"/>
          </a:p>
        </p:txBody>
      </p:sp>
      <p:pic>
        <p:nvPicPr>
          <p:cNvPr id="1268056122" name="Image 2" descr="icons/bulb_1E2761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49589" y="5326380"/>
            <a:ext cx="261517" cy="261517"/>
          </a:xfrm>
          <a:prstGeom prst="rect">
            <a:avLst/>
          </a:prstGeom>
        </p:spPr>
      </p:pic>
      <p:sp>
        <p:nvSpPr>
          <p:cNvPr id="982898850" name="Text 15"/>
          <p:cNvSpPr/>
          <p:nvPr/>
        </p:nvSpPr>
        <p:spPr bwMode="auto">
          <a:xfrm flipH="0" flipV="0">
            <a:off x="530534" y="5735661"/>
            <a:ext cx="5019689" cy="848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99"/>
              </a:lnSpc>
              <a:buNone/>
              <a:defRPr/>
            </a:pPr>
            <a:r>
              <a:rPr lang="en-US" sz="12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We had also thought of </a:t>
            </a:r>
            <a:r>
              <a:rPr lang="en-US" sz="1200" b="0" i="1" u="none" strike="noStrike" cap="none" spc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Multimodal Agentic AI Framework for Real-Time Carbon Credit Monitoring, Reporting and Verification (MRV)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598758" name=""/>
          <p:cNvSpPr/>
          <p:nvPr/>
        </p:nvSpPr>
        <p:spPr bwMode="auto">
          <a:xfrm>
            <a:off x="3150305" y="2194200"/>
            <a:ext cx="5898588" cy="15548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600" b="1">
                <a:ln>
                  <a:noFill/>
                </a:ln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5400000" scaled="1"/>
                </a:gradFill>
              </a:rPr>
              <a:t>Thank You!</a:t>
            </a:r>
            <a:endParaRPr sz="9600" b="1">
              <a:ln>
                <a:noFill/>
              </a:ln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50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2026-07-10T16:07:11Z</dcterms:created>
  <dcterms:modified xsi:type="dcterms:W3CDTF">2026-07-10T16:47:24Z</dcterms:modified>
</cp:coreProperties>
</file>